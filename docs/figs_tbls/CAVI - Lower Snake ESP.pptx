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664" r:id="rId2"/>
    <p:sldMasterId id="2147483676" r:id="rId3"/>
    <p:sldMasterId id="2147483688" r:id="rId4"/>
  </p:sldMasterIdLst>
  <p:notesMasterIdLst>
    <p:notesMasterId r:id="rId20"/>
  </p:notesMasterIdLst>
  <p:handoutMasterIdLst>
    <p:handoutMasterId r:id="rId21"/>
  </p:handoutMasterIdLst>
  <p:sldIdLst>
    <p:sldId id="273" r:id="rId5"/>
    <p:sldId id="290" r:id="rId6"/>
    <p:sldId id="296" r:id="rId7"/>
    <p:sldId id="295" r:id="rId8"/>
    <p:sldId id="292" r:id="rId9"/>
    <p:sldId id="294" r:id="rId10"/>
    <p:sldId id="293" r:id="rId11"/>
    <p:sldId id="299" r:id="rId12"/>
    <p:sldId id="304" r:id="rId13"/>
    <p:sldId id="305" r:id="rId14"/>
    <p:sldId id="298" r:id="rId15"/>
    <p:sldId id="280" r:id="rId16"/>
    <p:sldId id="302" r:id="rId17"/>
    <p:sldId id="301" r:id="rId18"/>
    <p:sldId id="303" r:id="rId19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nathan Roberts" initials="jmr" lastIdx="1" clrIdx="0">
    <p:extLst>
      <p:ext uri="{19B8F6BF-5375-455C-9EA6-DF929625EA0E}">
        <p15:presenceInfo xmlns:p15="http://schemas.microsoft.com/office/powerpoint/2012/main" userId="Jonathan Robert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1764" y="11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9-10-06T19:13:29.958" idx="1">
    <p:pos x="10" y="10"/>
    <p:text>Check Abbrev.</p:text>
    <p:extLst>
      <p:ext uri="{C676402C-5697-4E1C-873F-D02D1690AC5C}">
        <p15:threadingInfo xmlns:p15="http://schemas.microsoft.com/office/powerpoint/2012/main" timeZoneBias="420"/>
      </p:ext>
    </p:extLst>
  </p:cm>
</p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1BCB387-ADDD-4781-8075-0A134936C3E6}" type="doc">
      <dgm:prSet loTypeId="urn:microsoft.com/office/officeart/2005/8/layout/bProcess4" loCatId="process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8D483E5-4940-474F-A7D7-B4F4E8962EAF}">
      <dgm:prSet phldrT="[Text]"/>
      <dgm:spPr/>
      <dgm:t>
        <a:bodyPr/>
        <a:lstStyle/>
        <a:p>
          <a:r>
            <a:rPr lang="en-US" dirty="0"/>
            <a:t>Build </a:t>
          </a:r>
          <a:r>
            <a:rPr lang="en-US" dirty="0" err="1"/>
            <a:t>ResSim</a:t>
          </a:r>
          <a:r>
            <a:rPr lang="en-US" dirty="0"/>
            <a:t> alternative</a:t>
          </a:r>
        </a:p>
      </dgm:t>
    </dgm:pt>
    <dgm:pt modelId="{896194CD-E7A7-4770-A520-7EBF197DF9B2}" type="parTrans" cxnId="{71FD8B5C-11E4-4565-8797-A0D184B00892}">
      <dgm:prSet/>
      <dgm:spPr/>
      <dgm:t>
        <a:bodyPr/>
        <a:lstStyle/>
        <a:p>
          <a:endParaRPr lang="en-US"/>
        </a:p>
      </dgm:t>
    </dgm:pt>
    <dgm:pt modelId="{C36385F9-1106-4B4D-B132-C062CDE5A052}" type="sibTrans" cxnId="{71FD8B5C-11E4-4565-8797-A0D184B00892}">
      <dgm:prSet/>
      <dgm:spPr/>
      <dgm:t>
        <a:bodyPr/>
        <a:lstStyle/>
        <a:p>
          <a:endParaRPr lang="en-US"/>
        </a:p>
      </dgm:t>
    </dgm:pt>
    <dgm:pt modelId="{470B3985-EDB0-4799-940F-669C81106021}">
      <dgm:prSet phldrT="[Text]"/>
      <dgm:spPr/>
      <dgm:t>
        <a:bodyPr/>
        <a:lstStyle/>
        <a:p>
          <a:r>
            <a:rPr lang="en-US" dirty="0"/>
            <a:t>Data from RFC forecast points</a:t>
          </a:r>
        </a:p>
      </dgm:t>
    </dgm:pt>
    <dgm:pt modelId="{5DCAA754-B306-4CF8-AA38-976455B59AF0}" type="parTrans" cxnId="{1BA2F0FE-9214-44DD-80E8-9F205CBCCE8A}">
      <dgm:prSet/>
      <dgm:spPr/>
      <dgm:t>
        <a:bodyPr/>
        <a:lstStyle/>
        <a:p>
          <a:endParaRPr lang="en-US"/>
        </a:p>
      </dgm:t>
    </dgm:pt>
    <dgm:pt modelId="{1EC2C5C3-4752-4013-BA1A-9AD92839F0D9}" type="sibTrans" cxnId="{1BA2F0FE-9214-44DD-80E8-9F205CBCCE8A}">
      <dgm:prSet/>
      <dgm:spPr/>
      <dgm:t>
        <a:bodyPr/>
        <a:lstStyle/>
        <a:p>
          <a:endParaRPr lang="en-US"/>
        </a:p>
      </dgm:t>
    </dgm:pt>
    <dgm:pt modelId="{8009E49E-41F3-4B88-B8DF-180C62A1AE37}">
      <dgm:prSet phldrT="[Text]"/>
      <dgm:spPr/>
      <dgm:t>
        <a:bodyPr/>
        <a:lstStyle/>
        <a:p>
          <a:r>
            <a:rPr lang="en-US" dirty="0"/>
            <a:t>Backing out local inflows for the RFC points</a:t>
          </a:r>
        </a:p>
      </dgm:t>
    </dgm:pt>
    <dgm:pt modelId="{98CB8449-63BD-42A0-B812-A80AFD965E8A}" type="parTrans" cxnId="{6ADC0419-8B6E-42FE-99B8-FA4636506A31}">
      <dgm:prSet/>
      <dgm:spPr/>
      <dgm:t>
        <a:bodyPr/>
        <a:lstStyle/>
        <a:p>
          <a:endParaRPr lang="en-US"/>
        </a:p>
      </dgm:t>
    </dgm:pt>
    <dgm:pt modelId="{C78FAE91-82A5-46D3-BD12-F63189288F41}" type="sibTrans" cxnId="{6ADC0419-8B6E-42FE-99B8-FA4636506A31}">
      <dgm:prSet/>
      <dgm:spPr/>
      <dgm:t>
        <a:bodyPr/>
        <a:lstStyle/>
        <a:p>
          <a:endParaRPr lang="en-US"/>
        </a:p>
      </dgm:t>
    </dgm:pt>
    <dgm:pt modelId="{0B033B04-638D-44B7-A2BA-C036FD9000F3}">
      <dgm:prSet phldrT="[Text]"/>
      <dgm:spPr/>
      <dgm:t>
        <a:bodyPr/>
        <a:lstStyle/>
        <a:p>
          <a:r>
            <a:rPr lang="en-US" dirty="0"/>
            <a:t>Creating inflow data for critical locations without RFC points</a:t>
          </a:r>
        </a:p>
      </dgm:t>
    </dgm:pt>
    <dgm:pt modelId="{246B7E2C-86F0-41BA-9572-460F7A1244DB}" type="parTrans" cxnId="{38261618-8BC8-4F81-93D0-A9EFE5578D6E}">
      <dgm:prSet/>
      <dgm:spPr/>
      <dgm:t>
        <a:bodyPr/>
        <a:lstStyle/>
        <a:p>
          <a:endParaRPr lang="en-US"/>
        </a:p>
      </dgm:t>
    </dgm:pt>
    <dgm:pt modelId="{B71A81F2-25FD-4C26-B6EA-30F4AC78A055}" type="sibTrans" cxnId="{38261618-8BC8-4F81-93D0-A9EFE5578D6E}">
      <dgm:prSet/>
      <dgm:spPr/>
      <dgm:t>
        <a:bodyPr/>
        <a:lstStyle/>
        <a:p>
          <a:endParaRPr lang="en-US"/>
        </a:p>
      </dgm:t>
    </dgm:pt>
    <dgm:pt modelId="{48E796AA-2AB1-467C-985E-A0A5B4957B20}">
      <dgm:prSet phldrT="[Text]"/>
      <dgm:spPr/>
      <dgm:t>
        <a:bodyPr/>
        <a:lstStyle/>
        <a:p>
          <a:r>
            <a:rPr lang="en-US" dirty="0"/>
            <a:t>CAVI setup</a:t>
          </a:r>
        </a:p>
      </dgm:t>
    </dgm:pt>
    <dgm:pt modelId="{480F6070-D143-4A44-94CB-441265516CF9}" type="parTrans" cxnId="{2DFE76B5-AE1F-46C7-BAC4-02A3E32373F1}">
      <dgm:prSet/>
      <dgm:spPr/>
      <dgm:t>
        <a:bodyPr/>
        <a:lstStyle/>
        <a:p>
          <a:endParaRPr lang="en-US"/>
        </a:p>
      </dgm:t>
    </dgm:pt>
    <dgm:pt modelId="{7730F9E4-D66E-46B9-B87C-0B1A19E0A352}" type="sibTrans" cxnId="{2DFE76B5-AE1F-46C7-BAC4-02A3E32373F1}">
      <dgm:prSet/>
      <dgm:spPr/>
      <dgm:t>
        <a:bodyPr/>
        <a:lstStyle/>
        <a:p>
          <a:endParaRPr lang="en-US"/>
        </a:p>
      </dgm:t>
    </dgm:pt>
    <dgm:pt modelId="{65F4EB78-A6FF-40E5-931C-95C48F1C0457}">
      <dgm:prSet/>
      <dgm:spPr/>
      <dgm:t>
        <a:bodyPr/>
        <a:lstStyle/>
        <a:p>
          <a:r>
            <a:rPr lang="en-US" dirty="0"/>
            <a:t>Mapping time-specific data to current CAVI forecast</a:t>
          </a:r>
        </a:p>
      </dgm:t>
    </dgm:pt>
    <dgm:pt modelId="{C2228B2D-1286-4012-A03E-0805081B1388}" type="parTrans" cxnId="{6ABA8AB6-26F2-4450-B5A0-7BFC7D7D1370}">
      <dgm:prSet/>
      <dgm:spPr/>
      <dgm:t>
        <a:bodyPr/>
        <a:lstStyle/>
        <a:p>
          <a:endParaRPr lang="en-US"/>
        </a:p>
      </dgm:t>
    </dgm:pt>
    <dgm:pt modelId="{342C2FD6-C34D-4CCC-94FA-3F9F49AD716F}" type="sibTrans" cxnId="{6ABA8AB6-26F2-4450-B5A0-7BFC7D7D1370}">
      <dgm:prSet/>
      <dgm:spPr/>
      <dgm:t>
        <a:bodyPr/>
        <a:lstStyle/>
        <a:p>
          <a:endParaRPr lang="en-US"/>
        </a:p>
      </dgm:t>
    </dgm:pt>
    <dgm:pt modelId="{461E9A10-B5EF-4A5B-B90C-7B619BF6884C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US" dirty="0"/>
            <a:t>Real-time testing</a:t>
          </a:r>
        </a:p>
      </dgm:t>
    </dgm:pt>
    <dgm:pt modelId="{482AFD17-AE54-48F9-8FFD-1E670CFC0173}" type="parTrans" cxnId="{A0C12FE4-2CD9-49E6-825C-B79402716329}">
      <dgm:prSet/>
      <dgm:spPr/>
      <dgm:t>
        <a:bodyPr/>
        <a:lstStyle/>
        <a:p>
          <a:endParaRPr lang="en-US"/>
        </a:p>
      </dgm:t>
    </dgm:pt>
    <dgm:pt modelId="{35815DF6-48B4-4577-BF72-3F01F6FD12FD}" type="sibTrans" cxnId="{A0C12FE4-2CD9-49E6-825C-B79402716329}">
      <dgm:prSet/>
      <dgm:spPr/>
      <dgm:t>
        <a:bodyPr/>
        <a:lstStyle/>
        <a:p>
          <a:endParaRPr lang="en-US"/>
        </a:p>
      </dgm:t>
    </dgm:pt>
    <dgm:pt modelId="{61F39C29-CAC4-4606-AE6A-C336E14D4988}">
      <dgm:prSet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r>
            <a:rPr lang="en-US" dirty="0"/>
            <a:t>Weighting of WY based on volume forecast</a:t>
          </a:r>
        </a:p>
      </dgm:t>
    </dgm:pt>
    <dgm:pt modelId="{E1C1A2BB-8FB8-4906-A1DA-E01FD31A730A}" type="parTrans" cxnId="{6E83E50A-1353-46D5-9F3D-444768454CEE}">
      <dgm:prSet/>
      <dgm:spPr/>
      <dgm:t>
        <a:bodyPr/>
        <a:lstStyle/>
        <a:p>
          <a:endParaRPr lang="en-US"/>
        </a:p>
      </dgm:t>
    </dgm:pt>
    <dgm:pt modelId="{1292E9BB-2DC3-4D70-B07E-3A3768CB01E5}" type="sibTrans" cxnId="{6E83E50A-1353-46D5-9F3D-444768454CEE}">
      <dgm:prSet/>
      <dgm:spPr/>
      <dgm:t>
        <a:bodyPr/>
        <a:lstStyle/>
        <a:p>
          <a:endParaRPr lang="en-US"/>
        </a:p>
      </dgm:t>
    </dgm:pt>
    <dgm:pt modelId="{CCC533A2-FC99-4D66-902B-76B42787327C}">
      <dgm:prSet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r>
            <a:rPr lang="en-US" dirty="0"/>
            <a:t>Graphing interface</a:t>
          </a:r>
        </a:p>
      </dgm:t>
    </dgm:pt>
    <dgm:pt modelId="{C3C41AA0-88F4-41A6-8784-D30864E31FA9}" type="parTrans" cxnId="{88D4791B-6594-435E-9497-E21F0E0A36D6}">
      <dgm:prSet/>
      <dgm:spPr/>
      <dgm:t>
        <a:bodyPr/>
        <a:lstStyle/>
        <a:p>
          <a:endParaRPr lang="en-US"/>
        </a:p>
      </dgm:t>
    </dgm:pt>
    <dgm:pt modelId="{AD0D4C20-B6F8-4DAB-BB45-7E09A4513FA3}" type="sibTrans" cxnId="{88D4791B-6594-435E-9497-E21F0E0A36D6}">
      <dgm:prSet/>
      <dgm:spPr/>
      <dgm:t>
        <a:bodyPr/>
        <a:lstStyle/>
        <a:p>
          <a:endParaRPr lang="en-US"/>
        </a:p>
      </dgm:t>
    </dgm:pt>
    <dgm:pt modelId="{73793998-5D5A-403C-B8A8-541B0BE0B6FB}" type="pres">
      <dgm:prSet presAssocID="{51BCB387-ADDD-4781-8075-0A134936C3E6}" presName="Name0" presStyleCnt="0">
        <dgm:presLayoutVars>
          <dgm:dir/>
          <dgm:resizeHandles/>
        </dgm:presLayoutVars>
      </dgm:prSet>
      <dgm:spPr/>
      <dgm:t>
        <a:bodyPr/>
        <a:lstStyle/>
        <a:p>
          <a:endParaRPr lang="en-US"/>
        </a:p>
      </dgm:t>
    </dgm:pt>
    <dgm:pt modelId="{D66603CD-67EF-4FA3-90B0-9E476FE6CAF4}" type="pres">
      <dgm:prSet presAssocID="{58D483E5-4940-474F-A7D7-B4F4E8962EAF}" presName="compNode" presStyleCnt="0"/>
      <dgm:spPr/>
    </dgm:pt>
    <dgm:pt modelId="{BBBA60F0-8034-4A98-859A-CC02265EC607}" type="pres">
      <dgm:prSet presAssocID="{58D483E5-4940-474F-A7D7-B4F4E8962EAF}" presName="dummyConnPt" presStyleCnt="0"/>
      <dgm:spPr/>
    </dgm:pt>
    <dgm:pt modelId="{8D273C36-41A1-46C9-9AFF-E6639258D709}" type="pres">
      <dgm:prSet presAssocID="{58D483E5-4940-474F-A7D7-B4F4E8962EAF}" presName="node" presStyleLbl="node1" presStyleIdx="0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F985E7B-BAEB-4269-9A1D-FB594DAB5C60}" type="pres">
      <dgm:prSet presAssocID="{C36385F9-1106-4B4D-B132-C062CDE5A052}" presName="sibTrans" presStyleLbl="bgSibTrans2D1" presStyleIdx="0" presStyleCnt="8" custAng="21492440" custLinFactY="100000" custLinFactNeighborX="-543" custLinFactNeighborY="145946"/>
      <dgm:spPr/>
      <dgm:t>
        <a:bodyPr/>
        <a:lstStyle/>
        <a:p>
          <a:endParaRPr lang="en-US"/>
        </a:p>
      </dgm:t>
    </dgm:pt>
    <dgm:pt modelId="{384F4486-EEB3-46F3-8088-5ECE20E9702E}" type="pres">
      <dgm:prSet presAssocID="{470B3985-EDB0-4799-940F-669C81106021}" presName="compNode" presStyleCnt="0"/>
      <dgm:spPr/>
    </dgm:pt>
    <dgm:pt modelId="{0B9C852B-86CC-49C4-924B-1DB1405C26CA}" type="pres">
      <dgm:prSet presAssocID="{470B3985-EDB0-4799-940F-669C81106021}" presName="dummyConnPt" presStyleCnt="0"/>
      <dgm:spPr/>
    </dgm:pt>
    <dgm:pt modelId="{8FB5E21C-E494-4A9D-ABB5-D34FA2778396}" type="pres">
      <dgm:prSet presAssocID="{470B3985-EDB0-4799-940F-669C81106021}" presName="node" presStyleLbl="node1" presStyleIdx="1" presStyleCnt="9" custLinFactNeighborX="-2306" custLinFactNeighborY="-147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A532CDF-4E8E-4673-BB85-84E5CBC32156}" type="pres">
      <dgm:prSet presAssocID="{1EC2C5C3-4752-4013-BA1A-9AD92839F0D9}" presName="sibTrans" presStyleLbl="bgSibTrans2D1" presStyleIdx="1" presStyleCnt="8"/>
      <dgm:spPr/>
      <dgm:t>
        <a:bodyPr/>
        <a:lstStyle/>
        <a:p>
          <a:endParaRPr lang="en-US"/>
        </a:p>
      </dgm:t>
    </dgm:pt>
    <dgm:pt modelId="{EA1A659E-D741-4850-B700-36962EB98DD0}" type="pres">
      <dgm:prSet presAssocID="{8009E49E-41F3-4B88-B8DF-180C62A1AE37}" presName="compNode" presStyleCnt="0"/>
      <dgm:spPr/>
    </dgm:pt>
    <dgm:pt modelId="{2446AED5-3DE0-4602-9B5E-A5D560E6E57B}" type="pres">
      <dgm:prSet presAssocID="{8009E49E-41F3-4B88-B8DF-180C62A1AE37}" presName="dummyConnPt" presStyleCnt="0"/>
      <dgm:spPr/>
    </dgm:pt>
    <dgm:pt modelId="{BE91DFE5-EF36-47AC-8EB3-AF2E95E82443}" type="pres">
      <dgm:prSet presAssocID="{8009E49E-41F3-4B88-B8DF-180C62A1AE37}" presName="node" presStyleLbl="node1" presStyleIdx="2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090A0B7-82AD-40C0-9C4E-2CF88A27708C}" type="pres">
      <dgm:prSet presAssocID="{C78FAE91-82A5-46D3-BD12-F63189288F41}" presName="sibTrans" presStyleLbl="bgSibTrans2D1" presStyleIdx="2" presStyleCnt="8"/>
      <dgm:spPr/>
      <dgm:t>
        <a:bodyPr/>
        <a:lstStyle/>
        <a:p>
          <a:endParaRPr lang="en-US"/>
        </a:p>
      </dgm:t>
    </dgm:pt>
    <dgm:pt modelId="{F7AFA29C-B481-4AD7-9BE0-B6E4C991262C}" type="pres">
      <dgm:prSet presAssocID="{0B033B04-638D-44B7-A2BA-C036FD9000F3}" presName="compNode" presStyleCnt="0"/>
      <dgm:spPr/>
    </dgm:pt>
    <dgm:pt modelId="{D1A9DAED-1419-44B9-89D5-F1C378B8E346}" type="pres">
      <dgm:prSet presAssocID="{0B033B04-638D-44B7-A2BA-C036FD9000F3}" presName="dummyConnPt" presStyleCnt="0"/>
      <dgm:spPr/>
    </dgm:pt>
    <dgm:pt modelId="{F69C23C1-D527-49DE-933B-0FBB7BC7C3BF}" type="pres">
      <dgm:prSet presAssocID="{0B033B04-638D-44B7-A2BA-C036FD9000F3}" presName="node" presStyleLbl="node1" presStyleIdx="3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BC495C8-4248-4FF2-9652-DE195A147A15}" type="pres">
      <dgm:prSet presAssocID="{B71A81F2-25FD-4C26-B6EA-30F4AC78A055}" presName="sibTrans" presStyleLbl="bgSibTrans2D1" presStyleIdx="3" presStyleCnt="8"/>
      <dgm:spPr/>
      <dgm:t>
        <a:bodyPr/>
        <a:lstStyle/>
        <a:p>
          <a:endParaRPr lang="en-US"/>
        </a:p>
      </dgm:t>
    </dgm:pt>
    <dgm:pt modelId="{468AC922-D8C0-4177-A4B1-E8C990130F7C}" type="pres">
      <dgm:prSet presAssocID="{48E796AA-2AB1-467C-985E-A0A5B4957B20}" presName="compNode" presStyleCnt="0"/>
      <dgm:spPr/>
    </dgm:pt>
    <dgm:pt modelId="{E7EB0076-6373-415C-B32F-9BADD0857752}" type="pres">
      <dgm:prSet presAssocID="{48E796AA-2AB1-467C-985E-A0A5B4957B20}" presName="dummyConnPt" presStyleCnt="0"/>
      <dgm:spPr/>
    </dgm:pt>
    <dgm:pt modelId="{AFE4C94E-6A6A-4E21-9812-EB75BD9E53B3}" type="pres">
      <dgm:prSet presAssocID="{48E796AA-2AB1-467C-985E-A0A5B4957B20}" presName="node" presStyleLbl="node1" presStyleIdx="4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53BE745-5C04-4BAA-870F-F886ABD3A12D}" type="pres">
      <dgm:prSet presAssocID="{7730F9E4-D66E-46B9-B87C-0B1A19E0A352}" presName="sibTrans" presStyleLbl="bgSibTrans2D1" presStyleIdx="4" presStyleCnt="8"/>
      <dgm:spPr/>
      <dgm:t>
        <a:bodyPr/>
        <a:lstStyle/>
        <a:p>
          <a:endParaRPr lang="en-US"/>
        </a:p>
      </dgm:t>
    </dgm:pt>
    <dgm:pt modelId="{A192D472-600D-4033-AEF6-DC258EC3DD0E}" type="pres">
      <dgm:prSet presAssocID="{65F4EB78-A6FF-40E5-931C-95C48F1C0457}" presName="compNode" presStyleCnt="0"/>
      <dgm:spPr/>
    </dgm:pt>
    <dgm:pt modelId="{B05D8A4A-B80B-47D6-A995-0C6B018CBFEF}" type="pres">
      <dgm:prSet presAssocID="{65F4EB78-A6FF-40E5-931C-95C48F1C0457}" presName="dummyConnPt" presStyleCnt="0"/>
      <dgm:spPr/>
    </dgm:pt>
    <dgm:pt modelId="{F3C90429-1620-4856-9DC3-5942AB02E2C9}" type="pres">
      <dgm:prSet presAssocID="{65F4EB78-A6FF-40E5-931C-95C48F1C0457}" presName="node" presStyleLbl="node1" presStyleIdx="5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1EB17E9-6BE7-4B45-BA2A-70BE0B441B09}" type="pres">
      <dgm:prSet presAssocID="{342C2FD6-C34D-4CCC-94FA-3F9F49AD716F}" presName="sibTrans" presStyleLbl="bgSibTrans2D1" presStyleIdx="5" presStyleCnt="8" custLinFactY="15158" custLinFactNeighborX="-3397" custLinFactNeighborY="100000"/>
      <dgm:spPr/>
      <dgm:t>
        <a:bodyPr/>
        <a:lstStyle/>
        <a:p>
          <a:endParaRPr lang="en-US"/>
        </a:p>
      </dgm:t>
    </dgm:pt>
    <dgm:pt modelId="{4745DB5F-45C4-439D-A7FA-D2D4F03F695B}" type="pres">
      <dgm:prSet presAssocID="{461E9A10-B5EF-4A5B-B90C-7B619BF6884C}" presName="compNode" presStyleCnt="0"/>
      <dgm:spPr/>
    </dgm:pt>
    <dgm:pt modelId="{C285E0FA-861F-4B0A-A120-B42902E5987C}" type="pres">
      <dgm:prSet presAssocID="{461E9A10-B5EF-4A5B-B90C-7B619BF6884C}" presName="dummyConnPt" presStyleCnt="0"/>
      <dgm:spPr/>
    </dgm:pt>
    <dgm:pt modelId="{52334E31-DE8B-4DB9-870F-D8A55F30CE4D}" type="pres">
      <dgm:prSet presAssocID="{461E9A10-B5EF-4A5B-B90C-7B619BF6884C}" presName="node" presStyleLbl="node1" presStyleIdx="6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8D380FA-845E-41F4-8804-5F5CC4ED1E88}" type="pres">
      <dgm:prSet presAssocID="{35815DF6-48B4-4577-BF72-3F01F6FD12FD}" presName="sibTrans" presStyleLbl="bgSibTrans2D1" presStyleIdx="6" presStyleCnt="8"/>
      <dgm:spPr/>
      <dgm:t>
        <a:bodyPr/>
        <a:lstStyle/>
        <a:p>
          <a:endParaRPr lang="en-US"/>
        </a:p>
      </dgm:t>
    </dgm:pt>
    <dgm:pt modelId="{DB546487-C0B1-44AB-9218-48FB9A5CED96}" type="pres">
      <dgm:prSet presAssocID="{61F39C29-CAC4-4606-AE6A-C336E14D4988}" presName="compNode" presStyleCnt="0"/>
      <dgm:spPr/>
    </dgm:pt>
    <dgm:pt modelId="{70C5B4B3-DDAC-4895-ADC3-D4A85798DB26}" type="pres">
      <dgm:prSet presAssocID="{61F39C29-CAC4-4606-AE6A-C336E14D4988}" presName="dummyConnPt" presStyleCnt="0"/>
      <dgm:spPr/>
    </dgm:pt>
    <dgm:pt modelId="{059B4911-7B28-4752-BB7A-2B6EE3C86FC8}" type="pres">
      <dgm:prSet presAssocID="{61F39C29-CAC4-4606-AE6A-C336E14D4988}" presName="node" presStyleLbl="node1" presStyleIdx="7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38FC2E6-ED2E-40CD-8622-BE0F0D356C58}" type="pres">
      <dgm:prSet presAssocID="{1292E9BB-2DC3-4D70-B07E-3A3768CB01E5}" presName="sibTrans" presStyleLbl="bgSibTrans2D1" presStyleIdx="7" presStyleCnt="8"/>
      <dgm:spPr/>
      <dgm:t>
        <a:bodyPr/>
        <a:lstStyle/>
        <a:p>
          <a:endParaRPr lang="en-US"/>
        </a:p>
      </dgm:t>
    </dgm:pt>
    <dgm:pt modelId="{F9C36400-FE0F-4F2A-B7C1-57823BED0C43}" type="pres">
      <dgm:prSet presAssocID="{CCC533A2-FC99-4D66-902B-76B42787327C}" presName="compNode" presStyleCnt="0"/>
      <dgm:spPr/>
    </dgm:pt>
    <dgm:pt modelId="{F5FCEC9E-4D7D-444D-BF5B-B909BDEF277F}" type="pres">
      <dgm:prSet presAssocID="{CCC533A2-FC99-4D66-902B-76B42787327C}" presName="dummyConnPt" presStyleCnt="0"/>
      <dgm:spPr/>
    </dgm:pt>
    <dgm:pt modelId="{ADB39B07-5F86-4CEA-97F5-C7FEE390E69A}" type="pres">
      <dgm:prSet presAssocID="{CCC533A2-FC99-4D66-902B-76B42787327C}" presName="node" presStyleLbl="node1" presStyleIdx="8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8261618-8BC8-4F81-93D0-A9EFE5578D6E}" srcId="{51BCB387-ADDD-4781-8075-0A134936C3E6}" destId="{0B033B04-638D-44B7-A2BA-C036FD9000F3}" srcOrd="3" destOrd="0" parTransId="{246B7E2C-86F0-41BA-9572-460F7A1244DB}" sibTransId="{B71A81F2-25FD-4C26-B6EA-30F4AC78A055}"/>
    <dgm:cxn modelId="{0ACCCA40-7BEA-4726-B6BF-392ED8325B00}" type="presOf" srcId="{51BCB387-ADDD-4781-8075-0A134936C3E6}" destId="{73793998-5D5A-403C-B8A8-541B0BE0B6FB}" srcOrd="0" destOrd="0" presId="urn:microsoft.com/office/officeart/2005/8/layout/bProcess4"/>
    <dgm:cxn modelId="{8425B1FF-0B0C-46AF-B9F2-F0AB9C9915BD}" type="presOf" srcId="{1EC2C5C3-4752-4013-BA1A-9AD92839F0D9}" destId="{CA532CDF-4E8E-4673-BB85-84E5CBC32156}" srcOrd="0" destOrd="0" presId="urn:microsoft.com/office/officeart/2005/8/layout/bProcess4"/>
    <dgm:cxn modelId="{04CD291F-2E3E-4DD7-95DC-10A0916CA3CD}" type="presOf" srcId="{342C2FD6-C34D-4CCC-94FA-3F9F49AD716F}" destId="{81EB17E9-6BE7-4B45-BA2A-70BE0B441B09}" srcOrd="0" destOrd="0" presId="urn:microsoft.com/office/officeart/2005/8/layout/bProcess4"/>
    <dgm:cxn modelId="{2865DC48-3F08-48A8-B1A1-0BD4090B41B6}" type="presOf" srcId="{C36385F9-1106-4B4D-B132-C062CDE5A052}" destId="{BF985E7B-BAEB-4269-9A1D-FB594DAB5C60}" srcOrd="0" destOrd="0" presId="urn:microsoft.com/office/officeart/2005/8/layout/bProcess4"/>
    <dgm:cxn modelId="{6E83E50A-1353-46D5-9F3D-444768454CEE}" srcId="{51BCB387-ADDD-4781-8075-0A134936C3E6}" destId="{61F39C29-CAC4-4606-AE6A-C336E14D4988}" srcOrd="7" destOrd="0" parTransId="{E1C1A2BB-8FB8-4906-A1DA-E01FD31A730A}" sibTransId="{1292E9BB-2DC3-4D70-B07E-3A3768CB01E5}"/>
    <dgm:cxn modelId="{89A07EE8-89F4-4A5A-B637-A1559BAA7DAD}" type="presOf" srcId="{1292E9BB-2DC3-4D70-B07E-3A3768CB01E5}" destId="{738FC2E6-ED2E-40CD-8622-BE0F0D356C58}" srcOrd="0" destOrd="0" presId="urn:microsoft.com/office/officeart/2005/8/layout/bProcess4"/>
    <dgm:cxn modelId="{E46C5DE3-0488-411D-A09D-2E97803D7FD8}" type="presOf" srcId="{B71A81F2-25FD-4C26-B6EA-30F4AC78A055}" destId="{3BC495C8-4248-4FF2-9652-DE195A147A15}" srcOrd="0" destOrd="0" presId="urn:microsoft.com/office/officeart/2005/8/layout/bProcess4"/>
    <dgm:cxn modelId="{75CFB29E-322E-471C-9C9D-4BDAA44654EC}" type="presOf" srcId="{C78FAE91-82A5-46D3-BD12-F63189288F41}" destId="{E090A0B7-82AD-40C0-9C4E-2CF88A27708C}" srcOrd="0" destOrd="0" presId="urn:microsoft.com/office/officeart/2005/8/layout/bProcess4"/>
    <dgm:cxn modelId="{2017B2B6-A816-49BE-8D09-C1FE4B47D8DD}" type="presOf" srcId="{461E9A10-B5EF-4A5B-B90C-7B619BF6884C}" destId="{52334E31-DE8B-4DB9-870F-D8A55F30CE4D}" srcOrd="0" destOrd="0" presId="urn:microsoft.com/office/officeart/2005/8/layout/bProcess4"/>
    <dgm:cxn modelId="{71FD8B5C-11E4-4565-8797-A0D184B00892}" srcId="{51BCB387-ADDD-4781-8075-0A134936C3E6}" destId="{58D483E5-4940-474F-A7D7-B4F4E8962EAF}" srcOrd="0" destOrd="0" parTransId="{896194CD-E7A7-4770-A520-7EBF197DF9B2}" sibTransId="{C36385F9-1106-4B4D-B132-C062CDE5A052}"/>
    <dgm:cxn modelId="{2DFE76B5-AE1F-46C7-BAC4-02A3E32373F1}" srcId="{51BCB387-ADDD-4781-8075-0A134936C3E6}" destId="{48E796AA-2AB1-467C-985E-A0A5B4957B20}" srcOrd="4" destOrd="0" parTransId="{480F6070-D143-4A44-94CB-441265516CF9}" sibTransId="{7730F9E4-D66E-46B9-B87C-0B1A19E0A352}"/>
    <dgm:cxn modelId="{A0C12FE4-2CD9-49E6-825C-B79402716329}" srcId="{51BCB387-ADDD-4781-8075-0A134936C3E6}" destId="{461E9A10-B5EF-4A5B-B90C-7B619BF6884C}" srcOrd="6" destOrd="0" parTransId="{482AFD17-AE54-48F9-8FFD-1E670CFC0173}" sibTransId="{35815DF6-48B4-4577-BF72-3F01F6FD12FD}"/>
    <dgm:cxn modelId="{6ABA8AB6-26F2-4450-B5A0-7BFC7D7D1370}" srcId="{51BCB387-ADDD-4781-8075-0A134936C3E6}" destId="{65F4EB78-A6FF-40E5-931C-95C48F1C0457}" srcOrd="5" destOrd="0" parTransId="{C2228B2D-1286-4012-A03E-0805081B1388}" sibTransId="{342C2FD6-C34D-4CCC-94FA-3F9F49AD716F}"/>
    <dgm:cxn modelId="{951C0223-ACD6-4621-B096-0C2B329C72DD}" type="presOf" srcId="{65F4EB78-A6FF-40E5-931C-95C48F1C0457}" destId="{F3C90429-1620-4856-9DC3-5942AB02E2C9}" srcOrd="0" destOrd="0" presId="urn:microsoft.com/office/officeart/2005/8/layout/bProcess4"/>
    <dgm:cxn modelId="{C2AED4F0-827A-4143-8715-974D39EAB5CF}" type="presOf" srcId="{0B033B04-638D-44B7-A2BA-C036FD9000F3}" destId="{F69C23C1-D527-49DE-933B-0FBB7BC7C3BF}" srcOrd="0" destOrd="0" presId="urn:microsoft.com/office/officeart/2005/8/layout/bProcess4"/>
    <dgm:cxn modelId="{6ADC0419-8B6E-42FE-99B8-FA4636506A31}" srcId="{51BCB387-ADDD-4781-8075-0A134936C3E6}" destId="{8009E49E-41F3-4B88-B8DF-180C62A1AE37}" srcOrd="2" destOrd="0" parTransId="{98CB8449-63BD-42A0-B812-A80AFD965E8A}" sibTransId="{C78FAE91-82A5-46D3-BD12-F63189288F41}"/>
    <dgm:cxn modelId="{9A36BD0B-E5DE-4B18-8361-0F98E7ACB324}" type="presOf" srcId="{61F39C29-CAC4-4606-AE6A-C336E14D4988}" destId="{059B4911-7B28-4752-BB7A-2B6EE3C86FC8}" srcOrd="0" destOrd="0" presId="urn:microsoft.com/office/officeart/2005/8/layout/bProcess4"/>
    <dgm:cxn modelId="{88D4791B-6594-435E-9497-E21F0E0A36D6}" srcId="{51BCB387-ADDD-4781-8075-0A134936C3E6}" destId="{CCC533A2-FC99-4D66-902B-76B42787327C}" srcOrd="8" destOrd="0" parTransId="{C3C41AA0-88F4-41A6-8784-D30864E31FA9}" sibTransId="{AD0D4C20-B6F8-4DAB-BB45-7E09A4513FA3}"/>
    <dgm:cxn modelId="{0E8B4955-9F9E-4B9E-AC4A-C3F79878A73E}" type="presOf" srcId="{48E796AA-2AB1-467C-985E-A0A5B4957B20}" destId="{AFE4C94E-6A6A-4E21-9812-EB75BD9E53B3}" srcOrd="0" destOrd="0" presId="urn:microsoft.com/office/officeart/2005/8/layout/bProcess4"/>
    <dgm:cxn modelId="{93255C1D-A074-4C62-B3BB-C8EDCFB30665}" type="presOf" srcId="{35815DF6-48B4-4577-BF72-3F01F6FD12FD}" destId="{68D380FA-845E-41F4-8804-5F5CC4ED1E88}" srcOrd="0" destOrd="0" presId="urn:microsoft.com/office/officeart/2005/8/layout/bProcess4"/>
    <dgm:cxn modelId="{8FE3355D-6A9D-47CC-99BA-F55972AA5F64}" type="presOf" srcId="{7730F9E4-D66E-46B9-B87C-0B1A19E0A352}" destId="{253BE745-5C04-4BAA-870F-F886ABD3A12D}" srcOrd="0" destOrd="0" presId="urn:microsoft.com/office/officeart/2005/8/layout/bProcess4"/>
    <dgm:cxn modelId="{08F2C2FE-962B-4D56-8E1E-41B6A27EA5F3}" type="presOf" srcId="{CCC533A2-FC99-4D66-902B-76B42787327C}" destId="{ADB39B07-5F86-4CEA-97F5-C7FEE390E69A}" srcOrd="0" destOrd="0" presId="urn:microsoft.com/office/officeart/2005/8/layout/bProcess4"/>
    <dgm:cxn modelId="{1BA2F0FE-9214-44DD-80E8-9F205CBCCE8A}" srcId="{51BCB387-ADDD-4781-8075-0A134936C3E6}" destId="{470B3985-EDB0-4799-940F-669C81106021}" srcOrd="1" destOrd="0" parTransId="{5DCAA754-B306-4CF8-AA38-976455B59AF0}" sibTransId="{1EC2C5C3-4752-4013-BA1A-9AD92839F0D9}"/>
    <dgm:cxn modelId="{8E054EAE-EAC5-4DE4-9A67-3467D334B180}" type="presOf" srcId="{470B3985-EDB0-4799-940F-669C81106021}" destId="{8FB5E21C-E494-4A9D-ABB5-D34FA2778396}" srcOrd="0" destOrd="0" presId="urn:microsoft.com/office/officeart/2005/8/layout/bProcess4"/>
    <dgm:cxn modelId="{8E738E96-BC6E-4A7F-A011-79DF815D3D45}" type="presOf" srcId="{58D483E5-4940-474F-A7D7-B4F4E8962EAF}" destId="{8D273C36-41A1-46C9-9AFF-E6639258D709}" srcOrd="0" destOrd="0" presId="urn:microsoft.com/office/officeart/2005/8/layout/bProcess4"/>
    <dgm:cxn modelId="{E97FAD6B-34F5-4060-AE1F-6311FEE710B4}" type="presOf" srcId="{8009E49E-41F3-4B88-B8DF-180C62A1AE37}" destId="{BE91DFE5-EF36-47AC-8EB3-AF2E95E82443}" srcOrd="0" destOrd="0" presId="urn:microsoft.com/office/officeart/2005/8/layout/bProcess4"/>
    <dgm:cxn modelId="{ECEE9B80-6AAB-4115-B65E-2481410E423D}" type="presParOf" srcId="{73793998-5D5A-403C-B8A8-541B0BE0B6FB}" destId="{D66603CD-67EF-4FA3-90B0-9E476FE6CAF4}" srcOrd="0" destOrd="0" presId="urn:microsoft.com/office/officeart/2005/8/layout/bProcess4"/>
    <dgm:cxn modelId="{7D682755-7FB1-4527-A04F-BF55F643837F}" type="presParOf" srcId="{D66603CD-67EF-4FA3-90B0-9E476FE6CAF4}" destId="{BBBA60F0-8034-4A98-859A-CC02265EC607}" srcOrd="0" destOrd="0" presId="urn:microsoft.com/office/officeart/2005/8/layout/bProcess4"/>
    <dgm:cxn modelId="{C866988D-954B-499C-B579-9A0BDF57A775}" type="presParOf" srcId="{D66603CD-67EF-4FA3-90B0-9E476FE6CAF4}" destId="{8D273C36-41A1-46C9-9AFF-E6639258D709}" srcOrd="1" destOrd="0" presId="urn:microsoft.com/office/officeart/2005/8/layout/bProcess4"/>
    <dgm:cxn modelId="{A7577656-18AD-42D8-90B6-10DC7C4FB742}" type="presParOf" srcId="{73793998-5D5A-403C-B8A8-541B0BE0B6FB}" destId="{BF985E7B-BAEB-4269-9A1D-FB594DAB5C60}" srcOrd="1" destOrd="0" presId="urn:microsoft.com/office/officeart/2005/8/layout/bProcess4"/>
    <dgm:cxn modelId="{32F85E29-F096-4320-BBCC-52762B73D41B}" type="presParOf" srcId="{73793998-5D5A-403C-B8A8-541B0BE0B6FB}" destId="{384F4486-EEB3-46F3-8088-5ECE20E9702E}" srcOrd="2" destOrd="0" presId="urn:microsoft.com/office/officeart/2005/8/layout/bProcess4"/>
    <dgm:cxn modelId="{73EBF71D-0177-4AD7-830B-651C1B7F4636}" type="presParOf" srcId="{384F4486-EEB3-46F3-8088-5ECE20E9702E}" destId="{0B9C852B-86CC-49C4-924B-1DB1405C26CA}" srcOrd="0" destOrd="0" presId="urn:microsoft.com/office/officeart/2005/8/layout/bProcess4"/>
    <dgm:cxn modelId="{31EBF30B-D3FF-4382-A181-64533571CFCD}" type="presParOf" srcId="{384F4486-EEB3-46F3-8088-5ECE20E9702E}" destId="{8FB5E21C-E494-4A9D-ABB5-D34FA2778396}" srcOrd="1" destOrd="0" presId="urn:microsoft.com/office/officeart/2005/8/layout/bProcess4"/>
    <dgm:cxn modelId="{2C93A660-C686-4F5B-9816-99FE9F5F9774}" type="presParOf" srcId="{73793998-5D5A-403C-B8A8-541B0BE0B6FB}" destId="{CA532CDF-4E8E-4673-BB85-84E5CBC32156}" srcOrd="3" destOrd="0" presId="urn:microsoft.com/office/officeart/2005/8/layout/bProcess4"/>
    <dgm:cxn modelId="{CCE5B2E6-02E8-43C3-B422-D09568BA9774}" type="presParOf" srcId="{73793998-5D5A-403C-B8A8-541B0BE0B6FB}" destId="{EA1A659E-D741-4850-B700-36962EB98DD0}" srcOrd="4" destOrd="0" presId="urn:microsoft.com/office/officeart/2005/8/layout/bProcess4"/>
    <dgm:cxn modelId="{071BC615-9177-41D4-971A-0372E4E624FA}" type="presParOf" srcId="{EA1A659E-D741-4850-B700-36962EB98DD0}" destId="{2446AED5-3DE0-4602-9B5E-A5D560E6E57B}" srcOrd="0" destOrd="0" presId="urn:microsoft.com/office/officeart/2005/8/layout/bProcess4"/>
    <dgm:cxn modelId="{B19DCA2F-E195-4E41-8F3D-9F19E64EFFAA}" type="presParOf" srcId="{EA1A659E-D741-4850-B700-36962EB98DD0}" destId="{BE91DFE5-EF36-47AC-8EB3-AF2E95E82443}" srcOrd="1" destOrd="0" presId="urn:microsoft.com/office/officeart/2005/8/layout/bProcess4"/>
    <dgm:cxn modelId="{9824C13D-4FB2-48A1-A2B4-A212507D2734}" type="presParOf" srcId="{73793998-5D5A-403C-B8A8-541B0BE0B6FB}" destId="{E090A0B7-82AD-40C0-9C4E-2CF88A27708C}" srcOrd="5" destOrd="0" presId="urn:microsoft.com/office/officeart/2005/8/layout/bProcess4"/>
    <dgm:cxn modelId="{0AFF27F4-FE6A-4E58-B7A3-190CB5F1105E}" type="presParOf" srcId="{73793998-5D5A-403C-B8A8-541B0BE0B6FB}" destId="{F7AFA29C-B481-4AD7-9BE0-B6E4C991262C}" srcOrd="6" destOrd="0" presId="urn:microsoft.com/office/officeart/2005/8/layout/bProcess4"/>
    <dgm:cxn modelId="{A9243340-03B1-4DD5-8BC6-363F17E0E6C1}" type="presParOf" srcId="{F7AFA29C-B481-4AD7-9BE0-B6E4C991262C}" destId="{D1A9DAED-1419-44B9-89D5-F1C378B8E346}" srcOrd="0" destOrd="0" presId="urn:microsoft.com/office/officeart/2005/8/layout/bProcess4"/>
    <dgm:cxn modelId="{6857C98E-D4D1-4F2D-B153-B164A6D875AB}" type="presParOf" srcId="{F7AFA29C-B481-4AD7-9BE0-B6E4C991262C}" destId="{F69C23C1-D527-49DE-933B-0FBB7BC7C3BF}" srcOrd="1" destOrd="0" presId="urn:microsoft.com/office/officeart/2005/8/layout/bProcess4"/>
    <dgm:cxn modelId="{3C52A643-F5D8-439D-8331-6FCD2B405D67}" type="presParOf" srcId="{73793998-5D5A-403C-B8A8-541B0BE0B6FB}" destId="{3BC495C8-4248-4FF2-9652-DE195A147A15}" srcOrd="7" destOrd="0" presId="urn:microsoft.com/office/officeart/2005/8/layout/bProcess4"/>
    <dgm:cxn modelId="{9DDAB1E6-B1F6-4A04-BFEB-7D6F9B7B55A9}" type="presParOf" srcId="{73793998-5D5A-403C-B8A8-541B0BE0B6FB}" destId="{468AC922-D8C0-4177-A4B1-E8C990130F7C}" srcOrd="8" destOrd="0" presId="urn:microsoft.com/office/officeart/2005/8/layout/bProcess4"/>
    <dgm:cxn modelId="{462EA78E-E31C-40E0-B104-513A0C38FB49}" type="presParOf" srcId="{468AC922-D8C0-4177-A4B1-E8C990130F7C}" destId="{E7EB0076-6373-415C-B32F-9BADD0857752}" srcOrd="0" destOrd="0" presId="urn:microsoft.com/office/officeart/2005/8/layout/bProcess4"/>
    <dgm:cxn modelId="{B835E924-C609-4252-B0C5-96EA984DA042}" type="presParOf" srcId="{468AC922-D8C0-4177-A4B1-E8C990130F7C}" destId="{AFE4C94E-6A6A-4E21-9812-EB75BD9E53B3}" srcOrd="1" destOrd="0" presId="urn:microsoft.com/office/officeart/2005/8/layout/bProcess4"/>
    <dgm:cxn modelId="{B814DDBF-80F2-4491-BBB4-1EACB2814C1C}" type="presParOf" srcId="{73793998-5D5A-403C-B8A8-541B0BE0B6FB}" destId="{253BE745-5C04-4BAA-870F-F886ABD3A12D}" srcOrd="9" destOrd="0" presId="urn:microsoft.com/office/officeart/2005/8/layout/bProcess4"/>
    <dgm:cxn modelId="{A33284C2-A49A-449B-A364-3CDF11733CAC}" type="presParOf" srcId="{73793998-5D5A-403C-B8A8-541B0BE0B6FB}" destId="{A192D472-600D-4033-AEF6-DC258EC3DD0E}" srcOrd="10" destOrd="0" presId="urn:microsoft.com/office/officeart/2005/8/layout/bProcess4"/>
    <dgm:cxn modelId="{13976404-02B1-4DA6-9315-CCA7484F780B}" type="presParOf" srcId="{A192D472-600D-4033-AEF6-DC258EC3DD0E}" destId="{B05D8A4A-B80B-47D6-A995-0C6B018CBFEF}" srcOrd="0" destOrd="0" presId="urn:microsoft.com/office/officeart/2005/8/layout/bProcess4"/>
    <dgm:cxn modelId="{A4381F80-8319-4A9F-940F-E27CAEDFD45B}" type="presParOf" srcId="{A192D472-600D-4033-AEF6-DC258EC3DD0E}" destId="{F3C90429-1620-4856-9DC3-5942AB02E2C9}" srcOrd="1" destOrd="0" presId="urn:microsoft.com/office/officeart/2005/8/layout/bProcess4"/>
    <dgm:cxn modelId="{EB3C3E4D-4F7C-4942-BD23-D91318CC8FEE}" type="presParOf" srcId="{73793998-5D5A-403C-B8A8-541B0BE0B6FB}" destId="{81EB17E9-6BE7-4B45-BA2A-70BE0B441B09}" srcOrd="11" destOrd="0" presId="urn:microsoft.com/office/officeart/2005/8/layout/bProcess4"/>
    <dgm:cxn modelId="{5EACBCDD-7FA6-44C6-8796-B9B3DA145937}" type="presParOf" srcId="{73793998-5D5A-403C-B8A8-541B0BE0B6FB}" destId="{4745DB5F-45C4-439D-A7FA-D2D4F03F695B}" srcOrd="12" destOrd="0" presId="urn:microsoft.com/office/officeart/2005/8/layout/bProcess4"/>
    <dgm:cxn modelId="{ACD8FB94-7439-460E-AF5D-5F3CA0385A43}" type="presParOf" srcId="{4745DB5F-45C4-439D-A7FA-D2D4F03F695B}" destId="{C285E0FA-861F-4B0A-A120-B42902E5987C}" srcOrd="0" destOrd="0" presId="urn:microsoft.com/office/officeart/2005/8/layout/bProcess4"/>
    <dgm:cxn modelId="{4A9D7ECE-C71A-43B6-AA06-23464565A488}" type="presParOf" srcId="{4745DB5F-45C4-439D-A7FA-D2D4F03F695B}" destId="{52334E31-DE8B-4DB9-870F-D8A55F30CE4D}" srcOrd="1" destOrd="0" presId="urn:microsoft.com/office/officeart/2005/8/layout/bProcess4"/>
    <dgm:cxn modelId="{81C7C889-CD03-4E70-8F8F-20640C51712A}" type="presParOf" srcId="{73793998-5D5A-403C-B8A8-541B0BE0B6FB}" destId="{68D380FA-845E-41F4-8804-5F5CC4ED1E88}" srcOrd="13" destOrd="0" presId="urn:microsoft.com/office/officeart/2005/8/layout/bProcess4"/>
    <dgm:cxn modelId="{7E750520-6BF9-4F6E-8144-3673B76E8C89}" type="presParOf" srcId="{73793998-5D5A-403C-B8A8-541B0BE0B6FB}" destId="{DB546487-C0B1-44AB-9218-48FB9A5CED96}" srcOrd="14" destOrd="0" presId="urn:microsoft.com/office/officeart/2005/8/layout/bProcess4"/>
    <dgm:cxn modelId="{A1689F95-57A1-4B5B-B39E-48F2B9DDAFC4}" type="presParOf" srcId="{DB546487-C0B1-44AB-9218-48FB9A5CED96}" destId="{70C5B4B3-DDAC-4895-ADC3-D4A85798DB26}" srcOrd="0" destOrd="0" presId="urn:microsoft.com/office/officeart/2005/8/layout/bProcess4"/>
    <dgm:cxn modelId="{3E50DA5D-3DE9-43DB-A4A9-F19EA1331EAC}" type="presParOf" srcId="{DB546487-C0B1-44AB-9218-48FB9A5CED96}" destId="{059B4911-7B28-4752-BB7A-2B6EE3C86FC8}" srcOrd="1" destOrd="0" presId="urn:microsoft.com/office/officeart/2005/8/layout/bProcess4"/>
    <dgm:cxn modelId="{FB180FDE-5232-425A-B08A-D8F94A5D856D}" type="presParOf" srcId="{73793998-5D5A-403C-B8A8-541B0BE0B6FB}" destId="{738FC2E6-ED2E-40CD-8622-BE0F0D356C58}" srcOrd="15" destOrd="0" presId="urn:microsoft.com/office/officeart/2005/8/layout/bProcess4"/>
    <dgm:cxn modelId="{1E3DE276-166F-4635-B7AD-F588D0ECF6F2}" type="presParOf" srcId="{73793998-5D5A-403C-B8A8-541B0BE0B6FB}" destId="{F9C36400-FE0F-4F2A-B7C1-57823BED0C43}" srcOrd="16" destOrd="0" presId="urn:microsoft.com/office/officeart/2005/8/layout/bProcess4"/>
    <dgm:cxn modelId="{231B13A4-338E-44DD-803A-6834C4E05BEB}" type="presParOf" srcId="{F9C36400-FE0F-4F2A-B7C1-57823BED0C43}" destId="{F5FCEC9E-4D7D-444D-BF5B-B909BDEF277F}" srcOrd="0" destOrd="0" presId="urn:microsoft.com/office/officeart/2005/8/layout/bProcess4"/>
    <dgm:cxn modelId="{87E45365-48B4-4713-9B2C-72EDD1FF090B}" type="presParOf" srcId="{F9C36400-FE0F-4F2A-B7C1-57823BED0C43}" destId="{ADB39B07-5F86-4CEA-97F5-C7FEE390E69A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AB127F45-F318-4003-9377-809A0C3C1301}" type="datetimeFigureOut">
              <a:rPr lang="en-US" smtClean="0"/>
              <a:t>10/8/2019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3A4F3588-8983-4F09-B180-EDF4FB6FD7F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0665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040" y="4415790"/>
            <a:ext cx="5608320" cy="4183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967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EDE19FE4-2C12-4849-A938-CE1BEB37138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49081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FBA904-FC52-46D7-BA33-57A9B19BDC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E67E7A-83FB-4F98-B966-B0046DE7C6C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F676B4-8C4F-45E9-9E79-88D13B1BDC5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2F7B7C-5134-4D40-91E4-53BA5DC3F29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C6814E-2202-4085-B50B-1D8E49056BE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8365B4-972D-4C21-966B-EF4F8F6640D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DC7CDC-B2A1-4BD4-90B2-41F5E97EDAC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DB8FD2-A801-421C-8A8C-6F006002D31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CA201D-0C5E-48C8-B766-9C374AB8EB5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879297-113E-4FC7-83C5-145DEB2D5EC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211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211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9EDD17-B528-4455-947F-98F546CC2C1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2117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520126-59A0-4579-837B-9613F1E0BD8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0BBEB-DAAD-4585-851C-EF7FAFF04DA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93393-68B9-4B80-9C12-709B94FE8A8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90369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0BBEB-DAAD-4585-851C-EF7FAFF04DA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93393-68B9-4B80-9C12-709B94FE8A8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6410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0BBEB-DAAD-4585-851C-EF7FAFF04DA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93393-68B9-4B80-9C12-709B94FE8A8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29816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0BBEB-DAAD-4585-851C-EF7FAFF04DA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93393-68B9-4B80-9C12-709B94FE8A8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68332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0BBEB-DAAD-4585-851C-EF7FAFF04DA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93393-68B9-4B80-9C12-709B94FE8A8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38160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0BBEB-DAAD-4585-851C-EF7FAFF04DA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93393-68B9-4B80-9C12-709B94FE8A8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60090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0BBEB-DAAD-4585-851C-EF7FAFF04DA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93393-68B9-4B80-9C12-709B94FE8A8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22746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0BBEB-DAAD-4585-851C-EF7FAFF04DA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93393-68B9-4B80-9C12-709B94FE8A8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38202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0BBEB-DAAD-4585-851C-EF7FAFF04DA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93393-68B9-4B80-9C12-709B94FE8A8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41261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0BBEB-DAAD-4585-851C-EF7FAFF04DA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93393-68B9-4B80-9C12-709B94FE8A8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20779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0BBEB-DAAD-4585-851C-EF7FAFF04DA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93393-68B9-4B80-9C12-709B94FE8A8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38088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0BBEB-DAAD-4585-851C-EF7FAFF04DA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93393-68B9-4B80-9C12-709B94FE8A8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87106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0BBEB-DAAD-4585-851C-EF7FAFF04DA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93393-68B9-4B80-9C12-709B94FE8A8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451281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0BBEB-DAAD-4585-851C-EF7FAFF04DA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93393-68B9-4B80-9C12-709B94FE8A8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228068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0BBEB-DAAD-4585-851C-EF7FAFF04DA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93393-68B9-4B80-9C12-709B94FE8A8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157312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0BBEB-DAAD-4585-851C-EF7FAFF04DA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93393-68B9-4B80-9C12-709B94FE8A8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86053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0BBEB-DAAD-4585-851C-EF7FAFF04DA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93393-68B9-4B80-9C12-709B94FE8A8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177653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0BBEB-DAAD-4585-851C-EF7FAFF04DA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93393-68B9-4B80-9C12-709B94FE8A8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760579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0BBEB-DAAD-4585-851C-EF7FAFF04DA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93393-68B9-4B80-9C12-709B94FE8A8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225563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0BBEB-DAAD-4585-851C-EF7FAFF04DA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93393-68B9-4B80-9C12-709B94FE8A8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411137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0BBEB-DAAD-4585-851C-EF7FAFF04DA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93393-68B9-4B80-9C12-709B94FE8A8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521913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0BBEB-DAAD-4585-851C-EF7FAFF04DA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93393-68B9-4B80-9C12-709B94FE8A8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11820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0BBEB-DAAD-4585-851C-EF7FAFF04DA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93393-68B9-4B80-9C12-709B94FE8A8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619549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0BBEB-DAAD-4585-851C-EF7FAFF04DA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93393-68B9-4B80-9C12-709B94FE8A8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093628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0BBEB-DAAD-4585-851C-EF7FAFF04DA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93393-68B9-4B80-9C12-709B94FE8A8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63030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0BBEB-DAAD-4585-851C-EF7FAFF04DA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93393-68B9-4B80-9C12-709B94FE8A8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809628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0BBEB-DAAD-4585-851C-EF7FAFF04DA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93393-68B9-4B80-9C12-709B94FE8A8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780092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0BBEB-DAAD-4585-851C-EF7FAFF04DA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93393-68B9-4B80-9C12-709B94FE8A8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714907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0BBEB-DAAD-4585-851C-EF7FAFF04DA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93393-68B9-4B80-9C12-709B94FE8A8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053049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0BBEB-DAAD-4585-851C-EF7FAFF04DA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93393-68B9-4B80-9C12-709B94FE8A8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011637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0BBEB-DAAD-4585-851C-EF7FAFF04DA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93393-68B9-4B80-9C12-709B94FE8A8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303294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0BBEB-DAAD-4585-851C-EF7FAFF04DA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93393-68B9-4B80-9C12-709B94FE8A8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056138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0BBEB-DAAD-4585-851C-EF7FAFF04DA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10/8/2019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93393-68B9-4B80-9C12-709B94FE8A8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3038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pt_camo_bkgrnd-02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0"/>
            <a:ext cx="9144000" cy="686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 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6576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fld id="{75DA2A16-3C7A-4A1D-A387-8CDF01983F1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1030" name="Picture 6" descr="USACE_logo"/>
          <p:cNvPicPr>
            <a:picLocks noChangeAspect="1" noChangeArrowheads="1"/>
          </p:cNvPicPr>
          <p:nvPr userDrawn="1"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8004175" y="5638800"/>
            <a:ext cx="7588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23" name="Text Box 7"/>
          <p:cNvSpPr txBox="1">
            <a:spLocks noChangeArrowheads="1"/>
          </p:cNvSpPr>
          <p:nvPr userDrawn="1"/>
        </p:nvSpPr>
        <p:spPr bwMode="auto">
          <a:xfrm>
            <a:off x="6223000" y="6340475"/>
            <a:ext cx="260667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r">
              <a:defRPr/>
            </a:pPr>
            <a:r>
              <a:rPr lang="en-US" sz="1400" b="1" dirty="0"/>
              <a:t>BUILDING STRONG</a:t>
            </a:r>
            <a:r>
              <a:rPr lang="en-US" sz="1400" b="1" baseline="-25000" dirty="0"/>
              <a:t>®</a:t>
            </a:r>
          </a:p>
        </p:txBody>
      </p:sp>
      <p:sp>
        <p:nvSpPr>
          <p:cNvPr id="9224" name="Line 8"/>
          <p:cNvSpPr>
            <a:spLocks noChangeShapeType="1"/>
          </p:cNvSpPr>
          <p:nvPr userDrawn="1"/>
        </p:nvSpPr>
        <p:spPr bwMode="auto">
          <a:xfrm flipH="1">
            <a:off x="457200" y="6248400"/>
            <a:ext cx="822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75000"/>
        <a:buFont typeface="Arial" charset="0"/>
        <a:buChar char="►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75000"/>
        <a:buFont typeface="Wingdings 3" pitchFamily="18" charset="2"/>
        <a:buChar char="w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50000"/>
        <a:buFont typeface="Wingdings" pitchFamily="2" charset="2"/>
        <a:buChar char="¡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SzPct val="50000"/>
        <a:buFont typeface="Wingdings" pitchFamily="2" charset="2"/>
        <a:buChar char="¡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SzPct val="50000"/>
        <a:buFont typeface="Wingdings" pitchFamily="2" charset="2"/>
        <a:buChar char="¡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SzPct val="50000"/>
        <a:buFont typeface="Wingdings" pitchFamily="2" charset="2"/>
        <a:buChar char="¡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SzPct val="50000"/>
        <a:buFont typeface="Wingdings" pitchFamily="2" charset="2"/>
        <a:buChar char="¡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4D90BBEB-DAAD-4585-851C-EF7FAFF04DA2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10/8/2019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9893393-68B9-4B80-9C12-709B94FE8A8B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258774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4D90BBEB-DAAD-4585-851C-EF7FAFF04DA2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10/8/2019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9893393-68B9-4B80-9C12-709B94FE8A8B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213113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4D90BBEB-DAAD-4585-851C-EF7FAFF04DA2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10/8/2019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9893393-68B9-4B80-9C12-709B94FE8A8B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424965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8600"/>
            <a:ext cx="7772400" cy="1470025"/>
          </a:xfrm>
        </p:spPr>
        <p:txBody>
          <a:bodyPr/>
          <a:lstStyle/>
          <a:p>
            <a:r>
              <a:rPr lang="en-US" dirty="0"/>
              <a:t>CWMS LOWER SNAKE </a:t>
            </a:r>
            <a:br>
              <a:rPr lang="en-US" dirty="0"/>
            </a:br>
            <a:r>
              <a:rPr lang="en-US" dirty="0"/>
              <a:t>ESP Development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43400" y="4639217"/>
            <a:ext cx="3276600" cy="1456783"/>
          </a:xfrm>
        </p:spPr>
        <p:txBody>
          <a:bodyPr/>
          <a:lstStyle/>
          <a:p>
            <a:pPr algn="l"/>
            <a:r>
              <a:rPr lang="en-US" sz="1800" dirty="0"/>
              <a:t>Walla Walla District</a:t>
            </a:r>
          </a:p>
          <a:p>
            <a:pPr algn="l"/>
            <a:r>
              <a:rPr lang="en-US" sz="1800" dirty="0"/>
              <a:t>Developed by: </a:t>
            </a:r>
          </a:p>
          <a:p>
            <a:pPr lvl="1" algn="l"/>
            <a:r>
              <a:rPr lang="en-US" sz="1600" dirty="0"/>
              <a:t>Jon Roberts, PE </a:t>
            </a:r>
          </a:p>
          <a:p>
            <a:pPr lvl="1" algn="l"/>
            <a:r>
              <a:rPr lang="en-US" sz="1600" dirty="0"/>
              <a:t>Ross Wickham, PE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" t="17778" r="35833" b="4444"/>
          <a:stretch/>
        </p:blipFill>
        <p:spPr>
          <a:xfrm>
            <a:off x="152400" y="1670050"/>
            <a:ext cx="4038600" cy="398171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689100"/>
            <a:ext cx="4274006" cy="279454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sz="4000" dirty="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Lower Snake watershed and points of emphasis</a:t>
            </a:r>
          </a:p>
          <a:p>
            <a:r>
              <a:rPr lang="en-US" sz="2400" dirty="0"/>
              <a:t>CWMS goals</a:t>
            </a:r>
          </a:p>
          <a:p>
            <a:r>
              <a:rPr lang="en-US" sz="2400" dirty="0"/>
              <a:t>Vision for the ESP ensemble compute</a:t>
            </a:r>
          </a:p>
          <a:p>
            <a:r>
              <a:rPr lang="en-US" sz="2400" dirty="0"/>
              <a:t>Initial workflow priorities, timeline, and work completed</a:t>
            </a:r>
          </a:p>
          <a:p>
            <a:r>
              <a:rPr lang="en-US" sz="2400" dirty="0"/>
              <a:t>Real-time results</a:t>
            </a:r>
          </a:p>
          <a:p>
            <a:r>
              <a:rPr lang="en-US" sz="2400" dirty="0"/>
              <a:t>Next steps</a:t>
            </a:r>
          </a:p>
          <a:p>
            <a:r>
              <a:rPr lang="en-US" sz="2400" dirty="0"/>
              <a:t>Future improvements &amp; partnership</a:t>
            </a:r>
          </a:p>
          <a:p>
            <a:r>
              <a:rPr lang="en-US" sz="2400" dirty="0"/>
              <a:t>Questions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3816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/>
          <a:lstStyle/>
          <a:p>
            <a:r>
              <a:rPr lang="en-US" sz="4000" dirty="0"/>
              <a:t>CWMS Lower Snake Watershed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990600"/>
            <a:ext cx="5224585" cy="5219700"/>
          </a:xfrm>
        </p:spPr>
      </p:pic>
      <p:sp>
        <p:nvSpPr>
          <p:cNvPr id="6" name="TextBox 5"/>
          <p:cNvSpPr txBox="1"/>
          <p:nvPr/>
        </p:nvSpPr>
        <p:spPr>
          <a:xfrm>
            <a:off x="5683739" y="1371600"/>
            <a:ext cx="3299301" cy="3093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Lower Snake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8 Reservoirs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35,049sq miles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5 Major consequence locations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3 Significant levee systems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River Miles Modeled: 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Snake River: 237mi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Clearwater River: 45.5mi</a:t>
            </a:r>
          </a:p>
        </p:txBody>
      </p:sp>
    </p:spTree>
    <p:extLst>
      <p:ext uri="{BB962C8B-B14F-4D97-AF65-F5344CB8AC3E}">
        <p14:creationId xmlns:p14="http://schemas.microsoft.com/office/powerpoint/2010/main" val="436207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sz="4000" dirty="0"/>
              <a:t>CWMS Goals for Lower Snake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600200"/>
            <a:ext cx="7924800" cy="3886200"/>
          </a:xfrm>
        </p:spPr>
        <p:txBody>
          <a:bodyPr/>
          <a:lstStyle/>
          <a:p>
            <a:pPr marL="514350" indent="-51435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/>
              <a:t>Incorporate/Expand upon the CWMS Clearwater model</a:t>
            </a:r>
          </a:p>
          <a:p>
            <a:pPr marL="514350" indent="-51435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/>
              <a:t>Provide WM a model that had reservoir operations capable of handling water temperature and momentum wave action once software was ready</a:t>
            </a:r>
          </a:p>
          <a:p>
            <a:pPr marL="514350" indent="-51435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u="sng" dirty="0"/>
              <a:t>Provide a more diverse time range for operations</a:t>
            </a:r>
          </a:p>
          <a:p>
            <a:pPr lvl="1"/>
            <a:r>
              <a:rPr lang="en-US" sz="2000" dirty="0"/>
              <a:t>Current District CWMS uses 10-day gridded QPF</a:t>
            </a:r>
          </a:p>
          <a:p>
            <a:pPr lvl="1"/>
            <a:r>
              <a:rPr lang="en-US" sz="2000" dirty="0"/>
              <a:t>Upgrade CWMS Clearwater model to incorporate </a:t>
            </a:r>
            <a:r>
              <a:rPr lang="en-US" sz="2000" dirty="0" smtClean="0"/>
              <a:t>10d-RFC </a:t>
            </a:r>
            <a:r>
              <a:rPr lang="en-US" sz="2000" dirty="0"/>
              <a:t>feeds</a:t>
            </a:r>
          </a:p>
          <a:p>
            <a:pPr lvl="1"/>
            <a:r>
              <a:rPr lang="en-US" sz="2000" dirty="0"/>
              <a:t>Only really useful in 2 timeframes of the WY </a:t>
            </a:r>
          </a:p>
          <a:p>
            <a:pPr lvl="3"/>
            <a:r>
              <a:rPr lang="en-US" sz="1800" dirty="0"/>
              <a:t>Rain-on-Snow events</a:t>
            </a:r>
          </a:p>
          <a:p>
            <a:pPr lvl="3"/>
            <a:r>
              <a:rPr lang="en-US" sz="1800" dirty="0"/>
              <a:t>Final Fill events</a:t>
            </a:r>
          </a:p>
          <a:p>
            <a:pPr marL="514350" indent="-51435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endParaRPr lang="en-US" sz="2400" u="sng" dirty="0"/>
          </a:p>
          <a:p>
            <a:pPr marL="914400" lvl="1" indent="-514350">
              <a:buFont typeface="+mj-lt"/>
              <a:buAutoNum type="arabicPeriod"/>
            </a:pPr>
            <a:endParaRPr lang="en-US" sz="2400" u="sng" dirty="0"/>
          </a:p>
        </p:txBody>
      </p:sp>
    </p:spTree>
    <p:extLst>
      <p:ext uri="{BB962C8B-B14F-4D97-AF65-F5344CB8AC3E}">
        <p14:creationId xmlns:p14="http://schemas.microsoft.com/office/powerpoint/2010/main" val="593278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/>
          <a:lstStyle/>
          <a:p>
            <a:r>
              <a:rPr lang="en-US" sz="4000" dirty="0"/>
              <a:t>Vision for the ESP Ensemble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95400"/>
            <a:ext cx="8001000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/>
              <a:t>Utilizing RFC 120-day STP run, as a risk base analysis for runoff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This led to the idea of re-regulating the complete ESP data record from the raw </a:t>
            </a:r>
            <a:r>
              <a:rPr lang="en-US" sz="2000" dirty="0" smtClean="0"/>
              <a:t>dataset</a:t>
            </a:r>
          </a:p>
          <a:p>
            <a:r>
              <a:rPr lang="en-US" sz="2000" dirty="0"/>
              <a:t>	</a:t>
            </a:r>
            <a:r>
              <a:rPr lang="en-US" sz="2000" b="1" u="sng" dirty="0" smtClean="0"/>
              <a:t>Advantages</a:t>
            </a:r>
            <a:endParaRPr lang="en-US" sz="2000" b="1" u="sng" dirty="0"/>
          </a:p>
          <a:p>
            <a:pPr marL="971550" lvl="1" indent="-514350">
              <a:buFont typeface="+mj-lt"/>
              <a:buAutoNum type="romanUcPeriod"/>
            </a:pPr>
            <a:r>
              <a:rPr lang="en-US" sz="2000" dirty="0"/>
              <a:t>Relying on the RFC expertise for the hydrology but WM staff for the regulations of the projects 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US" sz="2000" dirty="0"/>
              <a:t>Allows WM staff to identify more applicable runoff alternatives based on current runoff-volume forecast for each of the reservoirs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US" sz="2000" dirty="0"/>
              <a:t>Provides a risk analysis range for possible runoffs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US" sz="2000" dirty="0"/>
              <a:t>Allows for the overlay plot of specific analog ESP years, to view for comparisons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US" sz="2000" dirty="0"/>
              <a:t>Allows for the use of updated routing from current calibrated HEC-RAS model</a:t>
            </a:r>
          </a:p>
          <a:p>
            <a:endParaRPr lang="en-US" dirty="0"/>
          </a:p>
          <a:p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629703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Workflow ESP Ensemble Development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4955651"/>
              </p:ext>
            </p:extLst>
          </p:nvPr>
        </p:nvGraphicFramePr>
        <p:xfrm>
          <a:off x="457200" y="1600200"/>
          <a:ext cx="8229600" cy="3886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78670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Rectangle 146"/>
          <p:cNvSpPr/>
          <p:nvPr/>
        </p:nvSpPr>
        <p:spPr>
          <a:xfrm>
            <a:off x="501001" y="936058"/>
            <a:ext cx="8382000" cy="5313680"/>
          </a:xfrm>
          <a:custGeom>
            <a:avLst/>
            <a:gdLst>
              <a:gd name="connsiteX0" fmla="*/ 0 w 8382000"/>
              <a:gd name="connsiteY0" fmla="*/ 0 h 5650834"/>
              <a:gd name="connsiteX1" fmla="*/ 8382000 w 8382000"/>
              <a:gd name="connsiteY1" fmla="*/ 0 h 5650834"/>
              <a:gd name="connsiteX2" fmla="*/ 8382000 w 8382000"/>
              <a:gd name="connsiteY2" fmla="*/ 5650834 h 5650834"/>
              <a:gd name="connsiteX3" fmla="*/ 0 w 8382000"/>
              <a:gd name="connsiteY3" fmla="*/ 5650834 h 5650834"/>
              <a:gd name="connsiteX4" fmla="*/ 0 w 8382000"/>
              <a:gd name="connsiteY4" fmla="*/ 0 h 5650834"/>
              <a:gd name="connsiteX0" fmla="*/ 0 w 8382000"/>
              <a:gd name="connsiteY0" fmla="*/ 0 h 5650834"/>
              <a:gd name="connsiteX1" fmla="*/ 8382000 w 8382000"/>
              <a:gd name="connsiteY1" fmla="*/ 0 h 5650834"/>
              <a:gd name="connsiteX2" fmla="*/ 8382000 w 8382000"/>
              <a:gd name="connsiteY2" fmla="*/ 5650834 h 5650834"/>
              <a:gd name="connsiteX3" fmla="*/ 6675120 w 8382000"/>
              <a:gd name="connsiteY3" fmla="*/ 5646420 h 5650834"/>
              <a:gd name="connsiteX4" fmla="*/ 0 w 8382000"/>
              <a:gd name="connsiteY4" fmla="*/ 5650834 h 5650834"/>
              <a:gd name="connsiteX5" fmla="*/ 0 w 8382000"/>
              <a:gd name="connsiteY5" fmla="*/ 0 h 5650834"/>
              <a:gd name="connsiteX0" fmla="*/ 0 w 8382000"/>
              <a:gd name="connsiteY0" fmla="*/ 0 h 5650834"/>
              <a:gd name="connsiteX1" fmla="*/ 8382000 w 8382000"/>
              <a:gd name="connsiteY1" fmla="*/ 0 h 5650834"/>
              <a:gd name="connsiteX2" fmla="*/ 8382000 w 8382000"/>
              <a:gd name="connsiteY2" fmla="*/ 4030980 h 5650834"/>
              <a:gd name="connsiteX3" fmla="*/ 8382000 w 8382000"/>
              <a:gd name="connsiteY3" fmla="*/ 5650834 h 5650834"/>
              <a:gd name="connsiteX4" fmla="*/ 6675120 w 8382000"/>
              <a:gd name="connsiteY4" fmla="*/ 5646420 h 5650834"/>
              <a:gd name="connsiteX5" fmla="*/ 0 w 8382000"/>
              <a:gd name="connsiteY5" fmla="*/ 5650834 h 5650834"/>
              <a:gd name="connsiteX6" fmla="*/ 0 w 8382000"/>
              <a:gd name="connsiteY6" fmla="*/ 0 h 5650834"/>
              <a:gd name="connsiteX0" fmla="*/ 0 w 8382000"/>
              <a:gd name="connsiteY0" fmla="*/ 0 h 5650834"/>
              <a:gd name="connsiteX1" fmla="*/ 8382000 w 8382000"/>
              <a:gd name="connsiteY1" fmla="*/ 0 h 5650834"/>
              <a:gd name="connsiteX2" fmla="*/ 8382000 w 8382000"/>
              <a:gd name="connsiteY2" fmla="*/ 4030980 h 5650834"/>
              <a:gd name="connsiteX3" fmla="*/ 8382000 w 8382000"/>
              <a:gd name="connsiteY3" fmla="*/ 5650834 h 5650834"/>
              <a:gd name="connsiteX4" fmla="*/ 6675120 w 8382000"/>
              <a:gd name="connsiteY4" fmla="*/ 5646420 h 5650834"/>
              <a:gd name="connsiteX5" fmla="*/ 0 w 8382000"/>
              <a:gd name="connsiteY5" fmla="*/ 5650834 h 5650834"/>
              <a:gd name="connsiteX6" fmla="*/ 0 w 8382000"/>
              <a:gd name="connsiteY6" fmla="*/ 0 h 5650834"/>
              <a:gd name="connsiteX0" fmla="*/ 0 w 8382000"/>
              <a:gd name="connsiteY0" fmla="*/ 0 h 5650834"/>
              <a:gd name="connsiteX1" fmla="*/ 8382000 w 8382000"/>
              <a:gd name="connsiteY1" fmla="*/ 0 h 5650834"/>
              <a:gd name="connsiteX2" fmla="*/ 8382000 w 8382000"/>
              <a:gd name="connsiteY2" fmla="*/ 4030980 h 5650834"/>
              <a:gd name="connsiteX3" fmla="*/ 6690360 w 8382000"/>
              <a:gd name="connsiteY3" fmla="*/ 4424014 h 5650834"/>
              <a:gd name="connsiteX4" fmla="*/ 6675120 w 8382000"/>
              <a:gd name="connsiteY4" fmla="*/ 5646420 h 5650834"/>
              <a:gd name="connsiteX5" fmla="*/ 0 w 8382000"/>
              <a:gd name="connsiteY5" fmla="*/ 5650834 h 5650834"/>
              <a:gd name="connsiteX6" fmla="*/ 0 w 8382000"/>
              <a:gd name="connsiteY6" fmla="*/ 0 h 5650834"/>
              <a:gd name="connsiteX0" fmla="*/ 0 w 8382000"/>
              <a:gd name="connsiteY0" fmla="*/ 0 h 5650834"/>
              <a:gd name="connsiteX1" fmla="*/ 8382000 w 8382000"/>
              <a:gd name="connsiteY1" fmla="*/ 0 h 5650834"/>
              <a:gd name="connsiteX2" fmla="*/ 8382000 w 8382000"/>
              <a:gd name="connsiteY2" fmla="*/ 4030980 h 5650834"/>
              <a:gd name="connsiteX3" fmla="*/ 6690360 w 8382000"/>
              <a:gd name="connsiteY3" fmla="*/ 4424014 h 5650834"/>
              <a:gd name="connsiteX4" fmla="*/ 6576060 w 8382000"/>
              <a:gd name="connsiteY4" fmla="*/ 5631180 h 5650834"/>
              <a:gd name="connsiteX5" fmla="*/ 0 w 8382000"/>
              <a:gd name="connsiteY5" fmla="*/ 5650834 h 5650834"/>
              <a:gd name="connsiteX6" fmla="*/ 0 w 8382000"/>
              <a:gd name="connsiteY6" fmla="*/ 0 h 5650834"/>
              <a:gd name="connsiteX0" fmla="*/ 0 w 8382000"/>
              <a:gd name="connsiteY0" fmla="*/ 0 h 5650834"/>
              <a:gd name="connsiteX1" fmla="*/ 8382000 w 8382000"/>
              <a:gd name="connsiteY1" fmla="*/ 0 h 5650834"/>
              <a:gd name="connsiteX2" fmla="*/ 8382000 w 8382000"/>
              <a:gd name="connsiteY2" fmla="*/ 4030980 h 5650834"/>
              <a:gd name="connsiteX3" fmla="*/ 6690360 w 8382000"/>
              <a:gd name="connsiteY3" fmla="*/ 4424014 h 5650834"/>
              <a:gd name="connsiteX4" fmla="*/ 6576060 w 8382000"/>
              <a:gd name="connsiteY4" fmla="*/ 5631180 h 5650834"/>
              <a:gd name="connsiteX5" fmla="*/ 0 w 8382000"/>
              <a:gd name="connsiteY5" fmla="*/ 5650834 h 5650834"/>
              <a:gd name="connsiteX6" fmla="*/ 0 w 8382000"/>
              <a:gd name="connsiteY6" fmla="*/ 0 h 5650834"/>
              <a:gd name="connsiteX0" fmla="*/ 0 w 8382000"/>
              <a:gd name="connsiteY0" fmla="*/ 0 h 5650834"/>
              <a:gd name="connsiteX1" fmla="*/ 8382000 w 8382000"/>
              <a:gd name="connsiteY1" fmla="*/ 0 h 5650834"/>
              <a:gd name="connsiteX2" fmla="*/ 8382000 w 8382000"/>
              <a:gd name="connsiteY2" fmla="*/ 4030980 h 5650834"/>
              <a:gd name="connsiteX3" fmla="*/ 6637020 w 8382000"/>
              <a:gd name="connsiteY3" fmla="*/ 4515454 h 5650834"/>
              <a:gd name="connsiteX4" fmla="*/ 6576060 w 8382000"/>
              <a:gd name="connsiteY4" fmla="*/ 5631180 h 5650834"/>
              <a:gd name="connsiteX5" fmla="*/ 0 w 8382000"/>
              <a:gd name="connsiteY5" fmla="*/ 5650834 h 5650834"/>
              <a:gd name="connsiteX6" fmla="*/ 0 w 8382000"/>
              <a:gd name="connsiteY6" fmla="*/ 0 h 5650834"/>
              <a:gd name="connsiteX0" fmla="*/ 0 w 8382000"/>
              <a:gd name="connsiteY0" fmla="*/ 0 h 5650834"/>
              <a:gd name="connsiteX1" fmla="*/ 8382000 w 8382000"/>
              <a:gd name="connsiteY1" fmla="*/ 0 h 5650834"/>
              <a:gd name="connsiteX2" fmla="*/ 8382000 w 8382000"/>
              <a:gd name="connsiteY2" fmla="*/ 4579620 h 5650834"/>
              <a:gd name="connsiteX3" fmla="*/ 6637020 w 8382000"/>
              <a:gd name="connsiteY3" fmla="*/ 4515454 h 5650834"/>
              <a:gd name="connsiteX4" fmla="*/ 6576060 w 8382000"/>
              <a:gd name="connsiteY4" fmla="*/ 5631180 h 5650834"/>
              <a:gd name="connsiteX5" fmla="*/ 0 w 8382000"/>
              <a:gd name="connsiteY5" fmla="*/ 5650834 h 5650834"/>
              <a:gd name="connsiteX6" fmla="*/ 0 w 8382000"/>
              <a:gd name="connsiteY6" fmla="*/ 0 h 5650834"/>
              <a:gd name="connsiteX0" fmla="*/ 0 w 8382000"/>
              <a:gd name="connsiteY0" fmla="*/ 0 h 5650834"/>
              <a:gd name="connsiteX1" fmla="*/ 8382000 w 8382000"/>
              <a:gd name="connsiteY1" fmla="*/ 0 h 5650834"/>
              <a:gd name="connsiteX2" fmla="*/ 8382000 w 8382000"/>
              <a:gd name="connsiteY2" fmla="*/ 4579620 h 5650834"/>
              <a:gd name="connsiteX3" fmla="*/ 6606540 w 8382000"/>
              <a:gd name="connsiteY3" fmla="*/ 4926934 h 5650834"/>
              <a:gd name="connsiteX4" fmla="*/ 6576060 w 8382000"/>
              <a:gd name="connsiteY4" fmla="*/ 5631180 h 5650834"/>
              <a:gd name="connsiteX5" fmla="*/ 0 w 8382000"/>
              <a:gd name="connsiteY5" fmla="*/ 5650834 h 5650834"/>
              <a:gd name="connsiteX6" fmla="*/ 0 w 8382000"/>
              <a:gd name="connsiteY6" fmla="*/ 0 h 5650834"/>
              <a:gd name="connsiteX0" fmla="*/ 0 w 8382000"/>
              <a:gd name="connsiteY0" fmla="*/ 0 h 5650834"/>
              <a:gd name="connsiteX1" fmla="*/ 8382000 w 8382000"/>
              <a:gd name="connsiteY1" fmla="*/ 0 h 5650834"/>
              <a:gd name="connsiteX2" fmla="*/ 8382000 w 8382000"/>
              <a:gd name="connsiteY2" fmla="*/ 4579620 h 5650834"/>
              <a:gd name="connsiteX3" fmla="*/ 6606540 w 8382000"/>
              <a:gd name="connsiteY3" fmla="*/ 4926934 h 5650834"/>
              <a:gd name="connsiteX4" fmla="*/ 6576060 w 8382000"/>
              <a:gd name="connsiteY4" fmla="*/ 5631180 h 5650834"/>
              <a:gd name="connsiteX5" fmla="*/ 0 w 8382000"/>
              <a:gd name="connsiteY5" fmla="*/ 5650834 h 5650834"/>
              <a:gd name="connsiteX6" fmla="*/ 0 w 8382000"/>
              <a:gd name="connsiteY6" fmla="*/ 0 h 5650834"/>
              <a:gd name="connsiteX0" fmla="*/ 0 w 8382000"/>
              <a:gd name="connsiteY0" fmla="*/ 0 h 5650834"/>
              <a:gd name="connsiteX1" fmla="*/ 8382000 w 8382000"/>
              <a:gd name="connsiteY1" fmla="*/ 0 h 5650834"/>
              <a:gd name="connsiteX2" fmla="*/ 8382000 w 8382000"/>
              <a:gd name="connsiteY2" fmla="*/ 4579620 h 5650834"/>
              <a:gd name="connsiteX3" fmla="*/ 6587490 w 8382000"/>
              <a:gd name="connsiteY3" fmla="*/ 4953604 h 5650834"/>
              <a:gd name="connsiteX4" fmla="*/ 6576060 w 8382000"/>
              <a:gd name="connsiteY4" fmla="*/ 5631180 h 5650834"/>
              <a:gd name="connsiteX5" fmla="*/ 0 w 8382000"/>
              <a:gd name="connsiteY5" fmla="*/ 5650834 h 5650834"/>
              <a:gd name="connsiteX6" fmla="*/ 0 w 8382000"/>
              <a:gd name="connsiteY6" fmla="*/ 0 h 5650834"/>
              <a:gd name="connsiteX0" fmla="*/ 0 w 8382000"/>
              <a:gd name="connsiteY0" fmla="*/ 0 h 5650834"/>
              <a:gd name="connsiteX1" fmla="*/ 8382000 w 8382000"/>
              <a:gd name="connsiteY1" fmla="*/ 0 h 5650834"/>
              <a:gd name="connsiteX2" fmla="*/ 8382000 w 8382000"/>
              <a:gd name="connsiteY2" fmla="*/ 4579620 h 5650834"/>
              <a:gd name="connsiteX3" fmla="*/ 6587490 w 8382000"/>
              <a:gd name="connsiteY3" fmla="*/ 4953604 h 5650834"/>
              <a:gd name="connsiteX4" fmla="*/ 6587490 w 8382000"/>
              <a:gd name="connsiteY4" fmla="*/ 5631180 h 5650834"/>
              <a:gd name="connsiteX5" fmla="*/ 0 w 8382000"/>
              <a:gd name="connsiteY5" fmla="*/ 5650834 h 5650834"/>
              <a:gd name="connsiteX6" fmla="*/ 0 w 8382000"/>
              <a:gd name="connsiteY6" fmla="*/ 0 h 5650834"/>
              <a:gd name="connsiteX0" fmla="*/ 0 w 8382000"/>
              <a:gd name="connsiteY0" fmla="*/ 0 h 5650834"/>
              <a:gd name="connsiteX1" fmla="*/ 8382000 w 8382000"/>
              <a:gd name="connsiteY1" fmla="*/ 0 h 5650834"/>
              <a:gd name="connsiteX2" fmla="*/ 8382000 w 8382000"/>
              <a:gd name="connsiteY2" fmla="*/ 4579620 h 5650834"/>
              <a:gd name="connsiteX3" fmla="*/ 6572250 w 8382000"/>
              <a:gd name="connsiteY3" fmla="*/ 5018374 h 5650834"/>
              <a:gd name="connsiteX4" fmla="*/ 6587490 w 8382000"/>
              <a:gd name="connsiteY4" fmla="*/ 5631180 h 5650834"/>
              <a:gd name="connsiteX5" fmla="*/ 0 w 8382000"/>
              <a:gd name="connsiteY5" fmla="*/ 5650834 h 5650834"/>
              <a:gd name="connsiteX6" fmla="*/ 0 w 8382000"/>
              <a:gd name="connsiteY6" fmla="*/ 0 h 5650834"/>
              <a:gd name="connsiteX0" fmla="*/ 0 w 8382000"/>
              <a:gd name="connsiteY0" fmla="*/ 0 h 5650834"/>
              <a:gd name="connsiteX1" fmla="*/ 8382000 w 8382000"/>
              <a:gd name="connsiteY1" fmla="*/ 0 h 5650834"/>
              <a:gd name="connsiteX2" fmla="*/ 8382000 w 8382000"/>
              <a:gd name="connsiteY2" fmla="*/ 4579620 h 5650834"/>
              <a:gd name="connsiteX3" fmla="*/ 6572250 w 8382000"/>
              <a:gd name="connsiteY3" fmla="*/ 5056474 h 5650834"/>
              <a:gd name="connsiteX4" fmla="*/ 6587490 w 8382000"/>
              <a:gd name="connsiteY4" fmla="*/ 5631180 h 5650834"/>
              <a:gd name="connsiteX5" fmla="*/ 0 w 8382000"/>
              <a:gd name="connsiteY5" fmla="*/ 5650834 h 5650834"/>
              <a:gd name="connsiteX6" fmla="*/ 0 w 8382000"/>
              <a:gd name="connsiteY6" fmla="*/ 0 h 5650834"/>
              <a:gd name="connsiteX0" fmla="*/ 0 w 8382000"/>
              <a:gd name="connsiteY0" fmla="*/ 0 h 5650834"/>
              <a:gd name="connsiteX1" fmla="*/ 8382000 w 8382000"/>
              <a:gd name="connsiteY1" fmla="*/ 0 h 5650834"/>
              <a:gd name="connsiteX2" fmla="*/ 8382000 w 8382000"/>
              <a:gd name="connsiteY2" fmla="*/ 4579620 h 5650834"/>
              <a:gd name="connsiteX3" fmla="*/ 6572250 w 8382000"/>
              <a:gd name="connsiteY3" fmla="*/ 5079334 h 5650834"/>
              <a:gd name="connsiteX4" fmla="*/ 6587490 w 8382000"/>
              <a:gd name="connsiteY4" fmla="*/ 5631180 h 5650834"/>
              <a:gd name="connsiteX5" fmla="*/ 0 w 8382000"/>
              <a:gd name="connsiteY5" fmla="*/ 5650834 h 5650834"/>
              <a:gd name="connsiteX6" fmla="*/ 0 w 8382000"/>
              <a:gd name="connsiteY6" fmla="*/ 0 h 5650834"/>
              <a:gd name="connsiteX0" fmla="*/ 0 w 8382000"/>
              <a:gd name="connsiteY0" fmla="*/ 0 h 5650834"/>
              <a:gd name="connsiteX1" fmla="*/ 8382000 w 8382000"/>
              <a:gd name="connsiteY1" fmla="*/ 0 h 5650834"/>
              <a:gd name="connsiteX2" fmla="*/ 8382000 w 8382000"/>
              <a:gd name="connsiteY2" fmla="*/ 4579620 h 5650834"/>
              <a:gd name="connsiteX3" fmla="*/ 6572250 w 8382000"/>
              <a:gd name="connsiteY3" fmla="*/ 5079334 h 5650834"/>
              <a:gd name="connsiteX4" fmla="*/ 6193790 w 8382000"/>
              <a:gd name="connsiteY4" fmla="*/ 5637530 h 5650834"/>
              <a:gd name="connsiteX5" fmla="*/ 0 w 8382000"/>
              <a:gd name="connsiteY5" fmla="*/ 5650834 h 5650834"/>
              <a:gd name="connsiteX6" fmla="*/ 0 w 8382000"/>
              <a:gd name="connsiteY6" fmla="*/ 0 h 5650834"/>
              <a:gd name="connsiteX0" fmla="*/ 0 w 8382000"/>
              <a:gd name="connsiteY0" fmla="*/ 0 h 5650834"/>
              <a:gd name="connsiteX1" fmla="*/ 8382000 w 8382000"/>
              <a:gd name="connsiteY1" fmla="*/ 0 h 5650834"/>
              <a:gd name="connsiteX2" fmla="*/ 8382000 w 8382000"/>
              <a:gd name="connsiteY2" fmla="*/ 4579620 h 5650834"/>
              <a:gd name="connsiteX3" fmla="*/ 6203950 w 8382000"/>
              <a:gd name="connsiteY3" fmla="*/ 5098384 h 5650834"/>
              <a:gd name="connsiteX4" fmla="*/ 6193790 w 8382000"/>
              <a:gd name="connsiteY4" fmla="*/ 5637530 h 5650834"/>
              <a:gd name="connsiteX5" fmla="*/ 0 w 8382000"/>
              <a:gd name="connsiteY5" fmla="*/ 5650834 h 5650834"/>
              <a:gd name="connsiteX6" fmla="*/ 0 w 8382000"/>
              <a:gd name="connsiteY6" fmla="*/ 0 h 5650834"/>
              <a:gd name="connsiteX0" fmla="*/ 0 w 8382000"/>
              <a:gd name="connsiteY0" fmla="*/ 0 h 5650834"/>
              <a:gd name="connsiteX1" fmla="*/ 8382000 w 8382000"/>
              <a:gd name="connsiteY1" fmla="*/ 0 h 5650834"/>
              <a:gd name="connsiteX2" fmla="*/ 8382000 w 8382000"/>
              <a:gd name="connsiteY2" fmla="*/ 4579620 h 5650834"/>
              <a:gd name="connsiteX3" fmla="*/ 6203950 w 8382000"/>
              <a:gd name="connsiteY3" fmla="*/ 5098384 h 5650834"/>
              <a:gd name="connsiteX4" fmla="*/ 6193790 w 8382000"/>
              <a:gd name="connsiteY4" fmla="*/ 5650230 h 5650834"/>
              <a:gd name="connsiteX5" fmla="*/ 0 w 8382000"/>
              <a:gd name="connsiteY5" fmla="*/ 5650834 h 5650834"/>
              <a:gd name="connsiteX6" fmla="*/ 0 w 8382000"/>
              <a:gd name="connsiteY6" fmla="*/ 0 h 5650834"/>
              <a:gd name="connsiteX0" fmla="*/ 0 w 8382000"/>
              <a:gd name="connsiteY0" fmla="*/ 0 h 5650230"/>
              <a:gd name="connsiteX1" fmla="*/ 8382000 w 8382000"/>
              <a:gd name="connsiteY1" fmla="*/ 0 h 5650230"/>
              <a:gd name="connsiteX2" fmla="*/ 8382000 w 8382000"/>
              <a:gd name="connsiteY2" fmla="*/ 4579620 h 5650230"/>
              <a:gd name="connsiteX3" fmla="*/ 6203950 w 8382000"/>
              <a:gd name="connsiteY3" fmla="*/ 5098384 h 5650230"/>
              <a:gd name="connsiteX4" fmla="*/ 6193790 w 8382000"/>
              <a:gd name="connsiteY4" fmla="*/ 5650230 h 5650230"/>
              <a:gd name="connsiteX5" fmla="*/ 0 w 8382000"/>
              <a:gd name="connsiteY5" fmla="*/ 5434934 h 5650230"/>
              <a:gd name="connsiteX6" fmla="*/ 0 w 8382000"/>
              <a:gd name="connsiteY6" fmla="*/ 0 h 5650230"/>
              <a:gd name="connsiteX0" fmla="*/ 0 w 8382000"/>
              <a:gd name="connsiteY0" fmla="*/ 0 h 5434934"/>
              <a:gd name="connsiteX1" fmla="*/ 8382000 w 8382000"/>
              <a:gd name="connsiteY1" fmla="*/ 0 h 5434934"/>
              <a:gd name="connsiteX2" fmla="*/ 8382000 w 8382000"/>
              <a:gd name="connsiteY2" fmla="*/ 4579620 h 5434934"/>
              <a:gd name="connsiteX3" fmla="*/ 6203950 w 8382000"/>
              <a:gd name="connsiteY3" fmla="*/ 5098384 h 5434934"/>
              <a:gd name="connsiteX4" fmla="*/ 6219190 w 8382000"/>
              <a:gd name="connsiteY4" fmla="*/ 5307330 h 5434934"/>
              <a:gd name="connsiteX5" fmla="*/ 0 w 8382000"/>
              <a:gd name="connsiteY5" fmla="*/ 5434934 h 5434934"/>
              <a:gd name="connsiteX6" fmla="*/ 0 w 8382000"/>
              <a:gd name="connsiteY6" fmla="*/ 0 h 5434934"/>
              <a:gd name="connsiteX0" fmla="*/ 0 w 8382000"/>
              <a:gd name="connsiteY0" fmla="*/ 0 h 5307934"/>
              <a:gd name="connsiteX1" fmla="*/ 8382000 w 8382000"/>
              <a:gd name="connsiteY1" fmla="*/ 0 h 5307934"/>
              <a:gd name="connsiteX2" fmla="*/ 8382000 w 8382000"/>
              <a:gd name="connsiteY2" fmla="*/ 4579620 h 5307934"/>
              <a:gd name="connsiteX3" fmla="*/ 6203950 w 8382000"/>
              <a:gd name="connsiteY3" fmla="*/ 5098384 h 5307934"/>
              <a:gd name="connsiteX4" fmla="*/ 6219190 w 8382000"/>
              <a:gd name="connsiteY4" fmla="*/ 5307330 h 5307934"/>
              <a:gd name="connsiteX5" fmla="*/ 6350 w 8382000"/>
              <a:gd name="connsiteY5" fmla="*/ 5307934 h 5307934"/>
              <a:gd name="connsiteX6" fmla="*/ 0 w 8382000"/>
              <a:gd name="connsiteY6" fmla="*/ 0 h 5307934"/>
              <a:gd name="connsiteX0" fmla="*/ 0 w 8382000"/>
              <a:gd name="connsiteY0" fmla="*/ 0 h 5307934"/>
              <a:gd name="connsiteX1" fmla="*/ 8382000 w 8382000"/>
              <a:gd name="connsiteY1" fmla="*/ 0 h 5307934"/>
              <a:gd name="connsiteX2" fmla="*/ 8382000 w 8382000"/>
              <a:gd name="connsiteY2" fmla="*/ 4579620 h 5307934"/>
              <a:gd name="connsiteX3" fmla="*/ 6203950 w 8382000"/>
              <a:gd name="connsiteY3" fmla="*/ 5098384 h 5307934"/>
              <a:gd name="connsiteX4" fmla="*/ 6193790 w 8382000"/>
              <a:gd name="connsiteY4" fmla="*/ 5307330 h 5307934"/>
              <a:gd name="connsiteX5" fmla="*/ 6350 w 8382000"/>
              <a:gd name="connsiteY5" fmla="*/ 5307934 h 5307934"/>
              <a:gd name="connsiteX6" fmla="*/ 0 w 8382000"/>
              <a:gd name="connsiteY6" fmla="*/ 0 h 5307934"/>
              <a:gd name="connsiteX0" fmla="*/ 0 w 8382000"/>
              <a:gd name="connsiteY0" fmla="*/ 0 h 5313680"/>
              <a:gd name="connsiteX1" fmla="*/ 8382000 w 8382000"/>
              <a:gd name="connsiteY1" fmla="*/ 0 h 5313680"/>
              <a:gd name="connsiteX2" fmla="*/ 8382000 w 8382000"/>
              <a:gd name="connsiteY2" fmla="*/ 4579620 h 5313680"/>
              <a:gd name="connsiteX3" fmla="*/ 6203950 w 8382000"/>
              <a:gd name="connsiteY3" fmla="*/ 5098384 h 5313680"/>
              <a:gd name="connsiteX4" fmla="*/ 7171690 w 8382000"/>
              <a:gd name="connsiteY4" fmla="*/ 5313680 h 5313680"/>
              <a:gd name="connsiteX5" fmla="*/ 6350 w 8382000"/>
              <a:gd name="connsiteY5" fmla="*/ 5307934 h 5313680"/>
              <a:gd name="connsiteX6" fmla="*/ 0 w 8382000"/>
              <a:gd name="connsiteY6" fmla="*/ 0 h 5313680"/>
              <a:gd name="connsiteX0" fmla="*/ 0 w 8382000"/>
              <a:gd name="connsiteY0" fmla="*/ 0 h 5313680"/>
              <a:gd name="connsiteX1" fmla="*/ 8382000 w 8382000"/>
              <a:gd name="connsiteY1" fmla="*/ 0 h 5313680"/>
              <a:gd name="connsiteX2" fmla="*/ 8382000 w 8382000"/>
              <a:gd name="connsiteY2" fmla="*/ 4579620 h 5313680"/>
              <a:gd name="connsiteX3" fmla="*/ 6203950 w 8382000"/>
              <a:gd name="connsiteY3" fmla="*/ 5098384 h 5313680"/>
              <a:gd name="connsiteX4" fmla="*/ 7171690 w 8382000"/>
              <a:gd name="connsiteY4" fmla="*/ 5313680 h 5313680"/>
              <a:gd name="connsiteX5" fmla="*/ 6350 w 8382000"/>
              <a:gd name="connsiteY5" fmla="*/ 5307934 h 5313680"/>
              <a:gd name="connsiteX6" fmla="*/ 0 w 8382000"/>
              <a:gd name="connsiteY6" fmla="*/ 0 h 5313680"/>
              <a:gd name="connsiteX0" fmla="*/ 0 w 8382000"/>
              <a:gd name="connsiteY0" fmla="*/ 0 h 5313680"/>
              <a:gd name="connsiteX1" fmla="*/ 8382000 w 8382000"/>
              <a:gd name="connsiteY1" fmla="*/ 0 h 5313680"/>
              <a:gd name="connsiteX2" fmla="*/ 8382000 w 8382000"/>
              <a:gd name="connsiteY2" fmla="*/ 4579620 h 5313680"/>
              <a:gd name="connsiteX3" fmla="*/ 6889750 w 8382000"/>
              <a:gd name="connsiteY3" fmla="*/ 4653884 h 5313680"/>
              <a:gd name="connsiteX4" fmla="*/ 7171690 w 8382000"/>
              <a:gd name="connsiteY4" fmla="*/ 5313680 h 5313680"/>
              <a:gd name="connsiteX5" fmla="*/ 6350 w 8382000"/>
              <a:gd name="connsiteY5" fmla="*/ 5307934 h 5313680"/>
              <a:gd name="connsiteX6" fmla="*/ 0 w 8382000"/>
              <a:gd name="connsiteY6" fmla="*/ 0 h 5313680"/>
              <a:gd name="connsiteX0" fmla="*/ 0 w 8382000"/>
              <a:gd name="connsiteY0" fmla="*/ 0 h 5313680"/>
              <a:gd name="connsiteX1" fmla="*/ 8382000 w 8382000"/>
              <a:gd name="connsiteY1" fmla="*/ 0 h 5313680"/>
              <a:gd name="connsiteX2" fmla="*/ 8382000 w 8382000"/>
              <a:gd name="connsiteY2" fmla="*/ 4579620 h 5313680"/>
              <a:gd name="connsiteX3" fmla="*/ 6889750 w 8382000"/>
              <a:gd name="connsiteY3" fmla="*/ 4653884 h 5313680"/>
              <a:gd name="connsiteX4" fmla="*/ 7171690 w 8382000"/>
              <a:gd name="connsiteY4" fmla="*/ 5313680 h 5313680"/>
              <a:gd name="connsiteX5" fmla="*/ 6350 w 8382000"/>
              <a:gd name="connsiteY5" fmla="*/ 5307934 h 5313680"/>
              <a:gd name="connsiteX6" fmla="*/ 0 w 8382000"/>
              <a:gd name="connsiteY6" fmla="*/ 0 h 5313680"/>
              <a:gd name="connsiteX0" fmla="*/ 0 w 8382000"/>
              <a:gd name="connsiteY0" fmla="*/ 0 h 5313680"/>
              <a:gd name="connsiteX1" fmla="*/ 8382000 w 8382000"/>
              <a:gd name="connsiteY1" fmla="*/ 0 h 5313680"/>
              <a:gd name="connsiteX2" fmla="*/ 8382000 w 8382000"/>
              <a:gd name="connsiteY2" fmla="*/ 4579620 h 5313680"/>
              <a:gd name="connsiteX3" fmla="*/ 6889750 w 8382000"/>
              <a:gd name="connsiteY3" fmla="*/ 4653884 h 5313680"/>
              <a:gd name="connsiteX4" fmla="*/ 7171690 w 8382000"/>
              <a:gd name="connsiteY4" fmla="*/ 5313680 h 5313680"/>
              <a:gd name="connsiteX5" fmla="*/ 6350 w 8382000"/>
              <a:gd name="connsiteY5" fmla="*/ 5307934 h 5313680"/>
              <a:gd name="connsiteX6" fmla="*/ 0 w 8382000"/>
              <a:gd name="connsiteY6" fmla="*/ 0 h 5313680"/>
              <a:gd name="connsiteX0" fmla="*/ 0 w 8382000"/>
              <a:gd name="connsiteY0" fmla="*/ 0 h 5313680"/>
              <a:gd name="connsiteX1" fmla="*/ 8382000 w 8382000"/>
              <a:gd name="connsiteY1" fmla="*/ 0 h 5313680"/>
              <a:gd name="connsiteX2" fmla="*/ 8382000 w 8382000"/>
              <a:gd name="connsiteY2" fmla="*/ 4579620 h 5313680"/>
              <a:gd name="connsiteX3" fmla="*/ 7239000 w 8382000"/>
              <a:gd name="connsiteY3" fmla="*/ 4685634 h 5313680"/>
              <a:gd name="connsiteX4" fmla="*/ 7171690 w 8382000"/>
              <a:gd name="connsiteY4" fmla="*/ 5313680 h 5313680"/>
              <a:gd name="connsiteX5" fmla="*/ 6350 w 8382000"/>
              <a:gd name="connsiteY5" fmla="*/ 5307934 h 5313680"/>
              <a:gd name="connsiteX6" fmla="*/ 0 w 8382000"/>
              <a:gd name="connsiteY6" fmla="*/ 0 h 5313680"/>
              <a:gd name="connsiteX0" fmla="*/ 0 w 8382000"/>
              <a:gd name="connsiteY0" fmla="*/ 0 h 5313680"/>
              <a:gd name="connsiteX1" fmla="*/ 8382000 w 8382000"/>
              <a:gd name="connsiteY1" fmla="*/ 0 h 5313680"/>
              <a:gd name="connsiteX2" fmla="*/ 8382000 w 8382000"/>
              <a:gd name="connsiteY2" fmla="*/ 4579620 h 5313680"/>
              <a:gd name="connsiteX3" fmla="*/ 7239000 w 8382000"/>
              <a:gd name="connsiteY3" fmla="*/ 4685634 h 5313680"/>
              <a:gd name="connsiteX4" fmla="*/ 7171690 w 8382000"/>
              <a:gd name="connsiteY4" fmla="*/ 5313680 h 5313680"/>
              <a:gd name="connsiteX5" fmla="*/ 6350 w 8382000"/>
              <a:gd name="connsiteY5" fmla="*/ 5307934 h 5313680"/>
              <a:gd name="connsiteX6" fmla="*/ 0 w 8382000"/>
              <a:gd name="connsiteY6" fmla="*/ 0 h 5313680"/>
              <a:gd name="connsiteX0" fmla="*/ 0 w 8382000"/>
              <a:gd name="connsiteY0" fmla="*/ 0 h 5313680"/>
              <a:gd name="connsiteX1" fmla="*/ 8382000 w 8382000"/>
              <a:gd name="connsiteY1" fmla="*/ 0 h 5313680"/>
              <a:gd name="connsiteX2" fmla="*/ 8382000 w 8382000"/>
              <a:gd name="connsiteY2" fmla="*/ 4579620 h 5313680"/>
              <a:gd name="connsiteX3" fmla="*/ 6864350 w 8382000"/>
              <a:gd name="connsiteY3" fmla="*/ 4577684 h 5313680"/>
              <a:gd name="connsiteX4" fmla="*/ 7171690 w 8382000"/>
              <a:gd name="connsiteY4" fmla="*/ 5313680 h 5313680"/>
              <a:gd name="connsiteX5" fmla="*/ 6350 w 8382000"/>
              <a:gd name="connsiteY5" fmla="*/ 5307934 h 5313680"/>
              <a:gd name="connsiteX6" fmla="*/ 0 w 8382000"/>
              <a:gd name="connsiteY6" fmla="*/ 0 h 5313680"/>
              <a:gd name="connsiteX0" fmla="*/ 0 w 8382000"/>
              <a:gd name="connsiteY0" fmla="*/ 0 h 5313680"/>
              <a:gd name="connsiteX1" fmla="*/ 8382000 w 8382000"/>
              <a:gd name="connsiteY1" fmla="*/ 0 h 5313680"/>
              <a:gd name="connsiteX2" fmla="*/ 8382000 w 8382000"/>
              <a:gd name="connsiteY2" fmla="*/ 4579620 h 5313680"/>
              <a:gd name="connsiteX3" fmla="*/ 6864350 w 8382000"/>
              <a:gd name="connsiteY3" fmla="*/ 4577684 h 5313680"/>
              <a:gd name="connsiteX4" fmla="*/ 7171690 w 8382000"/>
              <a:gd name="connsiteY4" fmla="*/ 5313680 h 5313680"/>
              <a:gd name="connsiteX5" fmla="*/ 6350 w 8382000"/>
              <a:gd name="connsiteY5" fmla="*/ 5307934 h 5313680"/>
              <a:gd name="connsiteX6" fmla="*/ 0 w 8382000"/>
              <a:gd name="connsiteY6" fmla="*/ 0 h 5313680"/>
              <a:gd name="connsiteX0" fmla="*/ 0 w 8382000"/>
              <a:gd name="connsiteY0" fmla="*/ 0 h 5313680"/>
              <a:gd name="connsiteX1" fmla="*/ 8382000 w 8382000"/>
              <a:gd name="connsiteY1" fmla="*/ 0 h 5313680"/>
              <a:gd name="connsiteX2" fmla="*/ 8382000 w 8382000"/>
              <a:gd name="connsiteY2" fmla="*/ 4579620 h 5313680"/>
              <a:gd name="connsiteX3" fmla="*/ 7143750 w 8382000"/>
              <a:gd name="connsiteY3" fmla="*/ 4584034 h 5313680"/>
              <a:gd name="connsiteX4" fmla="*/ 7171690 w 8382000"/>
              <a:gd name="connsiteY4" fmla="*/ 5313680 h 5313680"/>
              <a:gd name="connsiteX5" fmla="*/ 6350 w 8382000"/>
              <a:gd name="connsiteY5" fmla="*/ 5307934 h 5313680"/>
              <a:gd name="connsiteX6" fmla="*/ 0 w 8382000"/>
              <a:gd name="connsiteY6" fmla="*/ 0 h 5313680"/>
              <a:gd name="connsiteX0" fmla="*/ 0 w 8382000"/>
              <a:gd name="connsiteY0" fmla="*/ 0 h 5313680"/>
              <a:gd name="connsiteX1" fmla="*/ 8382000 w 8382000"/>
              <a:gd name="connsiteY1" fmla="*/ 0 h 5313680"/>
              <a:gd name="connsiteX2" fmla="*/ 8382000 w 8382000"/>
              <a:gd name="connsiteY2" fmla="*/ 4579620 h 5313680"/>
              <a:gd name="connsiteX3" fmla="*/ 7143750 w 8382000"/>
              <a:gd name="connsiteY3" fmla="*/ 4584034 h 5313680"/>
              <a:gd name="connsiteX4" fmla="*/ 7171690 w 8382000"/>
              <a:gd name="connsiteY4" fmla="*/ 5313680 h 5313680"/>
              <a:gd name="connsiteX5" fmla="*/ 6350 w 8382000"/>
              <a:gd name="connsiteY5" fmla="*/ 5307934 h 5313680"/>
              <a:gd name="connsiteX6" fmla="*/ 0 w 8382000"/>
              <a:gd name="connsiteY6" fmla="*/ 0 h 5313680"/>
              <a:gd name="connsiteX0" fmla="*/ 0 w 8382000"/>
              <a:gd name="connsiteY0" fmla="*/ 0 h 5313680"/>
              <a:gd name="connsiteX1" fmla="*/ 8382000 w 8382000"/>
              <a:gd name="connsiteY1" fmla="*/ 0 h 5313680"/>
              <a:gd name="connsiteX2" fmla="*/ 8382000 w 8382000"/>
              <a:gd name="connsiteY2" fmla="*/ 4579620 h 5313680"/>
              <a:gd name="connsiteX3" fmla="*/ 7188200 w 8382000"/>
              <a:gd name="connsiteY3" fmla="*/ 4590384 h 5313680"/>
              <a:gd name="connsiteX4" fmla="*/ 7171690 w 8382000"/>
              <a:gd name="connsiteY4" fmla="*/ 5313680 h 5313680"/>
              <a:gd name="connsiteX5" fmla="*/ 6350 w 8382000"/>
              <a:gd name="connsiteY5" fmla="*/ 5307934 h 5313680"/>
              <a:gd name="connsiteX6" fmla="*/ 0 w 8382000"/>
              <a:gd name="connsiteY6" fmla="*/ 0 h 5313680"/>
              <a:gd name="connsiteX0" fmla="*/ 0 w 8382000"/>
              <a:gd name="connsiteY0" fmla="*/ 0 h 5313680"/>
              <a:gd name="connsiteX1" fmla="*/ 8382000 w 8382000"/>
              <a:gd name="connsiteY1" fmla="*/ 0 h 5313680"/>
              <a:gd name="connsiteX2" fmla="*/ 8382000 w 8382000"/>
              <a:gd name="connsiteY2" fmla="*/ 4579620 h 5313680"/>
              <a:gd name="connsiteX3" fmla="*/ 7188200 w 8382000"/>
              <a:gd name="connsiteY3" fmla="*/ 4590384 h 5313680"/>
              <a:gd name="connsiteX4" fmla="*/ 7171690 w 8382000"/>
              <a:gd name="connsiteY4" fmla="*/ 5313680 h 5313680"/>
              <a:gd name="connsiteX5" fmla="*/ 6350 w 8382000"/>
              <a:gd name="connsiteY5" fmla="*/ 5307934 h 5313680"/>
              <a:gd name="connsiteX6" fmla="*/ 0 w 8382000"/>
              <a:gd name="connsiteY6" fmla="*/ 0 h 5313680"/>
              <a:gd name="connsiteX0" fmla="*/ 0 w 8382000"/>
              <a:gd name="connsiteY0" fmla="*/ 0 h 5313680"/>
              <a:gd name="connsiteX1" fmla="*/ 8382000 w 8382000"/>
              <a:gd name="connsiteY1" fmla="*/ 0 h 5313680"/>
              <a:gd name="connsiteX2" fmla="*/ 8382000 w 8382000"/>
              <a:gd name="connsiteY2" fmla="*/ 4579620 h 5313680"/>
              <a:gd name="connsiteX3" fmla="*/ 7188200 w 8382000"/>
              <a:gd name="connsiteY3" fmla="*/ 4577684 h 5313680"/>
              <a:gd name="connsiteX4" fmla="*/ 7171690 w 8382000"/>
              <a:gd name="connsiteY4" fmla="*/ 5313680 h 5313680"/>
              <a:gd name="connsiteX5" fmla="*/ 6350 w 8382000"/>
              <a:gd name="connsiteY5" fmla="*/ 5307934 h 5313680"/>
              <a:gd name="connsiteX6" fmla="*/ 0 w 8382000"/>
              <a:gd name="connsiteY6" fmla="*/ 0 h 5313680"/>
              <a:gd name="connsiteX0" fmla="*/ 0 w 8382000"/>
              <a:gd name="connsiteY0" fmla="*/ 0 h 5313680"/>
              <a:gd name="connsiteX1" fmla="*/ 8382000 w 8382000"/>
              <a:gd name="connsiteY1" fmla="*/ 0 h 5313680"/>
              <a:gd name="connsiteX2" fmla="*/ 8382000 w 8382000"/>
              <a:gd name="connsiteY2" fmla="*/ 4579620 h 5313680"/>
              <a:gd name="connsiteX3" fmla="*/ 7188200 w 8382000"/>
              <a:gd name="connsiteY3" fmla="*/ 4577684 h 5313680"/>
              <a:gd name="connsiteX4" fmla="*/ 7171690 w 8382000"/>
              <a:gd name="connsiteY4" fmla="*/ 5313680 h 5313680"/>
              <a:gd name="connsiteX5" fmla="*/ 6350 w 8382000"/>
              <a:gd name="connsiteY5" fmla="*/ 5307934 h 5313680"/>
              <a:gd name="connsiteX6" fmla="*/ 0 w 8382000"/>
              <a:gd name="connsiteY6" fmla="*/ 0 h 5313680"/>
              <a:gd name="connsiteX0" fmla="*/ 0 w 8382000"/>
              <a:gd name="connsiteY0" fmla="*/ 0 h 5313680"/>
              <a:gd name="connsiteX1" fmla="*/ 8382000 w 8382000"/>
              <a:gd name="connsiteY1" fmla="*/ 0 h 5313680"/>
              <a:gd name="connsiteX2" fmla="*/ 8382000 w 8382000"/>
              <a:gd name="connsiteY2" fmla="*/ 4579620 h 5313680"/>
              <a:gd name="connsiteX3" fmla="*/ 7188200 w 8382000"/>
              <a:gd name="connsiteY3" fmla="*/ 4577684 h 5313680"/>
              <a:gd name="connsiteX4" fmla="*/ 7171690 w 8382000"/>
              <a:gd name="connsiteY4" fmla="*/ 5313680 h 5313680"/>
              <a:gd name="connsiteX5" fmla="*/ 6350 w 8382000"/>
              <a:gd name="connsiteY5" fmla="*/ 5307934 h 5313680"/>
              <a:gd name="connsiteX6" fmla="*/ 0 w 8382000"/>
              <a:gd name="connsiteY6" fmla="*/ 0 h 5313680"/>
              <a:gd name="connsiteX0" fmla="*/ 0 w 8382000"/>
              <a:gd name="connsiteY0" fmla="*/ 0 h 5313680"/>
              <a:gd name="connsiteX1" fmla="*/ 8382000 w 8382000"/>
              <a:gd name="connsiteY1" fmla="*/ 0 h 5313680"/>
              <a:gd name="connsiteX2" fmla="*/ 8382000 w 8382000"/>
              <a:gd name="connsiteY2" fmla="*/ 4579620 h 5313680"/>
              <a:gd name="connsiteX3" fmla="*/ 7156450 w 8382000"/>
              <a:gd name="connsiteY3" fmla="*/ 4577684 h 5313680"/>
              <a:gd name="connsiteX4" fmla="*/ 7171690 w 8382000"/>
              <a:gd name="connsiteY4" fmla="*/ 5313680 h 5313680"/>
              <a:gd name="connsiteX5" fmla="*/ 6350 w 8382000"/>
              <a:gd name="connsiteY5" fmla="*/ 5307934 h 5313680"/>
              <a:gd name="connsiteX6" fmla="*/ 0 w 8382000"/>
              <a:gd name="connsiteY6" fmla="*/ 0 h 5313680"/>
              <a:gd name="connsiteX0" fmla="*/ 0 w 8382000"/>
              <a:gd name="connsiteY0" fmla="*/ 0 h 5313680"/>
              <a:gd name="connsiteX1" fmla="*/ 8382000 w 8382000"/>
              <a:gd name="connsiteY1" fmla="*/ 0 h 5313680"/>
              <a:gd name="connsiteX2" fmla="*/ 8382000 w 8382000"/>
              <a:gd name="connsiteY2" fmla="*/ 4579620 h 5313680"/>
              <a:gd name="connsiteX3" fmla="*/ 7156450 w 8382000"/>
              <a:gd name="connsiteY3" fmla="*/ 4577684 h 5313680"/>
              <a:gd name="connsiteX4" fmla="*/ 7171690 w 8382000"/>
              <a:gd name="connsiteY4" fmla="*/ 5313680 h 5313680"/>
              <a:gd name="connsiteX5" fmla="*/ 6350 w 8382000"/>
              <a:gd name="connsiteY5" fmla="*/ 5307934 h 5313680"/>
              <a:gd name="connsiteX6" fmla="*/ 0 w 8382000"/>
              <a:gd name="connsiteY6" fmla="*/ 0 h 5313680"/>
              <a:gd name="connsiteX0" fmla="*/ 0 w 8382000"/>
              <a:gd name="connsiteY0" fmla="*/ 0 h 5313680"/>
              <a:gd name="connsiteX1" fmla="*/ 8382000 w 8382000"/>
              <a:gd name="connsiteY1" fmla="*/ 0 h 5313680"/>
              <a:gd name="connsiteX2" fmla="*/ 8382000 w 8382000"/>
              <a:gd name="connsiteY2" fmla="*/ 4579620 h 5313680"/>
              <a:gd name="connsiteX3" fmla="*/ 7169150 w 8382000"/>
              <a:gd name="connsiteY3" fmla="*/ 4577684 h 5313680"/>
              <a:gd name="connsiteX4" fmla="*/ 7171690 w 8382000"/>
              <a:gd name="connsiteY4" fmla="*/ 5313680 h 5313680"/>
              <a:gd name="connsiteX5" fmla="*/ 6350 w 8382000"/>
              <a:gd name="connsiteY5" fmla="*/ 5307934 h 5313680"/>
              <a:gd name="connsiteX6" fmla="*/ 0 w 8382000"/>
              <a:gd name="connsiteY6" fmla="*/ 0 h 5313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82000" h="5313680">
                <a:moveTo>
                  <a:pt x="0" y="0"/>
                </a:moveTo>
                <a:lnTo>
                  <a:pt x="8382000" y="0"/>
                </a:lnTo>
                <a:lnTo>
                  <a:pt x="8382000" y="4579620"/>
                </a:lnTo>
                <a:lnTo>
                  <a:pt x="7169150" y="4577684"/>
                </a:lnTo>
                <a:cubicBezTo>
                  <a:pt x="7180580" y="4966949"/>
                  <a:pt x="7172960" y="4987915"/>
                  <a:pt x="7171690" y="5313680"/>
                </a:cubicBezTo>
                <a:lnTo>
                  <a:pt x="6350" y="5307934"/>
                </a:lnTo>
                <a:cubicBezTo>
                  <a:pt x="4233" y="3538623"/>
                  <a:pt x="2117" y="1769311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733" y="206554"/>
            <a:ext cx="8229600" cy="586930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4000" dirty="0" err="1">
                <a:solidFill>
                  <a:prstClr val="black"/>
                </a:solidFill>
                <a:latin typeface="Calibri" panose="020F0502020204030204"/>
              </a:rPr>
              <a:t>ResSim</a:t>
            </a:r>
            <a:r>
              <a:rPr lang="en-US" sz="4000" dirty="0">
                <a:solidFill>
                  <a:prstClr val="black"/>
                </a:solidFill>
                <a:latin typeface="Calibri" panose="020F0502020204030204"/>
              </a:rPr>
              <a:t>: ESP Network Setup</a:t>
            </a:r>
          </a:p>
        </p:txBody>
      </p:sp>
      <p:sp>
        <p:nvSpPr>
          <p:cNvPr id="7" name="Freeform 6"/>
          <p:cNvSpPr/>
          <p:nvPr/>
        </p:nvSpPr>
        <p:spPr>
          <a:xfrm>
            <a:off x="838200" y="1676400"/>
            <a:ext cx="7497445" cy="1272092"/>
          </a:xfrm>
          <a:custGeom>
            <a:avLst/>
            <a:gdLst>
              <a:gd name="connsiteX0" fmla="*/ 0 w 9615766"/>
              <a:gd name="connsiteY0" fmla="*/ 794145 h 1696122"/>
              <a:gd name="connsiteX1" fmla="*/ 2496065 w 9615766"/>
              <a:gd name="connsiteY1" fmla="*/ 28026 h 1696122"/>
              <a:gd name="connsiteX2" fmla="*/ 6096000 w 9615766"/>
              <a:gd name="connsiteY2" fmla="*/ 1675594 h 1696122"/>
              <a:gd name="connsiteX3" fmla="*/ 9127524 w 9615766"/>
              <a:gd name="connsiteY3" fmla="*/ 942426 h 1696122"/>
              <a:gd name="connsiteX4" fmla="*/ 9572368 w 9615766"/>
              <a:gd name="connsiteY4" fmla="*/ 810621 h 1696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15766" h="1696122">
                <a:moveTo>
                  <a:pt x="0" y="794145"/>
                </a:moveTo>
                <a:cubicBezTo>
                  <a:pt x="740032" y="337631"/>
                  <a:pt x="1480065" y="-118882"/>
                  <a:pt x="2496065" y="28026"/>
                </a:cubicBezTo>
                <a:cubicBezTo>
                  <a:pt x="3512065" y="174934"/>
                  <a:pt x="4990757" y="1523194"/>
                  <a:pt x="6096000" y="1675594"/>
                </a:cubicBezTo>
                <a:cubicBezTo>
                  <a:pt x="7201243" y="1827994"/>
                  <a:pt x="8548129" y="1086588"/>
                  <a:pt x="9127524" y="942426"/>
                </a:cubicBezTo>
                <a:cubicBezTo>
                  <a:pt x="9706919" y="798264"/>
                  <a:pt x="9639643" y="804442"/>
                  <a:pt x="9572368" y="810621"/>
                </a:cubicBezTo>
              </a:path>
            </a:pathLst>
          </a:cu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5169150" y="2948491"/>
            <a:ext cx="334098" cy="3185004"/>
          </a:xfrm>
          <a:custGeom>
            <a:avLst/>
            <a:gdLst>
              <a:gd name="connsiteX0" fmla="*/ 543823 w 588646"/>
              <a:gd name="connsiteY0" fmla="*/ 0 h 3855308"/>
              <a:gd name="connsiteX1" fmla="*/ 125 w 588646"/>
              <a:gd name="connsiteY1" fmla="*/ 881448 h 3855308"/>
              <a:gd name="connsiteX2" fmla="*/ 585012 w 588646"/>
              <a:gd name="connsiteY2" fmla="*/ 2125362 h 3855308"/>
              <a:gd name="connsiteX3" fmla="*/ 247260 w 588646"/>
              <a:gd name="connsiteY3" fmla="*/ 3855308 h 3855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8646" h="3855308">
                <a:moveTo>
                  <a:pt x="543823" y="0"/>
                </a:moveTo>
                <a:cubicBezTo>
                  <a:pt x="268541" y="263610"/>
                  <a:pt x="-6740" y="527221"/>
                  <a:pt x="125" y="881448"/>
                </a:cubicBezTo>
                <a:cubicBezTo>
                  <a:pt x="6990" y="1235675"/>
                  <a:pt x="543823" y="1629719"/>
                  <a:pt x="585012" y="2125362"/>
                </a:cubicBezTo>
                <a:cubicBezTo>
                  <a:pt x="626201" y="2621005"/>
                  <a:pt x="304925" y="3568357"/>
                  <a:pt x="247260" y="3855308"/>
                </a:cubicBezTo>
              </a:path>
            </a:pathLst>
          </a:custGeom>
          <a:solidFill>
            <a:schemeClr val="bg1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9" name="Group 8"/>
          <p:cNvGrpSpPr/>
          <p:nvPr/>
        </p:nvGrpSpPr>
        <p:grpSpPr>
          <a:xfrm rot="484849">
            <a:off x="5102495" y="5978486"/>
            <a:ext cx="472498" cy="56185"/>
            <a:chOff x="1932416" y="2981325"/>
            <a:chExt cx="605997" cy="74913"/>
          </a:xfrm>
          <a:solidFill>
            <a:schemeClr val="bg1"/>
          </a:solidFill>
        </p:grpSpPr>
        <p:cxnSp>
          <p:nvCxnSpPr>
            <p:cNvPr id="10" name="Straight Connector 9"/>
            <p:cNvCxnSpPr/>
            <p:nvPr/>
          </p:nvCxnSpPr>
          <p:spPr>
            <a:xfrm flipV="1">
              <a:off x="1932416" y="2982097"/>
              <a:ext cx="115330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2050256" y="2981325"/>
              <a:ext cx="354807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2405064" y="2982097"/>
              <a:ext cx="133349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/>
          <p:cNvGrpSpPr/>
          <p:nvPr/>
        </p:nvGrpSpPr>
        <p:grpSpPr>
          <a:xfrm rot="560028">
            <a:off x="5195777" y="5333280"/>
            <a:ext cx="472498" cy="56185"/>
            <a:chOff x="1932416" y="2981325"/>
            <a:chExt cx="605997" cy="74913"/>
          </a:xfrm>
          <a:solidFill>
            <a:schemeClr val="bg1"/>
          </a:solidFill>
        </p:grpSpPr>
        <p:cxnSp>
          <p:nvCxnSpPr>
            <p:cNvPr id="14" name="Straight Connector 13"/>
            <p:cNvCxnSpPr/>
            <p:nvPr/>
          </p:nvCxnSpPr>
          <p:spPr>
            <a:xfrm flipV="1">
              <a:off x="1932416" y="2982097"/>
              <a:ext cx="115330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2050256" y="2981325"/>
              <a:ext cx="354807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2405064" y="2982097"/>
              <a:ext cx="133349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 rot="322589">
            <a:off x="5263230" y="4890908"/>
            <a:ext cx="472498" cy="56185"/>
            <a:chOff x="1932416" y="2981325"/>
            <a:chExt cx="605997" cy="74913"/>
          </a:xfrm>
          <a:solidFill>
            <a:schemeClr val="bg1"/>
          </a:solidFill>
        </p:grpSpPr>
        <p:cxnSp>
          <p:nvCxnSpPr>
            <p:cNvPr id="18" name="Straight Connector 17"/>
            <p:cNvCxnSpPr/>
            <p:nvPr/>
          </p:nvCxnSpPr>
          <p:spPr>
            <a:xfrm flipV="1">
              <a:off x="1932416" y="2982097"/>
              <a:ext cx="115330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2050256" y="2981325"/>
              <a:ext cx="354807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2405064" y="2982097"/>
              <a:ext cx="133349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/>
          <p:cNvGrpSpPr/>
          <p:nvPr/>
        </p:nvGrpSpPr>
        <p:grpSpPr>
          <a:xfrm rot="18671544">
            <a:off x="4347795" y="2604991"/>
            <a:ext cx="454498" cy="58411"/>
            <a:chOff x="1932416" y="2981325"/>
            <a:chExt cx="605997" cy="74913"/>
          </a:xfrm>
          <a:solidFill>
            <a:schemeClr val="bg1"/>
          </a:solidFill>
        </p:grpSpPr>
        <p:cxnSp>
          <p:nvCxnSpPr>
            <p:cNvPr id="22" name="Straight Connector 21"/>
            <p:cNvCxnSpPr/>
            <p:nvPr/>
          </p:nvCxnSpPr>
          <p:spPr>
            <a:xfrm flipV="1">
              <a:off x="1932416" y="2982097"/>
              <a:ext cx="115330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2050256" y="2981325"/>
              <a:ext cx="354807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2405064" y="2982097"/>
              <a:ext cx="133349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/>
          <p:cNvGrpSpPr/>
          <p:nvPr/>
        </p:nvGrpSpPr>
        <p:grpSpPr>
          <a:xfrm rot="18493238">
            <a:off x="3562831" y="2147746"/>
            <a:ext cx="454498" cy="58410"/>
            <a:chOff x="1932416" y="2981325"/>
            <a:chExt cx="605997" cy="74913"/>
          </a:xfrm>
          <a:solidFill>
            <a:schemeClr val="bg1"/>
          </a:solidFill>
        </p:grpSpPr>
        <p:cxnSp>
          <p:nvCxnSpPr>
            <p:cNvPr id="26" name="Straight Connector 25"/>
            <p:cNvCxnSpPr/>
            <p:nvPr/>
          </p:nvCxnSpPr>
          <p:spPr>
            <a:xfrm flipV="1">
              <a:off x="1932416" y="2982097"/>
              <a:ext cx="115330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2050256" y="2981325"/>
              <a:ext cx="354807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2405064" y="2982097"/>
              <a:ext cx="133349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/>
          <p:cNvGrpSpPr/>
          <p:nvPr/>
        </p:nvGrpSpPr>
        <p:grpSpPr>
          <a:xfrm rot="16200000">
            <a:off x="2140641" y="1659551"/>
            <a:ext cx="454498" cy="58412"/>
            <a:chOff x="1932416" y="2981325"/>
            <a:chExt cx="605997" cy="74913"/>
          </a:xfrm>
          <a:solidFill>
            <a:schemeClr val="bg1"/>
          </a:solidFill>
        </p:grpSpPr>
        <p:cxnSp>
          <p:nvCxnSpPr>
            <p:cNvPr id="30" name="Straight Connector 29"/>
            <p:cNvCxnSpPr/>
            <p:nvPr/>
          </p:nvCxnSpPr>
          <p:spPr>
            <a:xfrm flipV="1">
              <a:off x="1932416" y="2982097"/>
              <a:ext cx="115330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2050256" y="2981325"/>
              <a:ext cx="354807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2405064" y="2982097"/>
              <a:ext cx="133349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/>
          <p:cNvGrpSpPr/>
          <p:nvPr/>
        </p:nvGrpSpPr>
        <p:grpSpPr>
          <a:xfrm rot="14423549">
            <a:off x="802579" y="2103582"/>
            <a:ext cx="454498" cy="58410"/>
            <a:chOff x="1932416" y="2981325"/>
            <a:chExt cx="605997" cy="74913"/>
          </a:xfrm>
          <a:solidFill>
            <a:schemeClr val="bg1"/>
          </a:solidFill>
        </p:grpSpPr>
        <p:cxnSp>
          <p:nvCxnSpPr>
            <p:cNvPr id="34" name="Straight Connector 33"/>
            <p:cNvCxnSpPr/>
            <p:nvPr/>
          </p:nvCxnSpPr>
          <p:spPr>
            <a:xfrm flipV="1">
              <a:off x="1932416" y="2982097"/>
              <a:ext cx="115330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2050256" y="2981325"/>
              <a:ext cx="354807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2405064" y="2982097"/>
              <a:ext cx="133349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Freeform 36"/>
          <p:cNvSpPr/>
          <p:nvPr/>
        </p:nvSpPr>
        <p:spPr>
          <a:xfrm>
            <a:off x="3235411" y="1301482"/>
            <a:ext cx="522013" cy="568933"/>
          </a:xfrm>
          <a:custGeom>
            <a:avLst/>
            <a:gdLst>
              <a:gd name="connsiteX0" fmla="*/ 0 w 669503"/>
              <a:gd name="connsiteY0" fmla="*/ 758577 h 758577"/>
              <a:gd name="connsiteX1" fmla="*/ 164757 w 669503"/>
              <a:gd name="connsiteY1" fmla="*/ 420825 h 758577"/>
              <a:gd name="connsiteX2" fmla="*/ 593124 w 669503"/>
              <a:gd name="connsiteY2" fmla="*/ 66598 h 758577"/>
              <a:gd name="connsiteX3" fmla="*/ 667265 w 669503"/>
              <a:gd name="connsiteY3" fmla="*/ 696 h 758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9503" h="758577">
                <a:moveTo>
                  <a:pt x="0" y="758577"/>
                </a:moveTo>
                <a:cubicBezTo>
                  <a:pt x="32951" y="647366"/>
                  <a:pt x="65903" y="536155"/>
                  <a:pt x="164757" y="420825"/>
                </a:cubicBezTo>
                <a:cubicBezTo>
                  <a:pt x="263611" y="305495"/>
                  <a:pt x="509373" y="136619"/>
                  <a:pt x="593124" y="66598"/>
                </a:cubicBezTo>
                <a:cubicBezTo>
                  <a:pt x="676875" y="-3423"/>
                  <a:pt x="672070" y="-1364"/>
                  <a:pt x="667265" y="696"/>
                </a:cubicBezTo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8" name="Freeform 37"/>
          <p:cNvSpPr/>
          <p:nvPr/>
        </p:nvSpPr>
        <p:spPr>
          <a:xfrm>
            <a:off x="4353697" y="3267380"/>
            <a:ext cx="931345" cy="147629"/>
          </a:xfrm>
          <a:custGeom>
            <a:avLst/>
            <a:gdLst>
              <a:gd name="connsiteX0" fmla="*/ 0 w 1194486"/>
              <a:gd name="connsiteY0" fmla="*/ 196838 h 196838"/>
              <a:gd name="connsiteX1" fmla="*/ 634313 w 1194486"/>
              <a:gd name="connsiteY1" fmla="*/ 7368 h 196838"/>
              <a:gd name="connsiteX2" fmla="*/ 1194486 w 1194486"/>
              <a:gd name="connsiteY2" fmla="*/ 56795 h 196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94486" h="196838">
                <a:moveTo>
                  <a:pt x="0" y="196838"/>
                </a:moveTo>
                <a:cubicBezTo>
                  <a:pt x="217616" y="113773"/>
                  <a:pt x="435232" y="30708"/>
                  <a:pt x="634313" y="7368"/>
                </a:cubicBezTo>
                <a:cubicBezTo>
                  <a:pt x="833394" y="-15972"/>
                  <a:pt x="1013940" y="20411"/>
                  <a:pt x="1194486" y="56795"/>
                </a:cubicBezTo>
              </a:path>
            </a:pathLst>
          </a:custGeom>
          <a:solidFill>
            <a:schemeClr val="bg1"/>
          </a:solidFill>
          <a:ln w="25400">
            <a:solidFill>
              <a:srgbClr val="00B0F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9" name="Freeform 38"/>
          <p:cNvSpPr/>
          <p:nvPr/>
        </p:nvSpPr>
        <p:spPr>
          <a:xfrm>
            <a:off x="6125068" y="2068123"/>
            <a:ext cx="213857" cy="766118"/>
          </a:xfrm>
          <a:custGeom>
            <a:avLst/>
            <a:gdLst>
              <a:gd name="connsiteX0" fmla="*/ 274280 w 274280"/>
              <a:gd name="connsiteY0" fmla="*/ 1021491 h 1021491"/>
              <a:gd name="connsiteX1" fmla="*/ 10669 w 274280"/>
              <a:gd name="connsiteY1" fmla="*/ 436605 h 1021491"/>
              <a:gd name="connsiteX2" fmla="*/ 76572 w 274280"/>
              <a:gd name="connsiteY2" fmla="*/ 0 h 1021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4280" h="1021491">
                <a:moveTo>
                  <a:pt x="274280" y="1021491"/>
                </a:moveTo>
                <a:cubicBezTo>
                  <a:pt x="158950" y="814172"/>
                  <a:pt x="43620" y="606853"/>
                  <a:pt x="10669" y="436605"/>
                </a:cubicBezTo>
                <a:cubicBezTo>
                  <a:pt x="-22282" y="266357"/>
                  <a:pt x="27145" y="133178"/>
                  <a:pt x="76572" y="0"/>
                </a:cubicBezTo>
              </a:path>
            </a:pathLst>
          </a:custGeom>
          <a:solidFill>
            <a:schemeClr val="bg1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0" name="Freeform 39"/>
          <p:cNvSpPr/>
          <p:nvPr/>
        </p:nvSpPr>
        <p:spPr>
          <a:xfrm>
            <a:off x="4452551" y="3828960"/>
            <a:ext cx="770769" cy="179174"/>
          </a:xfrm>
          <a:custGeom>
            <a:avLst/>
            <a:gdLst>
              <a:gd name="connsiteX0" fmla="*/ 0 w 988541"/>
              <a:gd name="connsiteY0" fmla="*/ 238898 h 238898"/>
              <a:gd name="connsiteX1" fmla="*/ 560173 w 988541"/>
              <a:gd name="connsiteY1" fmla="*/ 74141 h 238898"/>
              <a:gd name="connsiteX2" fmla="*/ 988541 w 988541"/>
              <a:gd name="connsiteY2" fmla="*/ 0 h 238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88541" h="238898">
                <a:moveTo>
                  <a:pt x="0" y="238898"/>
                </a:moveTo>
                <a:cubicBezTo>
                  <a:pt x="197708" y="176427"/>
                  <a:pt x="395416" y="113957"/>
                  <a:pt x="560173" y="74141"/>
                </a:cubicBezTo>
                <a:cubicBezTo>
                  <a:pt x="724930" y="34325"/>
                  <a:pt x="856735" y="17162"/>
                  <a:pt x="988541" y="0"/>
                </a:cubicBezTo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1" name="Freeform 40"/>
          <p:cNvSpPr/>
          <p:nvPr/>
        </p:nvSpPr>
        <p:spPr>
          <a:xfrm>
            <a:off x="5311347" y="3726310"/>
            <a:ext cx="976306" cy="535137"/>
          </a:xfrm>
          <a:custGeom>
            <a:avLst/>
            <a:gdLst>
              <a:gd name="connsiteX0" fmla="*/ 0 w 1252151"/>
              <a:gd name="connsiteY0" fmla="*/ 515808 h 713516"/>
              <a:gd name="connsiteX1" fmla="*/ 436605 w 1252151"/>
              <a:gd name="connsiteY1" fmla="*/ 474619 h 713516"/>
              <a:gd name="connsiteX2" fmla="*/ 617838 w 1252151"/>
              <a:gd name="connsiteY2" fmla="*/ 145105 h 713516"/>
              <a:gd name="connsiteX3" fmla="*/ 1013254 w 1252151"/>
              <a:gd name="connsiteY3" fmla="*/ 13300 h 713516"/>
              <a:gd name="connsiteX4" fmla="*/ 1095632 w 1252151"/>
              <a:gd name="connsiteY4" fmla="*/ 449905 h 713516"/>
              <a:gd name="connsiteX5" fmla="*/ 1252151 w 1252151"/>
              <a:gd name="connsiteY5" fmla="*/ 713516 h 713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52151" h="713516">
                <a:moveTo>
                  <a:pt x="0" y="515808"/>
                </a:moveTo>
                <a:cubicBezTo>
                  <a:pt x="166816" y="526105"/>
                  <a:pt x="333632" y="536403"/>
                  <a:pt x="436605" y="474619"/>
                </a:cubicBezTo>
                <a:cubicBezTo>
                  <a:pt x="539578" y="412835"/>
                  <a:pt x="521730" y="221991"/>
                  <a:pt x="617838" y="145105"/>
                </a:cubicBezTo>
                <a:cubicBezTo>
                  <a:pt x="713946" y="68218"/>
                  <a:pt x="933622" y="-37500"/>
                  <a:pt x="1013254" y="13300"/>
                </a:cubicBezTo>
                <a:cubicBezTo>
                  <a:pt x="1092886" y="64100"/>
                  <a:pt x="1055816" y="333202"/>
                  <a:pt x="1095632" y="449905"/>
                </a:cubicBezTo>
                <a:cubicBezTo>
                  <a:pt x="1135448" y="566608"/>
                  <a:pt x="1193799" y="640062"/>
                  <a:pt x="1252151" y="713516"/>
                </a:cubicBezTo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2" name="Freeform 41"/>
          <p:cNvSpPr/>
          <p:nvPr/>
        </p:nvSpPr>
        <p:spPr>
          <a:xfrm>
            <a:off x="4396945" y="4298517"/>
            <a:ext cx="1014845" cy="426308"/>
          </a:xfrm>
          <a:custGeom>
            <a:avLst/>
            <a:gdLst>
              <a:gd name="connsiteX0" fmla="*/ 1301578 w 1301578"/>
              <a:gd name="connsiteY0" fmla="*/ 0 h 568411"/>
              <a:gd name="connsiteX1" fmla="*/ 823783 w 1301578"/>
              <a:gd name="connsiteY1" fmla="*/ 362465 h 568411"/>
              <a:gd name="connsiteX2" fmla="*/ 0 w 1301578"/>
              <a:gd name="connsiteY2" fmla="*/ 568411 h 568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01578" h="568411">
                <a:moveTo>
                  <a:pt x="1301578" y="0"/>
                </a:moveTo>
                <a:cubicBezTo>
                  <a:pt x="1171145" y="133865"/>
                  <a:pt x="1040713" y="267730"/>
                  <a:pt x="823783" y="362465"/>
                </a:cubicBezTo>
                <a:cubicBezTo>
                  <a:pt x="606853" y="457200"/>
                  <a:pt x="303426" y="512805"/>
                  <a:pt x="0" y="568411"/>
                </a:cubicBezTo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3" name="Oval 42"/>
          <p:cNvSpPr/>
          <p:nvPr/>
        </p:nvSpPr>
        <p:spPr>
          <a:xfrm>
            <a:off x="6147605" y="4156441"/>
            <a:ext cx="83499" cy="8031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4" name="Oval 43"/>
          <p:cNvSpPr/>
          <p:nvPr/>
        </p:nvSpPr>
        <p:spPr>
          <a:xfrm>
            <a:off x="4596704" y="3911109"/>
            <a:ext cx="83499" cy="8031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5" name="Oval 44"/>
          <p:cNvSpPr/>
          <p:nvPr/>
        </p:nvSpPr>
        <p:spPr>
          <a:xfrm>
            <a:off x="4548954" y="4632150"/>
            <a:ext cx="83499" cy="8031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695396" y="819949"/>
            <a:ext cx="1210317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Palouse at Hooper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384513" y="2332962"/>
            <a:ext cx="82215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LGS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4424210" y="2063812"/>
            <a:ext cx="94458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prstClr val="black"/>
                </a:solidFill>
                <a:latin typeface="Calibri" panose="020F0502020204030204"/>
              </a:rPr>
              <a:t>LWG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187763" y="1918083"/>
            <a:ext cx="101865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Potlatch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0" name="Freeform 49"/>
          <p:cNvSpPr/>
          <p:nvPr/>
        </p:nvSpPr>
        <p:spPr>
          <a:xfrm>
            <a:off x="7665307" y="2389398"/>
            <a:ext cx="545961" cy="308919"/>
          </a:xfrm>
          <a:custGeom>
            <a:avLst/>
            <a:gdLst>
              <a:gd name="connsiteX0" fmla="*/ 0 w 700216"/>
              <a:gd name="connsiteY0" fmla="*/ 0 h 411892"/>
              <a:gd name="connsiteX1" fmla="*/ 411892 w 700216"/>
              <a:gd name="connsiteY1" fmla="*/ 271849 h 411892"/>
              <a:gd name="connsiteX2" fmla="*/ 700216 w 700216"/>
              <a:gd name="connsiteY2" fmla="*/ 411892 h 411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0216" h="411892">
                <a:moveTo>
                  <a:pt x="0" y="0"/>
                </a:moveTo>
                <a:cubicBezTo>
                  <a:pt x="147594" y="101600"/>
                  <a:pt x="295189" y="203200"/>
                  <a:pt x="411892" y="271849"/>
                </a:cubicBezTo>
                <a:cubicBezTo>
                  <a:pt x="528595" y="340498"/>
                  <a:pt x="614405" y="376195"/>
                  <a:pt x="700216" y="411892"/>
                </a:cubicBezTo>
              </a:path>
            </a:pathLst>
          </a:custGeom>
          <a:solidFill>
            <a:schemeClr val="bg1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785515" y="1612054"/>
            <a:ext cx="94458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DWR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508133" y="5880406"/>
            <a:ext cx="153862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Brownlee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719346" y="4766499"/>
            <a:ext cx="143305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Hells Canyon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5457714" y="4852621"/>
            <a:ext cx="83499" cy="8031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196646" y="3923694"/>
            <a:ext cx="1383655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Salmon at </a:t>
            </a:r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Whitebird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3748914" y="4675785"/>
            <a:ext cx="138365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Imnaha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726875" y="3008508"/>
            <a:ext cx="177199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Asotin </a:t>
            </a:r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Ck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003660" y="2760006"/>
            <a:ext cx="94458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Orofino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123598" y="5733728"/>
            <a:ext cx="3489598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Calibri" panose="020F0502020204030204"/>
              </a:rPr>
              <a:t>Non-RFC Forecast Location; inflows to be computed in relation to RFC Location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0" name="Oval 59"/>
          <p:cNvSpPr/>
          <p:nvPr/>
        </p:nvSpPr>
        <p:spPr>
          <a:xfrm>
            <a:off x="870932" y="5255155"/>
            <a:ext cx="83499" cy="8031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145026" y="5128903"/>
            <a:ext cx="257879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Calibri" panose="020F0502020204030204"/>
              </a:rPr>
              <a:t>RFC Forecast Location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5220783" y="3352416"/>
            <a:ext cx="138365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Anatone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63" name="Group 62"/>
          <p:cNvGrpSpPr/>
          <p:nvPr/>
        </p:nvGrpSpPr>
        <p:grpSpPr>
          <a:xfrm>
            <a:off x="5235004" y="6024252"/>
            <a:ext cx="147459" cy="141841"/>
            <a:chOff x="9313538" y="6135418"/>
            <a:chExt cx="189121" cy="189121"/>
          </a:xfrm>
        </p:grpSpPr>
        <p:sp>
          <p:nvSpPr>
            <p:cNvPr id="64" name="Oval 63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5" name="Oval 64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66" name="TextBox 65"/>
          <p:cNvSpPr txBox="1"/>
          <p:nvPr/>
        </p:nvSpPr>
        <p:spPr>
          <a:xfrm>
            <a:off x="1132095" y="5437296"/>
            <a:ext cx="1923692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Calibri" panose="020F0502020204030204"/>
              </a:rPr>
              <a:t>CCP Inflow Location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67" name="Group 66"/>
          <p:cNvGrpSpPr/>
          <p:nvPr/>
        </p:nvGrpSpPr>
        <p:grpSpPr>
          <a:xfrm>
            <a:off x="5086477" y="3490287"/>
            <a:ext cx="147459" cy="141841"/>
            <a:chOff x="9313538" y="6135418"/>
            <a:chExt cx="189121" cy="189121"/>
          </a:xfrm>
        </p:grpSpPr>
        <p:sp>
          <p:nvSpPr>
            <p:cNvPr id="68" name="Oval 67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9" name="Oval 68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847342" y="5554421"/>
            <a:ext cx="147459" cy="141841"/>
            <a:chOff x="9313538" y="6135418"/>
            <a:chExt cx="189121" cy="189121"/>
          </a:xfrm>
        </p:grpSpPr>
        <p:sp>
          <p:nvSpPr>
            <p:cNvPr id="71" name="Oval 70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2" name="Oval 71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8074907" y="2630273"/>
            <a:ext cx="147459" cy="141841"/>
            <a:chOff x="9313538" y="6135418"/>
            <a:chExt cx="189121" cy="189121"/>
          </a:xfrm>
        </p:grpSpPr>
        <p:sp>
          <p:nvSpPr>
            <p:cNvPr id="74" name="Oval 73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5" name="Oval 74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76" name="Group 75"/>
          <p:cNvGrpSpPr/>
          <p:nvPr/>
        </p:nvGrpSpPr>
        <p:grpSpPr>
          <a:xfrm>
            <a:off x="6072065" y="2296349"/>
            <a:ext cx="147459" cy="141841"/>
            <a:chOff x="9313538" y="6135418"/>
            <a:chExt cx="189121" cy="189121"/>
          </a:xfrm>
        </p:grpSpPr>
        <p:sp>
          <p:nvSpPr>
            <p:cNvPr id="77" name="Oval 76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8" name="Oval 77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79" name="Group 78"/>
          <p:cNvGrpSpPr/>
          <p:nvPr/>
        </p:nvGrpSpPr>
        <p:grpSpPr>
          <a:xfrm>
            <a:off x="4489728" y="2551922"/>
            <a:ext cx="147459" cy="141841"/>
            <a:chOff x="9313538" y="6135418"/>
            <a:chExt cx="189121" cy="189121"/>
          </a:xfrm>
        </p:grpSpPr>
        <p:sp>
          <p:nvSpPr>
            <p:cNvPr id="80" name="Oval 79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1" name="Oval 80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82" name="Group 81"/>
          <p:cNvGrpSpPr/>
          <p:nvPr/>
        </p:nvGrpSpPr>
        <p:grpSpPr>
          <a:xfrm>
            <a:off x="3703478" y="2099306"/>
            <a:ext cx="147459" cy="141841"/>
            <a:chOff x="9313538" y="6135418"/>
            <a:chExt cx="189121" cy="189121"/>
          </a:xfrm>
        </p:grpSpPr>
        <p:sp>
          <p:nvSpPr>
            <p:cNvPr id="83" name="Oval 82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4" name="Oval 83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85" name="Group 84"/>
          <p:cNvGrpSpPr/>
          <p:nvPr/>
        </p:nvGrpSpPr>
        <p:grpSpPr>
          <a:xfrm>
            <a:off x="3561637" y="1338197"/>
            <a:ext cx="147459" cy="141841"/>
            <a:chOff x="9313538" y="6135418"/>
            <a:chExt cx="189121" cy="189121"/>
          </a:xfrm>
        </p:grpSpPr>
        <p:sp>
          <p:nvSpPr>
            <p:cNvPr id="86" name="Oval 85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7" name="Oval 86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88" name="Group 87"/>
          <p:cNvGrpSpPr/>
          <p:nvPr/>
        </p:nvGrpSpPr>
        <p:grpSpPr>
          <a:xfrm>
            <a:off x="2267763" y="1609784"/>
            <a:ext cx="147459" cy="141841"/>
            <a:chOff x="9313538" y="6135418"/>
            <a:chExt cx="189121" cy="189121"/>
          </a:xfrm>
        </p:grpSpPr>
        <p:sp>
          <p:nvSpPr>
            <p:cNvPr id="89" name="Oval 88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0" name="Oval 89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91" name="Group 90"/>
          <p:cNvGrpSpPr/>
          <p:nvPr/>
        </p:nvGrpSpPr>
        <p:grpSpPr>
          <a:xfrm>
            <a:off x="960614" y="2102214"/>
            <a:ext cx="147459" cy="141841"/>
            <a:chOff x="9313538" y="6135418"/>
            <a:chExt cx="189121" cy="189121"/>
          </a:xfrm>
        </p:grpSpPr>
        <p:sp>
          <p:nvSpPr>
            <p:cNvPr id="92" name="Oval 91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3" name="Oval 92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cxnSp>
        <p:nvCxnSpPr>
          <p:cNvPr id="94" name="Straight Connector 93"/>
          <p:cNvCxnSpPr/>
          <p:nvPr/>
        </p:nvCxnSpPr>
        <p:spPr>
          <a:xfrm>
            <a:off x="619414" y="4640021"/>
            <a:ext cx="535221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/>
          <p:cNvCxnSpPr/>
          <p:nvPr/>
        </p:nvCxnSpPr>
        <p:spPr>
          <a:xfrm>
            <a:off x="625375" y="4964766"/>
            <a:ext cx="526798" cy="0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1119302" y="4453867"/>
            <a:ext cx="22412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600" dirty="0" err="1">
                <a:solidFill>
                  <a:prstClr val="black"/>
                </a:solidFill>
                <a:latin typeface="Calibri" panose="020F0502020204030204"/>
              </a:rPr>
              <a:t>ResSim</a:t>
            </a:r>
            <a:r>
              <a:rPr lang="en-US" sz="1600" dirty="0">
                <a:solidFill>
                  <a:prstClr val="black"/>
                </a:solidFill>
                <a:latin typeface="Calibri" panose="020F0502020204030204"/>
              </a:rPr>
              <a:t> Model Reach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9650" y="4792421"/>
            <a:ext cx="23395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Calibri" panose="020F0502020204030204"/>
              </a:rPr>
              <a:t>Reach Not Modeled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160510" y="2393416"/>
            <a:ext cx="101271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Spalding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9" name="Freeform 98"/>
          <p:cNvSpPr/>
          <p:nvPr/>
        </p:nvSpPr>
        <p:spPr>
          <a:xfrm rot="10541373">
            <a:off x="2900639" y="1965670"/>
            <a:ext cx="522013" cy="568933"/>
          </a:xfrm>
          <a:custGeom>
            <a:avLst/>
            <a:gdLst>
              <a:gd name="connsiteX0" fmla="*/ 0 w 669503"/>
              <a:gd name="connsiteY0" fmla="*/ 758577 h 758577"/>
              <a:gd name="connsiteX1" fmla="*/ 164757 w 669503"/>
              <a:gd name="connsiteY1" fmla="*/ 420825 h 758577"/>
              <a:gd name="connsiteX2" fmla="*/ 593124 w 669503"/>
              <a:gd name="connsiteY2" fmla="*/ 66598 h 758577"/>
              <a:gd name="connsiteX3" fmla="*/ 667265 w 669503"/>
              <a:gd name="connsiteY3" fmla="*/ 696 h 758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9503" h="758577">
                <a:moveTo>
                  <a:pt x="0" y="758577"/>
                </a:moveTo>
                <a:cubicBezTo>
                  <a:pt x="32951" y="647366"/>
                  <a:pt x="65903" y="536155"/>
                  <a:pt x="164757" y="420825"/>
                </a:cubicBezTo>
                <a:cubicBezTo>
                  <a:pt x="263611" y="305495"/>
                  <a:pt x="509373" y="136619"/>
                  <a:pt x="593124" y="66598"/>
                </a:cubicBezTo>
                <a:cubicBezTo>
                  <a:pt x="676875" y="-3423"/>
                  <a:pt x="672070" y="-1364"/>
                  <a:pt x="667265" y="696"/>
                </a:cubicBezTo>
              </a:path>
            </a:pathLst>
          </a:custGeom>
          <a:solidFill>
            <a:schemeClr val="bg1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1608312" y="2987388"/>
            <a:ext cx="1383655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Tucannon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near Starbuck</a:t>
            </a:r>
          </a:p>
        </p:txBody>
      </p:sp>
      <p:sp>
        <p:nvSpPr>
          <p:cNvPr id="101" name="Freeform 100"/>
          <p:cNvSpPr/>
          <p:nvPr/>
        </p:nvSpPr>
        <p:spPr>
          <a:xfrm rot="16937231">
            <a:off x="2409972" y="2473539"/>
            <a:ext cx="596412" cy="534743"/>
          </a:xfrm>
          <a:custGeom>
            <a:avLst/>
            <a:gdLst>
              <a:gd name="connsiteX0" fmla="*/ 0 w 1309816"/>
              <a:gd name="connsiteY0" fmla="*/ 214092 h 1449768"/>
              <a:gd name="connsiteX1" fmla="*/ 74140 w 1309816"/>
              <a:gd name="connsiteY1" fmla="*/ 205854 h 1449768"/>
              <a:gd name="connsiteX2" fmla="*/ 1145059 w 1309816"/>
              <a:gd name="connsiteY2" fmla="*/ 49335 h 1449768"/>
              <a:gd name="connsiteX3" fmla="*/ 1136822 w 1309816"/>
              <a:gd name="connsiteY3" fmla="*/ 1186157 h 1449768"/>
              <a:gd name="connsiteX4" fmla="*/ 1309816 w 1309816"/>
              <a:gd name="connsiteY4" fmla="*/ 1449768 h 1449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9816" h="1449768">
                <a:moveTo>
                  <a:pt x="0" y="214092"/>
                </a:moveTo>
                <a:lnTo>
                  <a:pt x="74140" y="205854"/>
                </a:lnTo>
                <a:cubicBezTo>
                  <a:pt x="264983" y="178395"/>
                  <a:pt x="967945" y="-114049"/>
                  <a:pt x="1145059" y="49335"/>
                </a:cubicBezTo>
                <a:cubicBezTo>
                  <a:pt x="1322173" y="212719"/>
                  <a:pt x="1109363" y="952752"/>
                  <a:pt x="1136822" y="1186157"/>
                </a:cubicBezTo>
                <a:cubicBezTo>
                  <a:pt x="1164282" y="1419563"/>
                  <a:pt x="1237049" y="1434665"/>
                  <a:pt x="1309816" y="1449768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2" name="Freeform 101"/>
          <p:cNvSpPr/>
          <p:nvPr/>
        </p:nvSpPr>
        <p:spPr>
          <a:xfrm rot="19540660">
            <a:off x="6434992" y="2756750"/>
            <a:ext cx="213857" cy="766118"/>
          </a:xfrm>
          <a:custGeom>
            <a:avLst/>
            <a:gdLst>
              <a:gd name="connsiteX0" fmla="*/ 274280 w 274280"/>
              <a:gd name="connsiteY0" fmla="*/ 1021491 h 1021491"/>
              <a:gd name="connsiteX1" fmla="*/ 10669 w 274280"/>
              <a:gd name="connsiteY1" fmla="*/ 436605 h 1021491"/>
              <a:gd name="connsiteX2" fmla="*/ 76572 w 274280"/>
              <a:gd name="connsiteY2" fmla="*/ 0 h 1021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4280" h="1021491">
                <a:moveTo>
                  <a:pt x="274280" y="1021491"/>
                </a:moveTo>
                <a:cubicBezTo>
                  <a:pt x="158950" y="814172"/>
                  <a:pt x="43620" y="606853"/>
                  <a:pt x="10669" y="436605"/>
                </a:cubicBezTo>
                <a:cubicBezTo>
                  <a:pt x="-22282" y="266357"/>
                  <a:pt x="27145" y="133178"/>
                  <a:pt x="76572" y="0"/>
                </a:cubicBezTo>
              </a:path>
            </a:pathLst>
          </a:custGeom>
          <a:solidFill>
            <a:schemeClr val="bg1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6595324" y="3344085"/>
            <a:ext cx="138365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Lapwai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Ck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04" name="Group 103"/>
          <p:cNvGrpSpPr/>
          <p:nvPr/>
        </p:nvGrpSpPr>
        <p:grpSpPr>
          <a:xfrm rot="14423549">
            <a:off x="7663681" y="2260751"/>
            <a:ext cx="454498" cy="58410"/>
            <a:chOff x="1932416" y="2981325"/>
            <a:chExt cx="605997" cy="74913"/>
          </a:xfrm>
          <a:solidFill>
            <a:schemeClr val="bg1"/>
          </a:solidFill>
        </p:grpSpPr>
        <p:cxnSp>
          <p:nvCxnSpPr>
            <p:cNvPr id="105" name="Straight Connector 104"/>
            <p:cNvCxnSpPr/>
            <p:nvPr/>
          </p:nvCxnSpPr>
          <p:spPr>
            <a:xfrm flipV="1">
              <a:off x="1932416" y="2982097"/>
              <a:ext cx="115330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>
            <a:xfrm>
              <a:off x="2050256" y="2981325"/>
              <a:ext cx="354807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>
            <a:xfrm>
              <a:off x="2405064" y="2982097"/>
              <a:ext cx="133349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8" name="Group 107"/>
          <p:cNvGrpSpPr/>
          <p:nvPr/>
        </p:nvGrpSpPr>
        <p:grpSpPr>
          <a:xfrm>
            <a:off x="7966122" y="2223218"/>
            <a:ext cx="147459" cy="141841"/>
            <a:chOff x="9313538" y="6135418"/>
            <a:chExt cx="189121" cy="189121"/>
          </a:xfrm>
        </p:grpSpPr>
        <p:sp>
          <p:nvSpPr>
            <p:cNvPr id="109" name="Oval 108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0" name="Oval 109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11" name="Group 110"/>
          <p:cNvGrpSpPr/>
          <p:nvPr/>
        </p:nvGrpSpPr>
        <p:grpSpPr>
          <a:xfrm>
            <a:off x="3047111" y="2297195"/>
            <a:ext cx="143059" cy="137609"/>
            <a:chOff x="4164415" y="1549344"/>
            <a:chExt cx="183478" cy="183478"/>
          </a:xfrm>
        </p:grpSpPr>
        <p:sp>
          <p:nvSpPr>
            <p:cNvPr id="112" name="Oval 111"/>
            <p:cNvSpPr/>
            <p:nvPr/>
          </p:nvSpPr>
          <p:spPr>
            <a:xfrm>
              <a:off x="4164415" y="1549344"/>
              <a:ext cx="183478" cy="183478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3" name="Oval 112"/>
            <p:cNvSpPr/>
            <p:nvPr/>
          </p:nvSpPr>
          <p:spPr>
            <a:xfrm>
              <a:off x="4200355" y="1581440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14" name="Group 113"/>
          <p:cNvGrpSpPr/>
          <p:nvPr/>
        </p:nvGrpSpPr>
        <p:grpSpPr>
          <a:xfrm>
            <a:off x="4712308" y="3221460"/>
            <a:ext cx="143059" cy="137609"/>
            <a:chOff x="4164415" y="1549344"/>
            <a:chExt cx="183478" cy="183478"/>
          </a:xfrm>
        </p:grpSpPr>
        <p:sp>
          <p:nvSpPr>
            <p:cNvPr id="115" name="Oval 114"/>
            <p:cNvSpPr/>
            <p:nvPr/>
          </p:nvSpPr>
          <p:spPr>
            <a:xfrm>
              <a:off x="4164415" y="1549344"/>
              <a:ext cx="183478" cy="183478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6" name="Oval 115"/>
            <p:cNvSpPr/>
            <p:nvPr/>
          </p:nvSpPr>
          <p:spPr>
            <a:xfrm>
              <a:off x="4200355" y="1581440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17" name="Group 116"/>
          <p:cNvGrpSpPr/>
          <p:nvPr/>
        </p:nvGrpSpPr>
        <p:grpSpPr>
          <a:xfrm>
            <a:off x="6639778" y="3259188"/>
            <a:ext cx="143059" cy="137609"/>
            <a:chOff x="4164415" y="1549344"/>
            <a:chExt cx="183478" cy="183478"/>
          </a:xfrm>
        </p:grpSpPr>
        <p:sp>
          <p:nvSpPr>
            <p:cNvPr id="118" name="Oval 117"/>
            <p:cNvSpPr/>
            <p:nvPr/>
          </p:nvSpPr>
          <p:spPr>
            <a:xfrm>
              <a:off x="4164415" y="1549344"/>
              <a:ext cx="183478" cy="183478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9" name="Oval 118"/>
            <p:cNvSpPr/>
            <p:nvPr/>
          </p:nvSpPr>
          <p:spPr>
            <a:xfrm>
              <a:off x="4200355" y="1581440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20" name="Group 119"/>
          <p:cNvGrpSpPr/>
          <p:nvPr/>
        </p:nvGrpSpPr>
        <p:grpSpPr>
          <a:xfrm>
            <a:off x="838036" y="5935421"/>
            <a:ext cx="143059" cy="137609"/>
            <a:chOff x="4164415" y="1549344"/>
            <a:chExt cx="183478" cy="183478"/>
          </a:xfrm>
        </p:grpSpPr>
        <p:sp>
          <p:nvSpPr>
            <p:cNvPr id="121" name="Oval 120"/>
            <p:cNvSpPr/>
            <p:nvPr/>
          </p:nvSpPr>
          <p:spPr>
            <a:xfrm>
              <a:off x="4164415" y="1549344"/>
              <a:ext cx="183478" cy="183478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ln>
                  <a:solidFill>
                    <a:srgbClr val="FF0000"/>
                  </a:solidFill>
                </a:ln>
                <a:solidFill>
                  <a:prstClr val="white"/>
                </a:solidFill>
              </a:endParaRPr>
            </a:p>
          </p:txBody>
        </p:sp>
        <p:sp>
          <p:nvSpPr>
            <p:cNvPr id="122" name="Oval 121"/>
            <p:cNvSpPr/>
            <p:nvPr/>
          </p:nvSpPr>
          <p:spPr>
            <a:xfrm>
              <a:off x="4200355" y="1581440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ln>
                  <a:solidFill>
                    <a:srgbClr val="FF0000"/>
                  </a:solidFill>
                </a:ln>
                <a:solidFill>
                  <a:prstClr val="white"/>
                </a:solidFill>
              </a:endParaRPr>
            </a:p>
          </p:txBody>
        </p:sp>
      </p:grpSp>
      <p:cxnSp>
        <p:nvCxnSpPr>
          <p:cNvPr id="123" name="Straight Connector 122"/>
          <p:cNvCxnSpPr/>
          <p:nvPr/>
        </p:nvCxnSpPr>
        <p:spPr>
          <a:xfrm>
            <a:off x="618106" y="4335221"/>
            <a:ext cx="535221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>
            <a:off x="1142456" y="4182821"/>
            <a:ext cx="20029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Calibri" panose="020F0502020204030204"/>
              </a:rPr>
              <a:t>RFC Routing Reach</a:t>
            </a:r>
          </a:p>
        </p:txBody>
      </p:sp>
      <p:sp>
        <p:nvSpPr>
          <p:cNvPr id="125" name="Freeform 124"/>
          <p:cNvSpPr/>
          <p:nvPr/>
        </p:nvSpPr>
        <p:spPr>
          <a:xfrm>
            <a:off x="1066801" y="1610922"/>
            <a:ext cx="1226806" cy="426308"/>
          </a:xfrm>
          <a:custGeom>
            <a:avLst/>
            <a:gdLst>
              <a:gd name="connsiteX0" fmla="*/ 1573427 w 1573427"/>
              <a:gd name="connsiteY0" fmla="*/ 0 h 568410"/>
              <a:gd name="connsiteX1" fmla="*/ 716692 w 1573427"/>
              <a:gd name="connsiteY1" fmla="*/ 189470 h 568410"/>
              <a:gd name="connsiteX2" fmla="*/ 0 w 1573427"/>
              <a:gd name="connsiteY2" fmla="*/ 568410 h 568410"/>
              <a:gd name="connsiteX3" fmla="*/ 0 w 1573427"/>
              <a:gd name="connsiteY3" fmla="*/ 568410 h 568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73427" h="568410">
                <a:moveTo>
                  <a:pt x="1573427" y="0"/>
                </a:moveTo>
                <a:cubicBezTo>
                  <a:pt x="1276178" y="47367"/>
                  <a:pt x="978930" y="94735"/>
                  <a:pt x="716692" y="189470"/>
                </a:cubicBezTo>
                <a:cubicBezTo>
                  <a:pt x="454454" y="284205"/>
                  <a:pt x="0" y="568410"/>
                  <a:pt x="0" y="568410"/>
                </a:cubicBezTo>
                <a:lnTo>
                  <a:pt x="0" y="568410"/>
                </a:lnTo>
              </a:path>
            </a:pathLst>
          </a:cu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26" name="Freeform 125"/>
          <p:cNvSpPr/>
          <p:nvPr/>
        </p:nvSpPr>
        <p:spPr>
          <a:xfrm>
            <a:off x="2438135" y="1721426"/>
            <a:ext cx="920861" cy="543697"/>
          </a:xfrm>
          <a:custGeom>
            <a:avLst/>
            <a:gdLst>
              <a:gd name="connsiteX0" fmla="*/ 889687 w 1181040"/>
              <a:gd name="connsiteY0" fmla="*/ 724929 h 724929"/>
              <a:gd name="connsiteX1" fmla="*/ 1128584 w 1181040"/>
              <a:gd name="connsiteY1" fmla="*/ 337751 h 724929"/>
              <a:gd name="connsiteX2" fmla="*/ 0 w 1181040"/>
              <a:gd name="connsiteY2" fmla="*/ 0 h 724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81040" h="724929">
                <a:moveTo>
                  <a:pt x="889687" y="724929"/>
                </a:moveTo>
                <a:cubicBezTo>
                  <a:pt x="1083276" y="591750"/>
                  <a:pt x="1276865" y="458572"/>
                  <a:pt x="1128584" y="337751"/>
                </a:cubicBezTo>
                <a:cubicBezTo>
                  <a:pt x="980303" y="216930"/>
                  <a:pt x="490151" y="108465"/>
                  <a:pt x="0" y="0"/>
                </a:cubicBezTo>
              </a:path>
            </a:pathLst>
          </a:cu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27" name="Freeform 126"/>
          <p:cNvSpPr/>
          <p:nvPr/>
        </p:nvSpPr>
        <p:spPr>
          <a:xfrm>
            <a:off x="2450023" y="1518755"/>
            <a:ext cx="809306" cy="185025"/>
          </a:xfrm>
          <a:custGeom>
            <a:avLst/>
            <a:gdLst>
              <a:gd name="connsiteX0" fmla="*/ 1037967 w 1037967"/>
              <a:gd name="connsiteY0" fmla="*/ 246700 h 246700"/>
              <a:gd name="connsiteX1" fmla="*/ 469556 w 1037967"/>
              <a:gd name="connsiteY1" fmla="*/ 24279 h 246700"/>
              <a:gd name="connsiteX2" fmla="*/ 0 w 1037967"/>
              <a:gd name="connsiteY2" fmla="*/ 16041 h 24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37967" h="246700">
                <a:moveTo>
                  <a:pt x="1037967" y="246700"/>
                </a:moveTo>
                <a:cubicBezTo>
                  <a:pt x="840258" y="154711"/>
                  <a:pt x="642550" y="62722"/>
                  <a:pt x="469556" y="24279"/>
                </a:cubicBezTo>
                <a:cubicBezTo>
                  <a:pt x="296562" y="-14164"/>
                  <a:pt x="148281" y="938"/>
                  <a:pt x="0" y="16041"/>
                </a:cubicBezTo>
              </a:path>
            </a:pathLst>
          </a:cu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28" name="Freeform 127"/>
          <p:cNvSpPr/>
          <p:nvPr/>
        </p:nvSpPr>
        <p:spPr>
          <a:xfrm>
            <a:off x="2475471" y="1610923"/>
            <a:ext cx="1303883" cy="432486"/>
          </a:xfrm>
          <a:custGeom>
            <a:avLst/>
            <a:gdLst>
              <a:gd name="connsiteX0" fmla="*/ 1672281 w 1672281"/>
              <a:gd name="connsiteY0" fmla="*/ 576648 h 576648"/>
              <a:gd name="connsiteX1" fmla="*/ 724930 w 1672281"/>
              <a:gd name="connsiteY1" fmla="*/ 107091 h 576648"/>
              <a:gd name="connsiteX2" fmla="*/ 0 w 1672281"/>
              <a:gd name="connsiteY2" fmla="*/ 0 h 576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72281" h="576648">
                <a:moveTo>
                  <a:pt x="1672281" y="576648"/>
                </a:moveTo>
                <a:cubicBezTo>
                  <a:pt x="1337962" y="389923"/>
                  <a:pt x="1003643" y="203199"/>
                  <a:pt x="724930" y="107091"/>
                </a:cubicBezTo>
                <a:cubicBezTo>
                  <a:pt x="446216" y="10983"/>
                  <a:pt x="223108" y="5491"/>
                  <a:pt x="0" y="0"/>
                </a:cubicBezTo>
              </a:path>
            </a:pathLst>
          </a:cu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29" name="Freeform 128"/>
          <p:cNvSpPr/>
          <p:nvPr/>
        </p:nvSpPr>
        <p:spPr>
          <a:xfrm>
            <a:off x="3847070" y="2278187"/>
            <a:ext cx="629461" cy="352168"/>
          </a:xfrm>
          <a:custGeom>
            <a:avLst/>
            <a:gdLst>
              <a:gd name="connsiteX0" fmla="*/ 807308 w 807308"/>
              <a:gd name="connsiteY0" fmla="*/ 469557 h 469557"/>
              <a:gd name="connsiteX1" fmla="*/ 0 w 807308"/>
              <a:gd name="connsiteY1" fmla="*/ 0 h 469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07308" h="469557">
                <a:moveTo>
                  <a:pt x="807308" y="469557"/>
                </a:moveTo>
                <a:lnTo>
                  <a:pt x="0" y="0"/>
                </a:lnTo>
              </a:path>
            </a:pathLst>
          </a:cu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30" name="Freeform 129"/>
          <p:cNvSpPr/>
          <p:nvPr/>
        </p:nvSpPr>
        <p:spPr>
          <a:xfrm>
            <a:off x="4662616" y="2605641"/>
            <a:ext cx="1220383" cy="278027"/>
          </a:xfrm>
          <a:custGeom>
            <a:avLst/>
            <a:gdLst>
              <a:gd name="connsiteX0" fmla="*/ 1565189 w 1565189"/>
              <a:gd name="connsiteY0" fmla="*/ 370703 h 370703"/>
              <a:gd name="connsiteX1" fmla="*/ 856735 w 1565189"/>
              <a:gd name="connsiteY1" fmla="*/ 280087 h 370703"/>
              <a:gd name="connsiteX2" fmla="*/ 0 w 1565189"/>
              <a:gd name="connsiteY2" fmla="*/ 0 h 370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65189" h="370703">
                <a:moveTo>
                  <a:pt x="1565189" y="370703"/>
                </a:moveTo>
                <a:cubicBezTo>
                  <a:pt x="1341394" y="356287"/>
                  <a:pt x="1117600" y="341871"/>
                  <a:pt x="856735" y="280087"/>
                </a:cubicBezTo>
                <a:cubicBezTo>
                  <a:pt x="595870" y="218303"/>
                  <a:pt x="297935" y="109151"/>
                  <a:pt x="0" y="0"/>
                </a:cubicBezTo>
              </a:path>
            </a:pathLst>
          </a:cu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31" name="Freeform 130"/>
          <p:cNvSpPr/>
          <p:nvPr/>
        </p:nvSpPr>
        <p:spPr>
          <a:xfrm>
            <a:off x="4668793" y="2741565"/>
            <a:ext cx="721889" cy="524945"/>
          </a:xfrm>
          <a:custGeom>
            <a:avLst/>
            <a:gdLst>
              <a:gd name="connsiteX0" fmla="*/ 296562 w 925850"/>
              <a:gd name="connsiteY0" fmla="*/ 659027 h 699926"/>
              <a:gd name="connsiteX1" fmla="*/ 708454 w 925850"/>
              <a:gd name="connsiteY1" fmla="*/ 675503 h 699926"/>
              <a:gd name="connsiteX2" fmla="*/ 889687 w 925850"/>
              <a:gd name="connsiteY2" fmla="*/ 370703 h 699926"/>
              <a:gd name="connsiteX3" fmla="*/ 0 w 925850"/>
              <a:gd name="connsiteY3" fmla="*/ 0 h 699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5850" h="699926">
                <a:moveTo>
                  <a:pt x="296562" y="659027"/>
                </a:moveTo>
                <a:cubicBezTo>
                  <a:pt x="453081" y="691292"/>
                  <a:pt x="609600" y="723557"/>
                  <a:pt x="708454" y="675503"/>
                </a:cubicBezTo>
                <a:cubicBezTo>
                  <a:pt x="807308" y="627449"/>
                  <a:pt x="1007763" y="483287"/>
                  <a:pt x="889687" y="370703"/>
                </a:cubicBezTo>
                <a:cubicBezTo>
                  <a:pt x="771611" y="258119"/>
                  <a:pt x="385805" y="129059"/>
                  <a:pt x="0" y="0"/>
                </a:cubicBezTo>
              </a:path>
            </a:pathLst>
          </a:cu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32" name="Freeform 131"/>
          <p:cNvSpPr/>
          <p:nvPr/>
        </p:nvSpPr>
        <p:spPr>
          <a:xfrm>
            <a:off x="4693509" y="2673604"/>
            <a:ext cx="803302" cy="784654"/>
          </a:xfrm>
          <a:custGeom>
            <a:avLst/>
            <a:gdLst>
              <a:gd name="connsiteX0" fmla="*/ 733167 w 1030267"/>
              <a:gd name="connsiteY0" fmla="*/ 1046205 h 1046205"/>
              <a:gd name="connsiteX1" fmla="*/ 1021492 w 1030267"/>
              <a:gd name="connsiteY1" fmla="*/ 593124 h 1046205"/>
              <a:gd name="connsiteX2" fmla="*/ 864973 w 1030267"/>
              <a:gd name="connsiteY2" fmla="*/ 288324 h 1046205"/>
              <a:gd name="connsiteX3" fmla="*/ 0 w 1030267"/>
              <a:gd name="connsiteY3" fmla="*/ 0 h 1046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0267" h="1046205">
                <a:moveTo>
                  <a:pt x="733167" y="1046205"/>
                </a:moveTo>
                <a:cubicBezTo>
                  <a:pt x="866345" y="882821"/>
                  <a:pt x="999524" y="719437"/>
                  <a:pt x="1021492" y="593124"/>
                </a:cubicBezTo>
                <a:cubicBezTo>
                  <a:pt x="1043460" y="466811"/>
                  <a:pt x="1035221" y="387178"/>
                  <a:pt x="864973" y="288324"/>
                </a:cubicBezTo>
                <a:cubicBezTo>
                  <a:pt x="694725" y="189470"/>
                  <a:pt x="347362" y="94735"/>
                  <a:pt x="0" y="0"/>
                </a:cubicBezTo>
              </a:path>
            </a:pathLst>
          </a:cu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33" name="Freeform 132"/>
          <p:cNvSpPr/>
          <p:nvPr/>
        </p:nvSpPr>
        <p:spPr>
          <a:xfrm>
            <a:off x="5045508" y="3668282"/>
            <a:ext cx="353872" cy="1176297"/>
          </a:xfrm>
          <a:custGeom>
            <a:avLst/>
            <a:gdLst>
              <a:gd name="connsiteX0" fmla="*/ 444843 w 453854"/>
              <a:gd name="connsiteY0" fmla="*/ 1532237 h 1568396"/>
              <a:gd name="connsiteX1" fmla="*/ 436605 w 453854"/>
              <a:gd name="connsiteY1" fmla="*/ 1466335 h 1568396"/>
              <a:gd name="connsiteX2" fmla="*/ 288324 w 453854"/>
              <a:gd name="connsiteY2" fmla="*/ 667264 h 1568396"/>
              <a:gd name="connsiteX3" fmla="*/ 0 w 453854"/>
              <a:gd name="connsiteY3" fmla="*/ 0 h 1568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3854" h="1568396">
                <a:moveTo>
                  <a:pt x="444843" y="1532237"/>
                </a:moveTo>
                <a:cubicBezTo>
                  <a:pt x="453767" y="1571367"/>
                  <a:pt x="462691" y="1610497"/>
                  <a:pt x="436605" y="1466335"/>
                </a:cubicBezTo>
                <a:cubicBezTo>
                  <a:pt x="410519" y="1322173"/>
                  <a:pt x="361091" y="911653"/>
                  <a:pt x="288324" y="667264"/>
                </a:cubicBezTo>
                <a:cubicBezTo>
                  <a:pt x="215557" y="422875"/>
                  <a:pt x="107778" y="211437"/>
                  <a:pt x="0" y="0"/>
                </a:cubicBezTo>
              </a:path>
            </a:pathLst>
          </a:cu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134" name="Group 133"/>
          <p:cNvGrpSpPr/>
          <p:nvPr/>
        </p:nvGrpSpPr>
        <p:grpSpPr>
          <a:xfrm>
            <a:off x="5895225" y="2863745"/>
            <a:ext cx="147459" cy="141841"/>
            <a:chOff x="9313538" y="6135418"/>
            <a:chExt cx="189121" cy="189121"/>
          </a:xfrm>
        </p:grpSpPr>
        <p:sp>
          <p:nvSpPr>
            <p:cNvPr id="135" name="Oval 134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6" name="Oval 135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137" name="Freeform 136"/>
          <p:cNvSpPr/>
          <p:nvPr/>
        </p:nvSpPr>
        <p:spPr>
          <a:xfrm>
            <a:off x="6052752" y="2451182"/>
            <a:ext cx="293918" cy="426308"/>
          </a:xfrm>
          <a:custGeom>
            <a:avLst/>
            <a:gdLst>
              <a:gd name="connsiteX0" fmla="*/ 197708 w 376961"/>
              <a:gd name="connsiteY0" fmla="*/ 0 h 568411"/>
              <a:gd name="connsiteX1" fmla="*/ 370703 w 376961"/>
              <a:gd name="connsiteY1" fmla="*/ 345990 h 568411"/>
              <a:gd name="connsiteX2" fmla="*/ 0 w 376961"/>
              <a:gd name="connsiteY2" fmla="*/ 568411 h 568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6961" h="568411">
                <a:moveTo>
                  <a:pt x="197708" y="0"/>
                </a:moveTo>
                <a:cubicBezTo>
                  <a:pt x="300681" y="125627"/>
                  <a:pt x="403654" y="251255"/>
                  <a:pt x="370703" y="345990"/>
                </a:cubicBezTo>
                <a:cubicBezTo>
                  <a:pt x="337752" y="440725"/>
                  <a:pt x="168876" y="504568"/>
                  <a:pt x="0" y="568411"/>
                </a:cubicBezTo>
              </a:path>
            </a:pathLst>
          </a:cu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38" name="Freeform 137"/>
          <p:cNvSpPr/>
          <p:nvPr/>
        </p:nvSpPr>
        <p:spPr>
          <a:xfrm>
            <a:off x="6102179" y="2913116"/>
            <a:ext cx="578076" cy="298007"/>
          </a:xfrm>
          <a:custGeom>
            <a:avLst/>
            <a:gdLst>
              <a:gd name="connsiteX0" fmla="*/ 741405 w 741405"/>
              <a:gd name="connsiteY0" fmla="*/ 397343 h 397343"/>
              <a:gd name="connsiteX1" fmla="*/ 428367 w 741405"/>
              <a:gd name="connsiteY1" fmla="*/ 34878 h 397343"/>
              <a:gd name="connsiteX2" fmla="*/ 0 w 741405"/>
              <a:gd name="connsiteY2" fmla="*/ 34878 h 397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41405" h="397343">
                <a:moveTo>
                  <a:pt x="741405" y="397343"/>
                </a:moveTo>
                <a:cubicBezTo>
                  <a:pt x="646669" y="246316"/>
                  <a:pt x="551934" y="95289"/>
                  <a:pt x="428367" y="34878"/>
                </a:cubicBezTo>
                <a:cubicBezTo>
                  <a:pt x="304799" y="-25533"/>
                  <a:pt x="152399" y="4672"/>
                  <a:pt x="0" y="34878"/>
                </a:cubicBezTo>
              </a:path>
            </a:pathLst>
          </a:cu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39" name="Freeform 138"/>
          <p:cNvSpPr/>
          <p:nvPr/>
        </p:nvSpPr>
        <p:spPr>
          <a:xfrm>
            <a:off x="6077464" y="2517355"/>
            <a:ext cx="1907652" cy="391027"/>
          </a:xfrm>
          <a:custGeom>
            <a:avLst/>
            <a:gdLst>
              <a:gd name="connsiteX0" fmla="*/ 2446638 w 2446638"/>
              <a:gd name="connsiteY0" fmla="*/ 224807 h 521369"/>
              <a:gd name="connsiteX1" fmla="*/ 1787611 w 2446638"/>
              <a:gd name="connsiteY1" fmla="*/ 10624 h 521369"/>
              <a:gd name="connsiteX2" fmla="*/ 0 w 2446638"/>
              <a:gd name="connsiteY2" fmla="*/ 521369 h 521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6638" h="521369">
                <a:moveTo>
                  <a:pt x="2446638" y="224807"/>
                </a:moveTo>
                <a:cubicBezTo>
                  <a:pt x="2321011" y="93002"/>
                  <a:pt x="2195384" y="-38803"/>
                  <a:pt x="1787611" y="10624"/>
                </a:cubicBezTo>
                <a:cubicBezTo>
                  <a:pt x="1379838" y="60051"/>
                  <a:pt x="689919" y="290710"/>
                  <a:pt x="0" y="521369"/>
                </a:cubicBezTo>
              </a:path>
            </a:pathLst>
          </a:cu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40" name="Freeform 139"/>
          <p:cNvSpPr/>
          <p:nvPr/>
        </p:nvSpPr>
        <p:spPr>
          <a:xfrm>
            <a:off x="6046573" y="2272008"/>
            <a:ext cx="1804883" cy="624017"/>
          </a:xfrm>
          <a:custGeom>
            <a:avLst/>
            <a:gdLst>
              <a:gd name="connsiteX0" fmla="*/ 2314833 w 2314833"/>
              <a:gd name="connsiteY0" fmla="*/ 0 h 832022"/>
              <a:gd name="connsiteX1" fmla="*/ 0 w 2314833"/>
              <a:gd name="connsiteY1" fmla="*/ 832022 h 832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314833" h="832022">
                <a:moveTo>
                  <a:pt x="2314833" y="0"/>
                </a:moveTo>
                <a:lnTo>
                  <a:pt x="0" y="832022"/>
                </a:lnTo>
              </a:path>
            </a:pathLst>
          </a:cu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1999453" y="1110482"/>
            <a:ext cx="82215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LMN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2" name="TextBox 141"/>
          <p:cNvSpPr txBox="1"/>
          <p:nvPr/>
        </p:nvSpPr>
        <p:spPr>
          <a:xfrm>
            <a:off x="3597174" y="3658585"/>
            <a:ext cx="1383655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Grande </a:t>
            </a:r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Ronde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at Troy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3" name="TextBox 142"/>
          <p:cNvSpPr txBox="1"/>
          <p:nvPr/>
        </p:nvSpPr>
        <p:spPr>
          <a:xfrm>
            <a:off x="5561230" y="5225248"/>
            <a:ext cx="143305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Oxbow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xmlns="" id="{A150DC13-A3EA-4009-9643-617063E70969}"/>
              </a:ext>
            </a:extLst>
          </p:cNvPr>
          <p:cNvSpPr txBox="1"/>
          <p:nvPr/>
        </p:nvSpPr>
        <p:spPr>
          <a:xfrm>
            <a:off x="584244" y="1538517"/>
            <a:ext cx="82215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prstClr val="black"/>
                </a:solidFill>
                <a:latin typeface="Calibri" panose="020F0502020204030204"/>
              </a:rPr>
              <a:t>IHR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469117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/>
          <a:lstStyle/>
          <a:p>
            <a:r>
              <a:rPr lang="en-US" sz="4000" dirty="0"/>
              <a:t>CAVI Setup and Initial Results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0099" y="1066800"/>
            <a:ext cx="7543801" cy="455222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0"/>
            <a:ext cx="9144000" cy="6184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510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/>
          <a:lstStyle/>
          <a:p>
            <a:r>
              <a:rPr lang="en-US" sz="4000" dirty="0"/>
              <a:t>CAVI Forecast and </a:t>
            </a:r>
            <a:r>
              <a:rPr lang="en-US" sz="4000" dirty="0" err="1"/>
              <a:t>ResSim</a:t>
            </a:r>
            <a:r>
              <a:rPr lang="en-US" sz="4000" dirty="0"/>
              <a:t> Alternative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19200"/>
            <a:ext cx="2015519" cy="50292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400" y="1371600"/>
            <a:ext cx="5675511" cy="34626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1923" y="2209800"/>
            <a:ext cx="5690464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605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/>
          <a:lstStyle/>
          <a:p>
            <a:r>
              <a:rPr lang="en-US" sz="4000" dirty="0"/>
              <a:t>CAVI Results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0099" y="1066800"/>
            <a:ext cx="7543801" cy="455222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9" y="1056551"/>
            <a:ext cx="8991600" cy="488142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8575" y="1035752"/>
            <a:ext cx="9144000" cy="4968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8575" y="1038225"/>
            <a:ext cx="9144000" cy="497144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8575" y="1029831"/>
            <a:ext cx="9144000" cy="496925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28575" y="1029831"/>
            <a:ext cx="9144000" cy="498588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47625" y="3363580"/>
            <a:ext cx="9144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364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Future Improvements and Partnership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Graphic Interface</a:t>
            </a:r>
          </a:p>
          <a:p>
            <a:pPr lvl="1"/>
            <a:r>
              <a:rPr lang="en-US" sz="2000" dirty="0"/>
              <a:t>Weighting of ESP trace based on WY Forecast</a:t>
            </a:r>
          </a:p>
          <a:p>
            <a:pPr lvl="1"/>
            <a:r>
              <a:rPr lang="en-US" sz="2000" dirty="0"/>
              <a:t>Highlighting of 10/90% bands</a:t>
            </a:r>
          </a:p>
          <a:p>
            <a:pPr lvl="1"/>
            <a:r>
              <a:rPr lang="en-US" sz="2000" dirty="0"/>
              <a:t>Highlighting of specific water analog years</a:t>
            </a:r>
          </a:p>
        </p:txBody>
      </p:sp>
      <p:sp>
        <p:nvSpPr>
          <p:cNvPr id="8" name="Content Placeholder 3"/>
          <p:cNvSpPr txBox="1">
            <a:spLocks/>
          </p:cNvSpPr>
          <p:nvPr/>
        </p:nvSpPr>
        <p:spPr bwMode="auto">
          <a:xfrm>
            <a:off x="457200" y="3543300"/>
            <a:ext cx="82296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Arial" charset="0"/>
              <a:buChar char="►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Wingdings 3" pitchFamily="18" charset="2"/>
              <a:buChar char="w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buChar char="¡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buChar char="¡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buChar char="¡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buChar char="¡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buChar char="¡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400" kern="0" dirty="0"/>
              <a:t>Partnership with NWRFC</a:t>
            </a:r>
          </a:p>
          <a:p>
            <a:pPr lvl="1"/>
            <a:r>
              <a:rPr lang="en-US" sz="2000" kern="0" dirty="0"/>
              <a:t>Improving how data is handed off </a:t>
            </a:r>
          </a:p>
          <a:p>
            <a:pPr lvl="1"/>
            <a:r>
              <a:rPr lang="en-US" sz="2000" kern="0" dirty="0"/>
              <a:t>Adding a 10-day observed period to ESP traces</a:t>
            </a:r>
          </a:p>
          <a:p>
            <a:pPr lvl="1"/>
            <a:r>
              <a:rPr lang="en-US" sz="2000" kern="0" dirty="0"/>
              <a:t>Handing regulation runs back to NWRFC for downstream control points (current proposal is at the LWG inflow point)</a:t>
            </a:r>
          </a:p>
        </p:txBody>
      </p:sp>
    </p:spTree>
    <p:extLst>
      <p:ext uri="{BB962C8B-B14F-4D97-AF65-F5344CB8AC3E}">
        <p14:creationId xmlns:p14="http://schemas.microsoft.com/office/powerpoint/2010/main" val="3101096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449762"/>
          </a:xfrm>
        </p:spPr>
        <p:txBody>
          <a:bodyPr/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578824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914400" y="1398463"/>
            <a:ext cx="7211825" cy="1272092"/>
          </a:xfrm>
          <a:custGeom>
            <a:avLst/>
            <a:gdLst>
              <a:gd name="connsiteX0" fmla="*/ 0 w 9615766"/>
              <a:gd name="connsiteY0" fmla="*/ 794145 h 1696122"/>
              <a:gd name="connsiteX1" fmla="*/ 2496065 w 9615766"/>
              <a:gd name="connsiteY1" fmla="*/ 28026 h 1696122"/>
              <a:gd name="connsiteX2" fmla="*/ 6096000 w 9615766"/>
              <a:gd name="connsiteY2" fmla="*/ 1675594 h 1696122"/>
              <a:gd name="connsiteX3" fmla="*/ 9127524 w 9615766"/>
              <a:gd name="connsiteY3" fmla="*/ 942426 h 1696122"/>
              <a:gd name="connsiteX4" fmla="*/ 9572368 w 9615766"/>
              <a:gd name="connsiteY4" fmla="*/ 810621 h 1696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15766" h="1696122">
                <a:moveTo>
                  <a:pt x="0" y="794145"/>
                </a:moveTo>
                <a:cubicBezTo>
                  <a:pt x="740032" y="337631"/>
                  <a:pt x="1480065" y="-118882"/>
                  <a:pt x="2496065" y="28026"/>
                </a:cubicBezTo>
                <a:cubicBezTo>
                  <a:pt x="3512065" y="174934"/>
                  <a:pt x="4990757" y="1523194"/>
                  <a:pt x="6096000" y="1675594"/>
                </a:cubicBezTo>
                <a:cubicBezTo>
                  <a:pt x="7201243" y="1827994"/>
                  <a:pt x="8548129" y="1086588"/>
                  <a:pt x="9127524" y="942426"/>
                </a:cubicBezTo>
                <a:cubicBezTo>
                  <a:pt x="9706919" y="798264"/>
                  <a:pt x="9639643" y="804442"/>
                  <a:pt x="9572368" y="810621"/>
                </a:cubicBezTo>
              </a:path>
            </a:pathLst>
          </a:cu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Freeform 4"/>
          <p:cNvSpPr/>
          <p:nvPr/>
        </p:nvSpPr>
        <p:spPr>
          <a:xfrm>
            <a:off x="5245350" y="2670554"/>
            <a:ext cx="321370" cy="3185004"/>
          </a:xfrm>
          <a:custGeom>
            <a:avLst/>
            <a:gdLst>
              <a:gd name="connsiteX0" fmla="*/ 543823 w 588646"/>
              <a:gd name="connsiteY0" fmla="*/ 0 h 3855308"/>
              <a:gd name="connsiteX1" fmla="*/ 125 w 588646"/>
              <a:gd name="connsiteY1" fmla="*/ 881448 h 3855308"/>
              <a:gd name="connsiteX2" fmla="*/ 585012 w 588646"/>
              <a:gd name="connsiteY2" fmla="*/ 2125362 h 3855308"/>
              <a:gd name="connsiteX3" fmla="*/ 247260 w 588646"/>
              <a:gd name="connsiteY3" fmla="*/ 3855308 h 3855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8646" h="3855308">
                <a:moveTo>
                  <a:pt x="543823" y="0"/>
                </a:moveTo>
                <a:cubicBezTo>
                  <a:pt x="268541" y="263610"/>
                  <a:pt x="-6740" y="527221"/>
                  <a:pt x="125" y="881448"/>
                </a:cubicBezTo>
                <a:cubicBezTo>
                  <a:pt x="6990" y="1235675"/>
                  <a:pt x="543823" y="1629719"/>
                  <a:pt x="585012" y="2125362"/>
                </a:cubicBezTo>
                <a:cubicBezTo>
                  <a:pt x="626201" y="2621005"/>
                  <a:pt x="304925" y="3568357"/>
                  <a:pt x="247260" y="3855308"/>
                </a:cubicBezTo>
              </a:path>
            </a:pathLst>
          </a:cu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15" name="Group 14"/>
          <p:cNvGrpSpPr/>
          <p:nvPr/>
        </p:nvGrpSpPr>
        <p:grpSpPr>
          <a:xfrm rot="484849">
            <a:off x="5178785" y="5699284"/>
            <a:ext cx="454498" cy="56185"/>
            <a:chOff x="1932416" y="2981325"/>
            <a:chExt cx="605997" cy="74913"/>
          </a:xfrm>
          <a:solidFill>
            <a:schemeClr val="bg1"/>
          </a:solidFill>
        </p:grpSpPr>
        <p:cxnSp>
          <p:nvCxnSpPr>
            <p:cNvPr id="16" name="Straight Connector 15"/>
            <p:cNvCxnSpPr/>
            <p:nvPr/>
          </p:nvCxnSpPr>
          <p:spPr>
            <a:xfrm flipV="1">
              <a:off x="1932416" y="2982097"/>
              <a:ext cx="115330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2050256" y="2981325"/>
              <a:ext cx="354807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2405064" y="2982097"/>
              <a:ext cx="133349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/>
          <p:cNvGrpSpPr/>
          <p:nvPr/>
        </p:nvGrpSpPr>
        <p:grpSpPr>
          <a:xfrm rot="560028">
            <a:off x="5272096" y="5053884"/>
            <a:ext cx="454498" cy="56185"/>
            <a:chOff x="1932416" y="2981325"/>
            <a:chExt cx="605997" cy="74913"/>
          </a:xfrm>
          <a:solidFill>
            <a:schemeClr val="bg1"/>
          </a:solidFill>
        </p:grpSpPr>
        <p:cxnSp>
          <p:nvCxnSpPr>
            <p:cNvPr id="20" name="Straight Connector 19"/>
            <p:cNvCxnSpPr/>
            <p:nvPr/>
          </p:nvCxnSpPr>
          <p:spPr>
            <a:xfrm flipV="1">
              <a:off x="1932416" y="2982097"/>
              <a:ext cx="115330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2050256" y="2981325"/>
              <a:ext cx="354807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2405064" y="2982097"/>
              <a:ext cx="133349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 rot="322589">
            <a:off x="5339470" y="4612128"/>
            <a:ext cx="454498" cy="56185"/>
            <a:chOff x="1932416" y="2981325"/>
            <a:chExt cx="605997" cy="74913"/>
          </a:xfrm>
          <a:solidFill>
            <a:schemeClr val="bg1"/>
          </a:solidFill>
        </p:grpSpPr>
        <p:cxnSp>
          <p:nvCxnSpPr>
            <p:cNvPr id="24" name="Straight Connector 23"/>
            <p:cNvCxnSpPr/>
            <p:nvPr/>
          </p:nvCxnSpPr>
          <p:spPr>
            <a:xfrm flipV="1">
              <a:off x="1932416" y="2982097"/>
              <a:ext cx="115330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2050256" y="2981325"/>
              <a:ext cx="354807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2405064" y="2982097"/>
              <a:ext cx="133349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/>
          <p:cNvGrpSpPr/>
          <p:nvPr/>
        </p:nvGrpSpPr>
        <p:grpSpPr>
          <a:xfrm rot="18671544">
            <a:off x="4423158" y="2327434"/>
            <a:ext cx="454498" cy="56185"/>
            <a:chOff x="1932416" y="2981325"/>
            <a:chExt cx="605997" cy="74913"/>
          </a:xfrm>
          <a:solidFill>
            <a:schemeClr val="bg1"/>
          </a:solidFill>
        </p:grpSpPr>
        <p:cxnSp>
          <p:nvCxnSpPr>
            <p:cNvPr id="28" name="Straight Connector 27"/>
            <p:cNvCxnSpPr/>
            <p:nvPr/>
          </p:nvCxnSpPr>
          <p:spPr>
            <a:xfrm flipV="1">
              <a:off x="1932416" y="2982097"/>
              <a:ext cx="115330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2050256" y="2981325"/>
              <a:ext cx="354807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2405064" y="2982097"/>
              <a:ext cx="133349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/>
          <p:cNvGrpSpPr/>
          <p:nvPr/>
        </p:nvGrpSpPr>
        <p:grpSpPr>
          <a:xfrm rot="18493238">
            <a:off x="3638157" y="1870233"/>
            <a:ext cx="454498" cy="56185"/>
            <a:chOff x="1932416" y="2981325"/>
            <a:chExt cx="605997" cy="74913"/>
          </a:xfrm>
          <a:solidFill>
            <a:schemeClr val="bg1"/>
          </a:solidFill>
        </p:grpSpPr>
        <p:cxnSp>
          <p:nvCxnSpPr>
            <p:cNvPr id="32" name="Straight Connector 31"/>
            <p:cNvCxnSpPr/>
            <p:nvPr/>
          </p:nvCxnSpPr>
          <p:spPr>
            <a:xfrm flipV="1">
              <a:off x="1932416" y="2982097"/>
              <a:ext cx="115330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2050256" y="2981325"/>
              <a:ext cx="354807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2405064" y="2982097"/>
              <a:ext cx="133349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/>
          <p:cNvGrpSpPr/>
          <p:nvPr/>
        </p:nvGrpSpPr>
        <p:grpSpPr>
          <a:xfrm rot="16200000">
            <a:off x="2215727" y="1382727"/>
            <a:ext cx="454498" cy="56185"/>
            <a:chOff x="1932416" y="2981325"/>
            <a:chExt cx="605997" cy="74913"/>
          </a:xfrm>
          <a:solidFill>
            <a:schemeClr val="bg1"/>
          </a:solidFill>
        </p:grpSpPr>
        <p:cxnSp>
          <p:nvCxnSpPr>
            <p:cNvPr id="36" name="Straight Connector 35"/>
            <p:cNvCxnSpPr/>
            <p:nvPr/>
          </p:nvCxnSpPr>
          <p:spPr>
            <a:xfrm flipV="1">
              <a:off x="1932416" y="2982097"/>
              <a:ext cx="115330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2050256" y="2981325"/>
              <a:ext cx="354807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2405064" y="2982097"/>
              <a:ext cx="133349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/>
          <p:cNvGrpSpPr/>
          <p:nvPr/>
        </p:nvGrpSpPr>
        <p:grpSpPr>
          <a:xfrm rot="14423549">
            <a:off x="1072037" y="1713882"/>
            <a:ext cx="454498" cy="56185"/>
            <a:chOff x="1932416" y="2981325"/>
            <a:chExt cx="605997" cy="74913"/>
          </a:xfrm>
          <a:solidFill>
            <a:schemeClr val="bg1"/>
          </a:solidFill>
        </p:grpSpPr>
        <p:cxnSp>
          <p:nvCxnSpPr>
            <p:cNvPr id="40" name="Straight Connector 39"/>
            <p:cNvCxnSpPr/>
            <p:nvPr/>
          </p:nvCxnSpPr>
          <p:spPr>
            <a:xfrm flipV="1">
              <a:off x="1932416" y="2982097"/>
              <a:ext cx="115330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2050256" y="2981325"/>
              <a:ext cx="354807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2405064" y="2982097"/>
              <a:ext cx="133349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Freeform 42"/>
          <p:cNvSpPr/>
          <p:nvPr/>
        </p:nvSpPr>
        <p:spPr>
          <a:xfrm rot="1347251">
            <a:off x="3483089" y="1071334"/>
            <a:ext cx="502127" cy="568933"/>
          </a:xfrm>
          <a:custGeom>
            <a:avLst/>
            <a:gdLst>
              <a:gd name="connsiteX0" fmla="*/ 0 w 669503"/>
              <a:gd name="connsiteY0" fmla="*/ 758577 h 758577"/>
              <a:gd name="connsiteX1" fmla="*/ 164757 w 669503"/>
              <a:gd name="connsiteY1" fmla="*/ 420825 h 758577"/>
              <a:gd name="connsiteX2" fmla="*/ 593124 w 669503"/>
              <a:gd name="connsiteY2" fmla="*/ 66598 h 758577"/>
              <a:gd name="connsiteX3" fmla="*/ 667265 w 669503"/>
              <a:gd name="connsiteY3" fmla="*/ 696 h 758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9503" h="758577">
                <a:moveTo>
                  <a:pt x="0" y="758577"/>
                </a:moveTo>
                <a:cubicBezTo>
                  <a:pt x="32951" y="647366"/>
                  <a:pt x="65903" y="536155"/>
                  <a:pt x="164757" y="420825"/>
                </a:cubicBezTo>
                <a:cubicBezTo>
                  <a:pt x="263611" y="305495"/>
                  <a:pt x="509373" y="136619"/>
                  <a:pt x="593124" y="66598"/>
                </a:cubicBezTo>
                <a:cubicBezTo>
                  <a:pt x="676875" y="-3423"/>
                  <a:pt x="672070" y="-1364"/>
                  <a:pt x="667265" y="696"/>
                </a:cubicBezTo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2" name="Freeform 51"/>
          <p:cNvSpPr/>
          <p:nvPr/>
        </p:nvSpPr>
        <p:spPr>
          <a:xfrm>
            <a:off x="4423864" y="2859664"/>
            <a:ext cx="895865" cy="147629"/>
          </a:xfrm>
          <a:custGeom>
            <a:avLst/>
            <a:gdLst>
              <a:gd name="connsiteX0" fmla="*/ 0 w 1194486"/>
              <a:gd name="connsiteY0" fmla="*/ 196838 h 196838"/>
              <a:gd name="connsiteX1" fmla="*/ 634313 w 1194486"/>
              <a:gd name="connsiteY1" fmla="*/ 7368 h 196838"/>
              <a:gd name="connsiteX2" fmla="*/ 1194486 w 1194486"/>
              <a:gd name="connsiteY2" fmla="*/ 56795 h 196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94486" h="196838">
                <a:moveTo>
                  <a:pt x="0" y="196838"/>
                </a:moveTo>
                <a:cubicBezTo>
                  <a:pt x="217616" y="113773"/>
                  <a:pt x="435232" y="30708"/>
                  <a:pt x="634313" y="7368"/>
                </a:cubicBezTo>
                <a:cubicBezTo>
                  <a:pt x="833394" y="-15972"/>
                  <a:pt x="1013940" y="20411"/>
                  <a:pt x="1194486" y="56795"/>
                </a:cubicBezTo>
              </a:path>
            </a:pathLst>
          </a:cu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3" name="Freeform 52"/>
          <p:cNvSpPr/>
          <p:nvPr/>
        </p:nvSpPr>
        <p:spPr>
          <a:xfrm>
            <a:off x="6201269" y="1790186"/>
            <a:ext cx="205710" cy="766118"/>
          </a:xfrm>
          <a:custGeom>
            <a:avLst/>
            <a:gdLst>
              <a:gd name="connsiteX0" fmla="*/ 274280 w 274280"/>
              <a:gd name="connsiteY0" fmla="*/ 1021491 h 1021491"/>
              <a:gd name="connsiteX1" fmla="*/ 10669 w 274280"/>
              <a:gd name="connsiteY1" fmla="*/ 436605 h 1021491"/>
              <a:gd name="connsiteX2" fmla="*/ 76572 w 274280"/>
              <a:gd name="connsiteY2" fmla="*/ 0 h 1021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4280" h="1021491">
                <a:moveTo>
                  <a:pt x="274280" y="1021491"/>
                </a:moveTo>
                <a:cubicBezTo>
                  <a:pt x="158950" y="814172"/>
                  <a:pt x="43620" y="606853"/>
                  <a:pt x="10669" y="436605"/>
                </a:cubicBezTo>
                <a:cubicBezTo>
                  <a:pt x="-22282" y="266357"/>
                  <a:pt x="27145" y="133178"/>
                  <a:pt x="76572" y="0"/>
                </a:cubicBezTo>
              </a:path>
            </a:pathLst>
          </a:cu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6" name="Freeform 55"/>
          <p:cNvSpPr/>
          <p:nvPr/>
        </p:nvSpPr>
        <p:spPr>
          <a:xfrm>
            <a:off x="4469815" y="3371627"/>
            <a:ext cx="741406" cy="179174"/>
          </a:xfrm>
          <a:custGeom>
            <a:avLst/>
            <a:gdLst>
              <a:gd name="connsiteX0" fmla="*/ 0 w 988541"/>
              <a:gd name="connsiteY0" fmla="*/ 238898 h 238898"/>
              <a:gd name="connsiteX1" fmla="*/ 560173 w 988541"/>
              <a:gd name="connsiteY1" fmla="*/ 74141 h 238898"/>
              <a:gd name="connsiteX2" fmla="*/ 988541 w 988541"/>
              <a:gd name="connsiteY2" fmla="*/ 0 h 238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88541" h="238898">
                <a:moveTo>
                  <a:pt x="0" y="238898"/>
                </a:moveTo>
                <a:cubicBezTo>
                  <a:pt x="197708" y="176427"/>
                  <a:pt x="395416" y="113957"/>
                  <a:pt x="560173" y="74141"/>
                </a:cubicBezTo>
                <a:cubicBezTo>
                  <a:pt x="724930" y="34325"/>
                  <a:pt x="856735" y="17162"/>
                  <a:pt x="988541" y="0"/>
                </a:cubicBezTo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7" name="Freeform 56"/>
          <p:cNvSpPr/>
          <p:nvPr/>
        </p:nvSpPr>
        <p:spPr>
          <a:xfrm>
            <a:off x="5387547" y="3448373"/>
            <a:ext cx="939113" cy="535137"/>
          </a:xfrm>
          <a:custGeom>
            <a:avLst/>
            <a:gdLst>
              <a:gd name="connsiteX0" fmla="*/ 0 w 1252151"/>
              <a:gd name="connsiteY0" fmla="*/ 515808 h 713516"/>
              <a:gd name="connsiteX1" fmla="*/ 436605 w 1252151"/>
              <a:gd name="connsiteY1" fmla="*/ 474619 h 713516"/>
              <a:gd name="connsiteX2" fmla="*/ 617838 w 1252151"/>
              <a:gd name="connsiteY2" fmla="*/ 145105 h 713516"/>
              <a:gd name="connsiteX3" fmla="*/ 1013254 w 1252151"/>
              <a:gd name="connsiteY3" fmla="*/ 13300 h 713516"/>
              <a:gd name="connsiteX4" fmla="*/ 1095632 w 1252151"/>
              <a:gd name="connsiteY4" fmla="*/ 449905 h 713516"/>
              <a:gd name="connsiteX5" fmla="*/ 1252151 w 1252151"/>
              <a:gd name="connsiteY5" fmla="*/ 713516 h 713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52151" h="713516">
                <a:moveTo>
                  <a:pt x="0" y="515808"/>
                </a:moveTo>
                <a:cubicBezTo>
                  <a:pt x="166816" y="526105"/>
                  <a:pt x="333632" y="536403"/>
                  <a:pt x="436605" y="474619"/>
                </a:cubicBezTo>
                <a:cubicBezTo>
                  <a:pt x="539578" y="412835"/>
                  <a:pt x="521730" y="221991"/>
                  <a:pt x="617838" y="145105"/>
                </a:cubicBezTo>
                <a:cubicBezTo>
                  <a:pt x="713946" y="68218"/>
                  <a:pt x="933622" y="-37500"/>
                  <a:pt x="1013254" y="13300"/>
                </a:cubicBezTo>
                <a:cubicBezTo>
                  <a:pt x="1092886" y="64100"/>
                  <a:pt x="1055816" y="333202"/>
                  <a:pt x="1095632" y="449905"/>
                </a:cubicBezTo>
                <a:cubicBezTo>
                  <a:pt x="1135448" y="566608"/>
                  <a:pt x="1193799" y="640062"/>
                  <a:pt x="1252151" y="713516"/>
                </a:cubicBezTo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8" name="Freeform 57"/>
          <p:cNvSpPr/>
          <p:nvPr/>
        </p:nvSpPr>
        <p:spPr>
          <a:xfrm>
            <a:off x="4473146" y="4020580"/>
            <a:ext cx="976184" cy="426308"/>
          </a:xfrm>
          <a:custGeom>
            <a:avLst/>
            <a:gdLst>
              <a:gd name="connsiteX0" fmla="*/ 1301578 w 1301578"/>
              <a:gd name="connsiteY0" fmla="*/ 0 h 568411"/>
              <a:gd name="connsiteX1" fmla="*/ 823783 w 1301578"/>
              <a:gd name="connsiteY1" fmla="*/ 362465 h 568411"/>
              <a:gd name="connsiteX2" fmla="*/ 0 w 1301578"/>
              <a:gd name="connsiteY2" fmla="*/ 568411 h 568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01578" h="568411">
                <a:moveTo>
                  <a:pt x="1301578" y="0"/>
                </a:moveTo>
                <a:cubicBezTo>
                  <a:pt x="1171145" y="133865"/>
                  <a:pt x="1040713" y="267730"/>
                  <a:pt x="823783" y="362465"/>
                </a:cubicBezTo>
                <a:cubicBezTo>
                  <a:pt x="606853" y="457200"/>
                  <a:pt x="303426" y="512805"/>
                  <a:pt x="0" y="568411"/>
                </a:cubicBezTo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83687" y="947988"/>
            <a:ext cx="1056563" cy="10618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Ice </a:t>
            </a:r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Harbor_IN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LwSnakeRv_S110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740568" y="1482254"/>
            <a:ext cx="1333909" cy="10618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Lower </a:t>
            </a:r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Monumental_IN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LwSnakeRv_S120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214044" y="2088379"/>
            <a:ext cx="1286753" cy="7848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Little </a:t>
            </a:r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Goose_IN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LwSnakeRv_S140_Local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223240" y="1693602"/>
            <a:ext cx="1404026" cy="7848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Lower </a:t>
            </a:r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Granite_IN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LwSnakeRv_S150_Local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14233" y="1227689"/>
            <a:ext cx="908602" cy="13388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Potlatch nr </a:t>
            </a:r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Spaldng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PotlatchRv_S10</a:t>
            </a:r>
          </a:p>
        </p:txBody>
      </p:sp>
      <p:sp>
        <p:nvSpPr>
          <p:cNvPr id="69" name="Freeform 68"/>
          <p:cNvSpPr/>
          <p:nvPr/>
        </p:nvSpPr>
        <p:spPr>
          <a:xfrm>
            <a:off x="7741508" y="2111461"/>
            <a:ext cx="525162" cy="308919"/>
          </a:xfrm>
          <a:custGeom>
            <a:avLst/>
            <a:gdLst>
              <a:gd name="connsiteX0" fmla="*/ 0 w 700216"/>
              <a:gd name="connsiteY0" fmla="*/ 0 h 411892"/>
              <a:gd name="connsiteX1" fmla="*/ 411892 w 700216"/>
              <a:gd name="connsiteY1" fmla="*/ 271849 h 411892"/>
              <a:gd name="connsiteX2" fmla="*/ 700216 w 700216"/>
              <a:gd name="connsiteY2" fmla="*/ 411892 h 411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0216" h="411892">
                <a:moveTo>
                  <a:pt x="0" y="0"/>
                </a:moveTo>
                <a:cubicBezTo>
                  <a:pt x="147594" y="101600"/>
                  <a:pt x="295189" y="203200"/>
                  <a:pt x="411892" y="271849"/>
                </a:cubicBezTo>
                <a:cubicBezTo>
                  <a:pt x="528595" y="340498"/>
                  <a:pt x="614405" y="376195"/>
                  <a:pt x="700216" y="411892"/>
                </a:cubicBezTo>
              </a:path>
            </a:pathLst>
          </a:cu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7883294" y="1524983"/>
            <a:ext cx="1331550" cy="7848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Dworshak_IN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 err="1">
                <a:solidFill>
                  <a:prstClr val="black"/>
                </a:solidFill>
                <a:latin typeface="Calibri" panose="020F0502020204030204"/>
              </a:rPr>
              <a:t>DWR_Inflowl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5619170" y="5428372"/>
            <a:ext cx="1330944" cy="7848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Brownlee_IN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 err="1">
                <a:solidFill>
                  <a:prstClr val="black"/>
                </a:solidFill>
                <a:latin typeface="Calibri" panose="020F0502020204030204"/>
              </a:rPr>
              <a:t>Brownlee_Inflow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5761339" y="4504054"/>
            <a:ext cx="1330944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Hells Canyon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2512206" y="2721715"/>
            <a:ext cx="1704487" cy="5078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Snake+Asotin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LwSnakeRv_S170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738767" y="2424968"/>
            <a:ext cx="1312087" cy="7848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Clearwater at Orofino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LwSnakeRv_S150_Local</a:t>
            </a:r>
          </a:p>
        </p:txBody>
      </p:sp>
      <p:sp>
        <p:nvSpPr>
          <p:cNvPr id="88" name="Oval 87"/>
          <p:cNvSpPr/>
          <p:nvPr/>
        </p:nvSpPr>
        <p:spPr>
          <a:xfrm>
            <a:off x="7002566" y="5249713"/>
            <a:ext cx="80318" cy="8031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7177656" y="5151372"/>
            <a:ext cx="185040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Non-Inflow CCP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4158584" y="3075030"/>
            <a:ext cx="1438392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Snake near </a:t>
            </a:r>
            <a:r>
              <a:rPr lang="en-US" sz="900" dirty="0" err="1">
                <a:solidFill>
                  <a:prstClr val="black"/>
                </a:solidFill>
                <a:latin typeface="Calibri" panose="020F0502020204030204"/>
              </a:rPr>
              <a:t>Anatone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97" name="Group 96"/>
          <p:cNvGrpSpPr/>
          <p:nvPr/>
        </p:nvGrpSpPr>
        <p:grpSpPr>
          <a:xfrm>
            <a:off x="5311204" y="5746315"/>
            <a:ext cx="141841" cy="141841"/>
            <a:chOff x="9313538" y="6135418"/>
            <a:chExt cx="189121" cy="189121"/>
          </a:xfrm>
        </p:grpSpPr>
        <p:sp>
          <p:nvSpPr>
            <p:cNvPr id="95" name="Oval 94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4" name="Oval 93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96" name="TextBox 95"/>
          <p:cNvSpPr txBox="1"/>
          <p:nvPr/>
        </p:nvSpPr>
        <p:spPr>
          <a:xfrm>
            <a:off x="7204147" y="5391234"/>
            <a:ext cx="1850408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CCP Inflow Location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98" name="Group 97"/>
          <p:cNvGrpSpPr/>
          <p:nvPr/>
        </p:nvGrpSpPr>
        <p:grpSpPr>
          <a:xfrm>
            <a:off x="5142094" y="3286276"/>
            <a:ext cx="141841" cy="141841"/>
            <a:chOff x="9313538" y="6135418"/>
            <a:chExt cx="189121" cy="189121"/>
          </a:xfrm>
        </p:grpSpPr>
        <p:sp>
          <p:nvSpPr>
            <p:cNvPr id="99" name="Oval 98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0" name="Oval 99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01" name="Group 100"/>
          <p:cNvGrpSpPr/>
          <p:nvPr/>
        </p:nvGrpSpPr>
        <p:grpSpPr>
          <a:xfrm>
            <a:off x="6978975" y="5475701"/>
            <a:ext cx="141841" cy="141841"/>
            <a:chOff x="9313538" y="6135418"/>
            <a:chExt cx="189121" cy="189121"/>
          </a:xfrm>
        </p:grpSpPr>
        <p:sp>
          <p:nvSpPr>
            <p:cNvPr id="102" name="Oval 101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3" name="Oval 102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04" name="Group 103"/>
          <p:cNvGrpSpPr/>
          <p:nvPr/>
        </p:nvGrpSpPr>
        <p:grpSpPr>
          <a:xfrm>
            <a:off x="8151107" y="2352336"/>
            <a:ext cx="141841" cy="141841"/>
            <a:chOff x="9313538" y="6135418"/>
            <a:chExt cx="189121" cy="189121"/>
          </a:xfrm>
        </p:grpSpPr>
        <p:sp>
          <p:nvSpPr>
            <p:cNvPr id="105" name="Oval 104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6" name="Oval 105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10" name="Group 109"/>
          <p:cNvGrpSpPr/>
          <p:nvPr/>
        </p:nvGrpSpPr>
        <p:grpSpPr>
          <a:xfrm>
            <a:off x="6148265" y="2018412"/>
            <a:ext cx="141841" cy="141841"/>
            <a:chOff x="9313538" y="6135418"/>
            <a:chExt cx="189121" cy="189121"/>
          </a:xfrm>
        </p:grpSpPr>
        <p:sp>
          <p:nvSpPr>
            <p:cNvPr id="111" name="Oval 110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2" name="Oval 111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13" name="Group 112"/>
          <p:cNvGrpSpPr/>
          <p:nvPr/>
        </p:nvGrpSpPr>
        <p:grpSpPr>
          <a:xfrm>
            <a:off x="4565928" y="2273985"/>
            <a:ext cx="141841" cy="141841"/>
            <a:chOff x="9313538" y="6135418"/>
            <a:chExt cx="189121" cy="189121"/>
          </a:xfrm>
        </p:grpSpPr>
        <p:sp>
          <p:nvSpPr>
            <p:cNvPr id="114" name="Oval 113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5" name="Oval 114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16" name="Group 115"/>
          <p:cNvGrpSpPr/>
          <p:nvPr/>
        </p:nvGrpSpPr>
        <p:grpSpPr>
          <a:xfrm>
            <a:off x="3779678" y="1821369"/>
            <a:ext cx="141841" cy="141841"/>
            <a:chOff x="9313538" y="6135418"/>
            <a:chExt cx="189121" cy="189121"/>
          </a:xfrm>
        </p:grpSpPr>
        <p:sp>
          <p:nvSpPr>
            <p:cNvPr id="117" name="Oval 116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8" name="Oval 117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22" name="Group 121"/>
          <p:cNvGrpSpPr/>
          <p:nvPr/>
        </p:nvGrpSpPr>
        <p:grpSpPr>
          <a:xfrm>
            <a:off x="2343963" y="1331847"/>
            <a:ext cx="141841" cy="141841"/>
            <a:chOff x="9313538" y="6135418"/>
            <a:chExt cx="189121" cy="189121"/>
          </a:xfrm>
        </p:grpSpPr>
        <p:sp>
          <p:nvSpPr>
            <p:cNvPr id="123" name="Oval 122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4" name="Oval 123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25" name="Group 124"/>
          <p:cNvGrpSpPr/>
          <p:nvPr/>
        </p:nvGrpSpPr>
        <p:grpSpPr>
          <a:xfrm>
            <a:off x="1231038" y="1710852"/>
            <a:ext cx="141841" cy="141841"/>
            <a:chOff x="9313538" y="6135418"/>
            <a:chExt cx="189121" cy="189121"/>
          </a:xfrm>
        </p:grpSpPr>
        <p:sp>
          <p:nvSpPr>
            <p:cNvPr id="126" name="Oval 125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7" name="Oval 126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cxnSp>
        <p:nvCxnSpPr>
          <p:cNvPr id="129" name="Straight Connector 128"/>
          <p:cNvCxnSpPr/>
          <p:nvPr/>
        </p:nvCxnSpPr>
        <p:spPr>
          <a:xfrm>
            <a:off x="7042724" y="4296496"/>
            <a:ext cx="455670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/>
          <p:cNvCxnSpPr/>
          <p:nvPr/>
        </p:nvCxnSpPr>
        <p:spPr>
          <a:xfrm>
            <a:off x="7049896" y="4567218"/>
            <a:ext cx="448499" cy="0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7573084" y="4157996"/>
            <a:ext cx="1705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ResSim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Model Reach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541727" y="4426421"/>
            <a:ext cx="1705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Reach Not Modeled</a:t>
            </a:r>
          </a:p>
        </p:txBody>
      </p:sp>
      <p:sp>
        <p:nvSpPr>
          <p:cNvPr id="139" name="Freeform 138"/>
          <p:cNvSpPr/>
          <p:nvPr/>
        </p:nvSpPr>
        <p:spPr>
          <a:xfrm rot="10541373">
            <a:off x="2976868" y="1688481"/>
            <a:ext cx="502127" cy="568933"/>
          </a:xfrm>
          <a:custGeom>
            <a:avLst/>
            <a:gdLst>
              <a:gd name="connsiteX0" fmla="*/ 0 w 669503"/>
              <a:gd name="connsiteY0" fmla="*/ 758577 h 758577"/>
              <a:gd name="connsiteX1" fmla="*/ 164757 w 669503"/>
              <a:gd name="connsiteY1" fmla="*/ 420825 h 758577"/>
              <a:gd name="connsiteX2" fmla="*/ 593124 w 669503"/>
              <a:gd name="connsiteY2" fmla="*/ 66598 h 758577"/>
              <a:gd name="connsiteX3" fmla="*/ 667265 w 669503"/>
              <a:gd name="connsiteY3" fmla="*/ 696 h 758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9503" h="758577">
                <a:moveTo>
                  <a:pt x="0" y="758577"/>
                </a:moveTo>
                <a:cubicBezTo>
                  <a:pt x="32951" y="647366"/>
                  <a:pt x="65903" y="536155"/>
                  <a:pt x="164757" y="420825"/>
                </a:cubicBezTo>
                <a:cubicBezTo>
                  <a:pt x="263611" y="305495"/>
                  <a:pt x="509373" y="136619"/>
                  <a:pt x="593124" y="66598"/>
                </a:cubicBezTo>
                <a:cubicBezTo>
                  <a:pt x="676875" y="-3423"/>
                  <a:pt x="672070" y="-1364"/>
                  <a:pt x="667265" y="696"/>
                </a:cubicBezTo>
              </a:path>
            </a:pathLst>
          </a:custGeom>
          <a:solidFill>
            <a:schemeClr val="bg1"/>
          </a:solidFill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1850303" y="2138827"/>
            <a:ext cx="1330944" cy="7848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Tucannon_HW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TucannonRv_S10</a:t>
            </a:r>
          </a:p>
        </p:txBody>
      </p:sp>
      <p:sp>
        <p:nvSpPr>
          <p:cNvPr id="143" name="Freeform 142"/>
          <p:cNvSpPr/>
          <p:nvPr/>
        </p:nvSpPr>
        <p:spPr>
          <a:xfrm rot="19540660">
            <a:off x="6511902" y="2481110"/>
            <a:ext cx="205710" cy="766118"/>
          </a:xfrm>
          <a:custGeom>
            <a:avLst/>
            <a:gdLst>
              <a:gd name="connsiteX0" fmla="*/ 274280 w 274280"/>
              <a:gd name="connsiteY0" fmla="*/ 1021491 h 1021491"/>
              <a:gd name="connsiteX1" fmla="*/ 10669 w 274280"/>
              <a:gd name="connsiteY1" fmla="*/ 436605 h 1021491"/>
              <a:gd name="connsiteX2" fmla="*/ 76572 w 274280"/>
              <a:gd name="connsiteY2" fmla="*/ 0 h 1021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4280" h="1021491">
                <a:moveTo>
                  <a:pt x="274280" y="1021491"/>
                </a:moveTo>
                <a:cubicBezTo>
                  <a:pt x="158950" y="814172"/>
                  <a:pt x="43620" y="606853"/>
                  <a:pt x="10669" y="436605"/>
                </a:cubicBezTo>
                <a:cubicBezTo>
                  <a:pt x="-22282" y="266357"/>
                  <a:pt x="27145" y="133178"/>
                  <a:pt x="76572" y="0"/>
                </a:cubicBezTo>
              </a:path>
            </a:pathLst>
          </a:cu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6671524" y="3066148"/>
            <a:ext cx="2107952" cy="7848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Lapwai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Ck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near </a:t>
            </a:r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Lapwai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LwSnakeRv_S150_Local</a:t>
            </a:r>
          </a:p>
        </p:txBody>
      </p:sp>
      <p:grpSp>
        <p:nvGrpSpPr>
          <p:cNvPr id="146" name="Group 145"/>
          <p:cNvGrpSpPr/>
          <p:nvPr/>
        </p:nvGrpSpPr>
        <p:grpSpPr>
          <a:xfrm rot="14423549">
            <a:off x="7738914" y="1984476"/>
            <a:ext cx="454498" cy="56185"/>
            <a:chOff x="1932416" y="2981325"/>
            <a:chExt cx="605997" cy="74913"/>
          </a:xfrm>
          <a:solidFill>
            <a:schemeClr val="bg1"/>
          </a:solidFill>
        </p:grpSpPr>
        <p:cxnSp>
          <p:nvCxnSpPr>
            <p:cNvPr id="147" name="Straight Connector 146"/>
            <p:cNvCxnSpPr/>
            <p:nvPr/>
          </p:nvCxnSpPr>
          <p:spPr>
            <a:xfrm flipV="1">
              <a:off x="1932416" y="2982097"/>
              <a:ext cx="115330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/>
            <p:cNvCxnSpPr/>
            <p:nvPr/>
          </p:nvCxnSpPr>
          <p:spPr>
            <a:xfrm>
              <a:off x="2050256" y="2981325"/>
              <a:ext cx="354807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/>
            <p:cNvCxnSpPr/>
            <p:nvPr/>
          </p:nvCxnSpPr>
          <p:spPr>
            <a:xfrm>
              <a:off x="2405064" y="2982097"/>
              <a:ext cx="133349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7" name="Group 106"/>
          <p:cNvGrpSpPr/>
          <p:nvPr/>
        </p:nvGrpSpPr>
        <p:grpSpPr>
          <a:xfrm>
            <a:off x="8042322" y="1945281"/>
            <a:ext cx="141841" cy="141841"/>
            <a:chOff x="9313538" y="6135418"/>
            <a:chExt cx="189121" cy="189121"/>
          </a:xfrm>
        </p:grpSpPr>
        <p:sp>
          <p:nvSpPr>
            <p:cNvPr id="108" name="Oval 107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9" name="Oval 108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150" name="TextBox 149"/>
          <p:cNvSpPr txBox="1"/>
          <p:nvPr/>
        </p:nvSpPr>
        <p:spPr>
          <a:xfrm>
            <a:off x="4305032" y="886639"/>
            <a:ext cx="482127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100" dirty="0" err="1">
                <a:solidFill>
                  <a:prstClr val="black"/>
                </a:solidFill>
                <a:latin typeface="Calibri" panose="020F0502020204030204"/>
              </a:rPr>
              <a:t>ResSim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: Standard CWMS Network Setup</a:t>
            </a:r>
          </a:p>
        </p:txBody>
      </p:sp>
      <p:grpSp>
        <p:nvGrpSpPr>
          <p:cNvPr id="128" name="Group 127"/>
          <p:cNvGrpSpPr/>
          <p:nvPr/>
        </p:nvGrpSpPr>
        <p:grpSpPr>
          <a:xfrm>
            <a:off x="5382171" y="3960819"/>
            <a:ext cx="141841" cy="141841"/>
            <a:chOff x="9313538" y="6135418"/>
            <a:chExt cx="189121" cy="189121"/>
          </a:xfrm>
        </p:grpSpPr>
        <p:sp>
          <p:nvSpPr>
            <p:cNvPr id="130" name="Oval 129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1" name="Oval 130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32" name="Group 131"/>
          <p:cNvGrpSpPr/>
          <p:nvPr/>
        </p:nvGrpSpPr>
        <p:grpSpPr>
          <a:xfrm>
            <a:off x="5311203" y="3771948"/>
            <a:ext cx="141841" cy="141841"/>
            <a:chOff x="9313538" y="6135418"/>
            <a:chExt cx="189121" cy="189121"/>
          </a:xfrm>
        </p:grpSpPr>
        <p:sp>
          <p:nvSpPr>
            <p:cNvPr id="134" name="Oval 133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1" name="Oval 150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152" name="TextBox 151"/>
          <p:cNvSpPr txBox="1"/>
          <p:nvPr/>
        </p:nvSpPr>
        <p:spPr>
          <a:xfrm>
            <a:off x="2480689" y="4289451"/>
            <a:ext cx="1440830" cy="7848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Snake+Salmon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SalmonRv_R100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3554791" y="4878604"/>
            <a:ext cx="1440830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Snake+Imnaha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Imnaha_Rv_R10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LwSnakeRv_S190_Local</a:t>
            </a:r>
          </a:p>
        </p:txBody>
      </p:sp>
      <p:grpSp>
        <p:nvGrpSpPr>
          <p:cNvPr id="154" name="Group 153"/>
          <p:cNvGrpSpPr/>
          <p:nvPr/>
        </p:nvGrpSpPr>
        <p:grpSpPr>
          <a:xfrm>
            <a:off x="5304365" y="2850352"/>
            <a:ext cx="141841" cy="141841"/>
            <a:chOff x="9313538" y="6135418"/>
            <a:chExt cx="189121" cy="189121"/>
          </a:xfrm>
        </p:grpSpPr>
        <p:sp>
          <p:nvSpPr>
            <p:cNvPr id="155" name="Oval 154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6" name="Oval 155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57" name="Group 156"/>
          <p:cNvGrpSpPr/>
          <p:nvPr/>
        </p:nvGrpSpPr>
        <p:grpSpPr>
          <a:xfrm>
            <a:off x="4350212" y="2948582"/>
            <a:ext cx="141841" cy="141841"/>
            <a:chOff x="9313538" y="6135418"/>
            <a:chExt cx="189121" cy="189121"/>
          </a:xfrm>
        </p:grpSpPr>
        <p:sp>
          <p:nvSpPr>
            <p:cNvPr id="158" name="Oval 157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9" name="Oval 158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160" name="TextBox 159"/>
          <p:cNvSpPr txBox="1"/>
          <p:nvPr/>
        </p:nvSpPr>
        <p:spPr>
          <a:xfrm>
            <a:off x="2496855" y="3235108"/>
            <a:ext cx="1353743" cy="5078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Asotin </a:t>
            </a:r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Ck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AsotinCk_S10</a:t>
            </a:r>
          </a:p>
        </p:txBody>
      </p:sp>
      <p:sp>
        <p:nvSpPr>
          <p:cNvPr id="161" name="Oval 160"/>
          <p:cNvSpPr/>
          <p:nvPr/>
        </p:nvSpPr>
        <p:spPr>
          <a:xfrm>
            <a:off x="5227258" y="3142822"/>
            <a:ext cx="80318" cy="8031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62" name="TextBox 161"/>
          <p:cNvSpPr txBox="1"/>
          <p:nvPr/>
        </p:nvSpPr>
        <p:spPr>
          <a:xfrm>
            <a:off x="1850304" y="3849547"/>
            <a:ext cx="1704487" cy="7848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Snake+Grande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Ronde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GrandRondeRv_R10</a:t>
            </a:r>
          </a:p>
        </p:txBody>
      </p:sp>
      <p:grpSp>
        <p:nvGrpSpPr>
          <p:cNvPr id="163" name="Group 162"/>
          <p:cNvGrpSpPr/>
          <p:nvPr/>
        </p:nvGrpSpPr>
        <p:grpSpPr>
          <a:xfrm>
            <a:off x="5461500" y="2593671"/>
            <a:ext cx="141841" cy="141841"/>
            <a:chOff x="9313538" y="6135418"/>
            <a:chExt cx="189121" cy="189121"/>
          </a:xfrm>
        </p:grpSpPr>
        <p:sp>
          <p:nvSpPr>
            <p:cNvPr id="164" name="Oval 163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65" name="Oval 164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167" name="TextBox 166"/>
          <p:cNvSpPr txBox="1"/>
          <p:nvPr/>
        </p:nvSpPr>
        <p:spPr>
          <a:xfrm>
            <a:off x="4973524" y="2190412"/>
            <a:ext cx="1704487" cy="7848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Snake+Clearwater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ClearWaterRv_S10_Local</a:t>
            </a:r>
          </a:p>
        </p:txBody>
      </p:sp>
      <p:grpSp>
        <p:nvGrpSpPr>
          <p:cNvPr id="168" name="Group 167"/>
          <p:cNvGrpSpPr/>
          <p:nvPr/>
        </p:nvGrpSpPr>
        <p:grpSpPr>
          <a:xfrm>
            <a:off x="3262711" y="1514530"/>
            <a:ext cx="141841" cy="141841"/>
            <a:chOff x="9313538" y="6135418"/>
            <a:chExt cx="189121" cy="189121"/>
          </a:xfrm>
        </p:grpSpPr>
        <p:sp>
          <p:nvSpPr>
            <p:cNvPr id="169" name="Oval 168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70" name="Oval 169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71" name="Group 170"/>
          <p:cNvGrpSpPr/>
          <p:nvPr/>
        </p:nvGrpSpPr>
        <p:grpSpPr>
          <a:xfrm>
            <a:off x="3029987" y="2111461"/>
            <a:ext cx="141841" cy="141841"/>
            <a:chOff x="9313538" y="6135418"/>
            <a:chExt cx="189121" cy="189121"/>
          </a:xfrm>
        </p:grpSpPr>
        <p:sp>
          <p:nvSpPr>
            <p:cNvPr id="172" name="Oval 171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73" name="Oval 172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74" name="Group 173"/>
          <p:cNvGrpSpPr/>
          <p:nvPr/>
        </p:nvGrpSpPr>
        <p:grpSpPr>
          <a:xfrm>
            <a:off x="801355" y="1966497"/>
            <a:ext cx="141841" cy="141841"/>
            <a:chOff x="9313538" y="6135418"/>
            <a:chExt cx="189121" cy="189121"/>
          </a:xfrm>
        </p:grpSpPr>
        <p:sp>
          <p:nvSpPr>
            <p:cNvPr id="175" name="Oval 174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76" name="Oval 175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177" name="TextBox 176"/>
          <p:cNvSpPr txBox="1"/>
          <p:nvPr/>
        </p:nvSpPr>
        <p:spPr>
          <a:xfrm>
            <a:off x="76761" y="2092762"/>
            <a:ext cx="1423556" cy="7848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Columbia+Snake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LwSnakeRv_S100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2775885" y="858570"/>
            <a:ext cx="1330944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Snake+Palouse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LwSnakeRv_S130_Local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PalouseRv_R10</a:t>
            </a:r>
          </a:p>
        </p:txBody>
      </p:sp>
      <p:grpSp>
        <p:nvGrpSpPr>
          <p:cNvPr id="179" name="Group 178"/>
          <p:cNvGrpSpPr/>
          <p:nvPr/>
        </p:nvGrpSpPr>
        <p:grpSpPr>
          <a:xfrm>
            <a:off x="5216596" y="3477472"/>
            <a:ext cx="141841" cy="141841"/>
            <a:chOff x="9313538" y="6135418"/>
            <a:chExt cx="189121" cy="189121"/>
          </a:xfrm>
        </p:grpSpPr>
        <p:sp>
          <p:nvSpPr>
            <p:cNvPr id="180" name="Oval 179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81" name="Oval 180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182" name="TextBox 181"/>
          <p:cNvSpPr txBox="1"/>
          <p:nvPr/>
        </p:nvSpPr>
        <p:spPr>
          <a:xfrm>
            <a:off x="6423000" y="3509824"/>
            <a:ext cx="1704487" cy="7848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Snake </a:t>
            </a:r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bl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McDuff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Rapids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LwSnakeRv_S180_Local</a:t>
            </a:r>
          </a:p>
        </p:txBody>
      </p:sp>
      <p:sp>
        <p:nvSpPr>
          <p:cNvPr id="2" name="Freeform 1"/>
          <p:cNvSpPr/>
          <p:nvPr/>
        </p:nvSpPr>
        <p:spPr>
          <a:xfrm>
            <a:off x="5375189" y="3376857"/>
            <a:ext cx="1068860" cy="322447"/>
          </a:xfrm>
          <a:custGeom>
            <a:avLst/>
            <a:gdLst>
              <a:gd name="connsiteX0" fmla="*/ 1425146 w 1425146"/>
              <a:gd name="connsiteY0" fmla="*/ 429929 h 429929"/>
              <a:gd name="connsiteX1" fmla="*/ 1128584 w 1425146"/>
              <a:gd name="connsiteY1" fmla="*/ 9800 h 429929"/>
              <a:gd name="connsiteX2" fmla="*/ 0 w 1425146"/>
              <a:gd name="connsiteY2" fmla="*/ 174556 h 429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25146" h="429929">
                <a:moveTo>
                  <a:pt x="1425146" y="429929"/>
                </a:moveTo>
                <a:cubicBezTo>
                  <a:pt x="1395627" y="241145"/>
                  <a:pt x="1366108" y="52362"/>
                  <a:pt x="1128584" y="9800"/>
                </a:cubicBezTo>
                <a:cubicBezTo>
                  <a:pt x="891060" y="-32762"/>
                  <a:pt x="445530" y="70897"/>
                  <a:pt x="0" y="174556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183" name="Group 182"/>
          <p:cNvGrpSpPr/>
          <p:nvPr/>
        </p:nvGrpSpPr>
        <p:grpSpPr>
          <a:xfrm>
            <a:off x="6693779" y="2974552"/>
            <a:ext cx="141841" cy="141841"/>
            <a:chOff x="9313538" y="6135418"/>
            <a:chExt cx="189121" cy="189121"/>
          </a:xfrm>
        </p:grpSpPr>
        <p:sp>
          <p:nvSpPr>
            <p:cNvPr id="184" name="Oval 183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85" name="Oval 184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86" name="Group 185"/>
          <p:cNvGrpSpPr/>
          <p:nvPr/>
        </p:nvGrpSpPr>
        <p:grpSpPr>
          <a:xfrm>
            <a:off x="7116828" y="2241912"/>
            <a:ext cx="141841" cy="141841"/>
            <a:chOff x="9313538" y="6135418"/>
            <a:chExt cx="189121" cy="189121"/>
          </a:xfrm>
        </p:grpSpPr>
        <p:sp>
          <p:nvSpPr>
            <p:cNvPr id="187" name="Oval 186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88" name="Oval 187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189" name="TextBox 188"/>
          <p:cNvSpPr txBox="1"/>
          <p:nvPr/>
        </p:nvSpPr>
        <p:spPr>
          <a:xfrm>
            <a:off x="6452690" y="1574664"/>
            <a:ext cx="1418645" cy="7848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Clearwater at RM 29.68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ClearWaterRv_S20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125788" y="5249713"/>
            <a:ext cx="2360015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*All inflows computed by HMS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**Not all CCPs displayed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528058" y="2667432"/>
            <a:ext cx="1116204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Clearwater at Spalding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LwSnakeRv_S150_Local</a:t>
            </a:r>
          </a:p>
        </p:txBody>
      </p:sp>
      <p:grpSp>
        <p:nvGrpSpPr>
          <p:cNvPr id="192" name="Group 191"/>
          <p:cNvGrpSpPr/>
          <p:nvPr/>
        </p:nvGrpSpPr>
        <p:grpSpPr>
          <a:xfrm>
            <a:off x="5891060" y="2583006"/>
            <a:ext cx="141841" cy="141841"/>
            <a:chOff x="9313538" y="6135418"/>
            <a:chExt cx="189121" cy="189121"/>
          </a:xfrm>
        </p:grpSpPr>
        <p:sp>
          <p:nvSpPr>
            <p:cNvPr id="193" name="Oval 192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94" name="Oval 193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3" name="Freeform 2"/>
          <p:cNvSpPr/>
          <p:nvPr/>
        </p:nvSpPr>
        <p:spPr>
          <a:xfrm>
            <a:off x="3694670" y="2648858"/>
            <a:ext cx="1618736" cy="222543"/>
          </a:xfrm>
          <a:custGeom>
            <a:avLst/>
            <a:gdLst>
              <a:gd name="connsiteX0" fmla="*/ 0 w 2158314"/>
              <a:gd name="connsiteY0" fmla="*/ 296724 h 296724"/>
              <a:gd name="connsiteX1" fmla="*/ 1334530 w 2158314"/>
              <a:gd name="connsiteY1" fmla="*/ 162 h 296724"/>
              <a:gd name="connsiteX2" fmla="*/ 2158314 w 2158314"/>
              <a:gd name="connsiteY2" fmla="*/ 263773 h 296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58314" h="296724">
                <a:moveTo>
                  <a:pt x="0" y="296724"/>
                </a:moveTo>
                <a:cubicBezTo>
                  <a:pt x="487405" y="151189"/>
                  <a:pt x="974811" y="5654"/>
                  <a:pt x="1334530" y="162"/>
                </a:cubicBezTo>
                <a:cubicBezTo>
                  <a:pt x="1694249" y="-5330"/>
                  <a:pt x="1926281" y="129221"/>
                  <a:pt x="2158314" y="263773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3441357" y="2981050"/>
            <a:ext cx="914400" cy="415514"/>
          </a:xfrm>
          <a:custGeom>
            <a:avLst/>
            <a:gdLst>
              <a:gd name="connsiteX0" fmla="*/ 0 w 1219200"/>
              <a:gd name="connsiteY0" fmla="*/ 554018 h 554018"/>
              <a:gd name="connsiteX1" fmla="*/ 691978 w 1219200"/>
              <a:gd name="connsiteY1" fmla="*/ 59748 h 554018"/>
              <a:gd name="connsiteX2" fmla="*/ 1219200 w 1219200"/>
              <a:gd name="connsiteY2" fmla="*/ 26797 h 554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19200" h="554018">
                <a:moveTo>
                  <a:pt x="0" y="554018"/>
                </a:moveTo>
                <a:cubicBezTo>
                  <a:pt x="244389" y="350818"/>
                  <a:pt x="488778" y="147618"/>
                  <a:pt x="691978" y="59748"/>
                </a:cubicBezTo>
                <a:cubicBezTo>
                  <a:pt x="895178" y="-28122"/>
                  <a:pt x="1057189" y="-663"/>
                  <a:pt x="1219200" y="26797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3453714" y="3421278"/>
            <a:ext cx="1717589" cy="698156"/>
          </a:xfrm>
          <a:custGeom>
            <a:avLst/>
            <a:gdLst>
              <a:gd name="connsiteX0" fmla="*/ 0 w 2290119"/>
              <a:gd name="connsiteY0" fmla="*/ 930875 h 930875"/>
              <a:gd name="connsiteX1" fmla="*/ 1622854 w 2290119"/>
              <a:gd name="connsiteY1" fmla="*/ 560173 h 930875"/>
              <a:gd name="connsiteX2" fmla="*/ 2290119 w 2290119"/>
              <a:gd name="connsiteY2" fmla="*/ 0 h 930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90119" h="930875">
                <a:moveTo>
                  <a:pt x="0" y="930875"/>
                </a:moveTo>
                <a:cubicBezTo>
                  <a:pt x="620584" y="823097"/>
                  <a:pt x="1241168" y="715319"/>
                  <a:pt x="1622854" y="560173"/>
                </a:cubicBezTo>
                <a:cubicBezTo>
                  <a:pt x="2004541" y="405027"/>
                  <a:pt x="2147330" y="202513"/>
                  <a:pt x="2290119" y="0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3639065" y="3859942"/>
            <a:ext cx="1668163" cy="624017"/>
          </a:xfrm>
          <a:custGeom>
            <a:avLst/>
            <a:gdLst>
              <a:gd name="connsiteX0" fmla="*/ 0 w 2224217"/>
              <a:gd name="connsiteY0" fmla="*/ 832022 h 832022"/>
              <a:gd name="connsiteX1" fmla="*/ 1507525 w 2224217"/>
              <a:gd name="connsiteY1" fmla="*/ 238897 h 832022"/>
              <a:gd name="connsiteX2" fmla="*/ 2224217 w 2224217"/>
              <a:gd name="connsiteY2" fmla="*/ 0 h 832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24217" h="832022">
                <a:moveTo>
                  <a:pt x="0" y="832022"/>
                </a:moveTo>
                <a:lnTo>
                  <a:pt x="1507525" y="238897"/>
                </a:lnTo>
                <a:cubicBezTo>
                  <a:pt x="1878228" y="100227"/>
                  <a:pt x="2051222" y="50113"/>
                  <a:pt x="2224217" y="0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4726460" y="4107078"/>
            <a:ext cx="710513" cy="1013254"/>
          </a:xfrm>
          <a:custGeom>
            <a:avLst/>
            <a:gdLst>
              <a:gd name="connsiteX0" fmla="*/ 0 w 947351"/>
              <a:gd name="connsiteY0" fmla="*/ 1351005 h 1351005"/>
              <a:gd name="connsiteX1" fmla="*/ 700216 w 947351"/>
              <a:gd name="connsiteY1" fmla="*/ 642551 h 1351005"/>
              <a:gd name="connsiteX2" fmla="*/ 947351 w 947351"/>
              <a:gd name="connsiteY2" fmla="*/ 0 h 1351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47351" h="1351005">
                <a:moveTo>
                  <a:pt x="0" y="1351005"/>
                </a:moveTo>
                <a:cubicBezTo>
                  <a:pt x="271162" y="1109361"/>
                  <a:pt x="542324" y="867718"/>
                  <a:pt x="700216" y="642551"/>
                </a:cubicBezTo>
                <a:cubicBezTo>
                  <a:pt x="858108" y="417383"/>
                  <a:pt x="947351" y="0"/>
                  <a:pt x="947351" y="0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95" name="TextBox 194"/>
          <p:cNvSpPr txBox="1"/>
          <p:nvPr/>
        </p:nvSpPr>
        <p:spPr>
          <a:xfrm>
            <a:off x="5690286" y="4965164"/>
            <a:ext cx="133094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Oxbow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6" name="Oval 165"/>
          <p:cNvSpPr/>
          <p:nvPr/>
        </p:nvSpPr>
        <p:spPr>
          <a:xfrm>
            <a:off x="3408158" y="1640464"/>
            <a:ext cx="80318" cy="8031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9545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914400" y="1398463"/>
            <a:ext cx="7211825" cy="1272092"/>
          </a:xfrm>
          <a:custGeom>
            <a:avLst/>
            <a:gdLst>
              <a:gd name="connsiteX0" fmla="*/ 0 w 9615766"/>
              <a:gd name="connsiteY0" fmla="*/ 794145 h 1696122"/>
              <a:gd name="connsiteX1" fmla="*/ 2496065 w 9615766"/>
              <a:gd name="connsiteY1" fmla="*/ 28026 h 1696122"/>
              <a:gd name="connsiteX2" fmla="*/ 6096000 w 9615766"/>
              <a:gd name="connsiteY2" fmla="*/ 1675594 h 1696122"/>
              <a:gd name="connsiteX3" fmla="*/ 9127524 w 9615766"/>
              <a:gd name="connsiteY3" fmla="*/ 942426 h 1696122"/>
              <a:gd name="connsiteX4" fmla="*/ 9572368 w 9615766"/>
              <a:gd name="connsiteY4" fmla="*/ 810621 h 1696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15766" h="1696122">
                <a:moveTo>
                  <a:pt x="0" y="794145"/>
                </a:moveTo>
                <a:cubicBezTo>
                  <a:pt x="740032" y="337631"/>
                  <a:pt x="1480065" y="-118882"/>
                  <a:pt x="2496065" y="28026"/>
                </a:cubicBezTo>
                <a:cubicBezTo>
                  <a:pt x="3512065" y="174934"/>
                  <a:pt x="4990757" y="1523194"/>
                  <a:pt x="6096000" y="1675594"/>
                </a:cubicBezTo>
                <a:cubicBezTo>
                  <a:pt x="7201243" y="1827994"/>
                  <a:pt x="8548129" y="1086588"/>
                  <a:pt x="9127524" y="942426"/>
                </a:cubicBezTo>
                <a:cubicBezTo>
                  <a:pt x="9706919" y="798264"/>
                  <a:pt x="9639643" y="804442"/>
                  <a:pt x="9572368" y="810621"/>
                </a:cubicBezTo>
              </a:path>
            </a:pathLst>
          </a:cu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Freeform 4"/>
          <p:cNvSpPr/>
          <p:nvPr/>
        </p:nvSpPr>
        <p:spPr>
          <a:xfrm>
            <a:off x="5245350" y="2670554"/>
            <a:ext cx="321370" cy="3185004"/>
          </a:xfrm>
          <a:custGeom>
            <a:avLst/>
            <a:gdLst>
              <a:gd name="connsiteX0" fmla="*/ 543823 w 588646"/>
              <a:gd name="connsiteY0" fmla="*/ 0 h 3855308"/>
              <a:gd name="connsiteX1" fmla="*/ 125 w 588646"/>
              <a:gd name="connsiteY1" fmla="*/ 881448 h 3855308"/>
              <a:gd name="connsiteX2" fmla="*/ 585012 w 588646"/>
              <a:gd name="connsiteY2" fmla="*/ 2125362 h 3855308"/>
              <a:gd name="connsiteX3" fmla="*/ 247260 w 588646"/>
              <a:gd name="connsiteY3" fmla="*/ 3855308 h 3855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8646" h="3855308">
                <a:moveTo>
                  <a:pt x="543823" y="0"/>
                </a:moveTo>
                <a:cubicBezTo>
                  <a:pt x="268541" y="263610"/>
                  <a:pt x="-6740" y="527221"/>
                  <a:pt x="125" y="881448"/>
                </a:cubicBezTo>
                <a:cubicBezTo>
                  <a:pt x="6990" y="1235675"/>
                  <a:pt x="543823" y="1629719"/>
                  <a:pt x="585012" y="2125362"/>
                </a:cubicBezTo>
                <a:cubicBezTo>
                  <a:pt x="626201" y="2621005"/>
                  <a:pt x="304925" y="3568357"/>
                  <a:pt x="247260" y="3855308"/>
                </a:cubicBezTo>
              </a:path>
            </a:pathLst>
          </a:custGeom>
          <a:solidFill>
            <a:schemeClr val="bg1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15" name="Group 14"/>
          <p:cNvGrpSpPr/>
          <p:nvPr/>
        </p:nvGrpSpPr>
        <p:grpSpPr>
          <a:xfrm rot="484849">
            <a:off x="5178785" y="5699284"/>
            <a:ext cx="454498" cy="56185"/>
            <a:chOff x="1932416" y="2981325"/>
            <a:chExt cx="605997" cy="74913"/>
          </a:xfrm>
          <a:solidFill>
            <a:schemeClr val="bg1"/>
          </a:solidFill>
        </p:grpSpPr>
        <p:cxnSp>
          <p:nvCxnSpPr>
            <p:cNvPr id="16" name="Straight Connector 15"/>
            <p:cNvCxnSpPr/>
            <p:nvPr/>
          </p:nvCxnSpPr>
          <p:spPr>
            <a:xfrm flipV="1">
              <a:off x="1932416" y="2982097"/>
              <a:ext cx="115330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2050256" y="2981325"/>
              <a:ext cx="354807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2405064" y="2982097"/>
              <a:ext cx="133349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/>
          <p:cNvGrpSpPr/>
          <p:nvPr/>
        </p:nvGrpSpPr>
        <p:grpSpPr>
          <a:xfrm rot="560028">
            <a:off x="5272096" y="5053884"/>
            <a:ext cx="454498" cy="56185"/>
            <a:chOff x="1932416" y="2981325"/>
            <a:chExt cx="605997" cy="74913"/>
          </a:xfrm>
          <a:solidFill>
            <a:schemeClr val="bg1"/>
          </a:solidFill>
        </p:grpSpPr>
        <p:cxnSp>
          <p:nvCxnSpPr>
            <p:cNvPr id="20" name="Straight Connector 19"/>
            <p:cNvCxnSpPr/>
            <p:nvPr/>
          </p:nvCxnSpPr>
          <p:spPr>
            <a:xfrm flipV="1">
              <a:off x="1932416" y="2982097"/>
              <a:ext cx="115330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2050256" y="2981325"/>
              <a:ext cx="354807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2405064" y="2982097"/>
              <a:ext cx="133349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 rot="322589">
            <a:off x="5339470" y="4612128"/>
            <a:ext cx="454498" cy="56185"/>
            <a:chOff x="1932416" y="2981325"/>
            <a:chExt cx="605997" cy="74913"/>
          </a:xfrm>
          <a:solidFill>
            <a:schemeClr val="bg1"/>
          </a:solidFill>
        </p:grpSpPr>
        <p:cxnSp>
          <p:nvCxnSpPr>
            <p:cNvPr id="24" name="Straight Connector 23"/>
            <p:cNvCxnSpPr/>
            <p:nvPr/>
          </p:nvCxnSpPr>
          <p:spPr>
            <a:xfrm flipV="1">
              <a:off x="1932416" y="2982097"/>
              <a:ext cx="115330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2050256" y="2981325"/>
              <a:ext cx="354807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2405064" y="2982097"/>
              <a:ext cx="133349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/>
          <p:cNvGrpSpPr/>
          <p:nvPr/>
        </p:nvGrpSpPr>
        <p:grpSpPr>
          <a:xfrm rot="18671544">
            <a:off x="4423158" y="2327434"/>
            <a:ext cx="454498" cy="56185"/>
            <a:chOff x="1932416" y="2981325"/>
            <a:chExt cx="605997" cy="74913"/>
          </a:xfrm>
          <a:solidFill>
            <a:schemeClr val="bg1"/>
          </a:solidFill>
        </p:grpSpPr>
        <p:cxnSp>
          <p:nvCxnSpPr>
            <p:cNvPr id="28" name="Straight Connector 27"/>
            <p:cNvCxnSpPr/>
            <p:nvPr/>
          </p:nvCxnSpPr>
          <p:spPr>
            <a:xfrm flipV="1">
              <a:off x="1932416" y="2982097"/>
              <a:ext cx="115330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2050256" y="2981325"/>
              <a:ext cx="354807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2405064" y="2982097"/>
              <a:ext cx="133349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/>
          <p:cNvGrpSpPr/>
          <p:nvPr/>
        </p:nvGrpSpPr>
        <p:grpSpPr>
          <a:xfrm rot="18493238">
            <a:off x="3638157" y="1870233"/>
            <a:ext cx="454498" cy="56185"/>
            <a:chOff x="1932416" y="2981325"/>
            <a:chExt cx="605997" cy="74913"/>
          </a:xfrm>
          <a:solidFill>
            <a:schemeClr val="bg1"/>
          </a:solidFill>
        </p:grpSpPr>
        <p:cxnSp>
          <p:nvCxnSpPr>
            <p:cNvPr id="32" name="Straight Connector 31"/>
            <p:cNvCxnSpPr/>
            <p:nvPr/>
          </p:nvCxnSpPr>
          <p:spPr>
            <a:xfrm flipV="1">
              <a:off x="1932416" y="2982097"/>
              <a:ext cx="115330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2050256" y="2981325"/>
              <a:ext cx="354807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2405064" y="2982097"/>
              <a:ext cx="133349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/>
          <p:cNvGrpSpPr/>
          <p:nvPr/>
        </p:nvGrpSpPr>
        <p:grpSpPr>
          <a:xfrm rot="16200000">
            <a:off x="2215727" y="1382727"/>
            <a:ext cx="454498" cy="56185"/>
            <a:chOff x="1932416" y="2981325"/>
            <a:chExt cx="605997" cy="74913"/>
          </a:xfrm>
          <a:solidFill>
            <a:schemeClr val="bg1"/>
          </a:solidFill>
        </p:grpSpPr>
        <p:cxnSp>
          <p:nvCxnSpPr>
            <p:cNvPr id="36" name="Straight Connector 35"/>
            <p:cNvCxnSpPr/>
            <p:nvPr/>
          </p:nvCxnSpPr>
          <p:spPr>
            <a:xfrm flipV="1">
              <a:off x="1932416" y="2982097"/>
              <a:ext cx="115330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2050256" y="2981325"/>
              <a:ext cx="354807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2405064" y="2982097"/>
              <a:ext cx="133349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/>
          <p:cNvGrpSpPr/>
          <p:nvPr/>
        </p:nvGrpSpPr>
        <p:grpSpPr>
          <a:xfrm rot="14423549">
            <a:off x="877812" y="1827307"/>
            <a:ext cx="454498" cy="56185"/>
            <a:chOff x="1932416" y="2981325"/>
            <a:chExt cx="605997" cy="74913"/>
          </a:xfrm>
          <a:solidFill>
            <a:schemeClr val="bg1"/>
          </a:solidFill>
        </p:grpSpPr>
        <p:cxnSp>
          <p:nvCxnSpPr>
            <p:cNvPr id="40" name="Straight Connector 39"/>
            <p:cNvCxnSpPr/>
            <p:nvPr/>
          </p:nvCxnSpPr>
          <p:spPr>
            <a:xfrm flipV="1">
              <a:off x="1932416" y="2982097"/>
              <a:ext cx="115330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2050256" y="2981325"/>
              <a:ext cx="354807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2405064" y="2982097"/>
              <a:ext cx="133349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Freeform 42"/>
          <p:cNvSpPr/>
          <p:nvPr/>
        </p:nvSpPr>
        <p:spPr>
          <a:xfrm>
            <a:off x="3311611" y="1023545"/>
            <a:ext cx="502127" cy="568933"/>
          </a:xfrm>
          <a:custGeom>
            <a:avLst/>
            <a:gdLst>
              <a:gd name="connsiteX0" fmla="*/ 0 w 669503"/>
              <a:gd name="connsiteY0" fmla="*/ 758577 h 758577"/>
              <a:gd name="connsiteX1" fmla="*/ 164757 w 669503"/>
              <a:gd name="connsiteY1" fmla="*/ 420825 h 758577"/>
              <a:gd name="connsiteX2" fmla="*/ 593124 w 669503"/>
              <a:gd name="connsiteY2" fmla="*/ 66598 h 758577"/>
              <a:gd name="connsiteX3" fmla="*/ 667265 w 669503"/>
              <a:gd name="connsiteY3" fmla="*/ 696 h 758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9503" h="758577">
                <a:moveTo>
                  <a:pt x="0" y="758577"/>
                </a:moveTo>
                <a:cubicBezTo>
                  <a:pt x="32951" y="647366"/>
                  <a:pt x="65903" y="536155"/>
                  <a:pt x="164757" y="420825"/>
                </a:cubicBezTo>
                <a:cubicBezTo>
                  <a:pt x="263611" y="305495"/>
                  <a:pt x="509373" y="136619"/>
                  <a:pt x="593124" y="66598"/>
                </a:cubicBezTo>
                <a:cubicBezTo>
                  <a:pt x="676875" y="-3423"/>
                  <a:pt x="672070" y="-1364"/>
                  <a:pt x="667265" y="696"/>
                </a:cubicBezTo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2" name="Freeform 51"/>
          <p:cNvSpPr/>
          <p:nvPr/>
        </p:nvSpPr>
        <p:spPr>
          <a:xfrm>
            <a:off x="4429897" y="2989443"/>
            <a:ext cx="895865" cy="147629"/>
          </a:xfrm>
          <a:custGeom>
            <a:avLst/>
            <a:gdLst>
              <a:gd name="connsiteX0" fmla="*/ 0 w 1194486"/>
              <a:gd name="connsiteY0" fmla="*/ 196838 h 196838"/>
              <a:gd name="connsiteX1" fmla="*/ 634313 w 1194486"/>
              <a:gd name="connsiteY1" fmla="*/ 7368 h 196838"/>
              <a:gd name="connsiteX2" fmla="*/ 1194486 w 1194486"/>
              <a:gd name="connsiteY2" fmla="*/ 56795 h 196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94486" h="196838">
                <a:moveTo>
                  <a:pt x="0" y="196838"/>
                </a:moveTo>
                <a:cubicBezTo>
                  <a:pt x="217616" y="113773"/>
                  <a:pt x="435232" y="30708"/>
                  <a:pt x="634313" y="7368"/>
                </a:cubicBezTo>
                <a:cubicBezTo>
                  <a:pt x="833394" y="-15972"/>
                  <a:pt x="1013940" y="20411"/>
                  <a:pt x="1194486" y="56795"/>
                </a:cubicBezTo>
              </a:path>
            </a:pathLst>
          </a:custGeom>
          <a:solidFill>
            <a:schemeClr val="bg1"/>
          </a:solidFill>
          <a:ln w="25400">
            <a:solidFill>
              <a:srgbClr val="00B0F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3" name="Freeform 52"/>
          <p:cNvSpPr/>
          <p:nvPr/>
        </p:nvSpPr>
        <p:spPr>
          <a:xfrm>
            <a:off x="6201269" y="1790186"/>
            <a:ext cx="205710" cy="766118"/>
          </a:xfrm>
          <a:custGeom>
            <a:avLst/>
            <a:gdLst>
              <a:gd name="connsiteX0" fmla="*/ 274280 w 274280"/>
              <a:gd name="connsiteY0" fmla="*/ 1021491 h 1021491"/>
              <a:gd name="connsiteX1" fmla="*/ 10669 w 274280"/>
              <a:gd name="connsiteY1" fmla="*/ 436605 h 1021491"/>
              <a:gd name="connsiteX2" fmla="*/ 76572 w 274280"/>
              <a:gd name="connsiteY2" fmla="*/ 0 h 1021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4280" h="1021491">
                <a:moveTo>
                  <a:pt x="274280" y="1021491"/>
                </a:moveTo>
                <a:cubicBezTo>
                  <a:pt x="158950" y="814172"/>
                  <a:pt x="43620" y="606853"/>
                  <a:pt x="10669" y="436605"/>
                </a:cubicBezTo>
                <a:cubicBezTo>
                  <a:pt x="-22282" y="266357"/>
                  <a:pt x="27145" y="133178"/>
                  <a:pt x="76572" y="0"/>
                </a:cubicBezTo>
              </a:path>
            </a:pathLst>
          </a:custGeom>
          <a:solidFill>
            <a:schemeClr val="bg1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6" name="Freeform 55"/>
          <p:cNvSpPr/>
          <p:nvPr/>
        </p:nvSpPr>
        <p:spPr>
          <a:xfrm>
            <a:off x="4528752" y="3551023"/>
            <a:ext cx="741406" cy="179174"/>
          </a:xfrm>
          <a:custGeom>
            <a:avLst/>
            <a:gdLst>
              <a:gd name="connsiteX0" fmla="*/ 0 w 988541"/>
              <a:gd name="connsiteY0" fmla="*/ 238898 h 238898"/>
              <a:gd name="connsiteX1" fmla="*/ 560173 w 988541"/>
              <a:gd name="connsiteY1" fmla="*/ 74141 h 238898"/>
              <a:gd name="connsiteX2" fmla="*/ 988541 w 988541"/>
              <a:gd name="connsiteY2" fmla="*/ 0 h 238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88541" h="238898">
                <a:moveTo>
                  <a:pt x="0" y="238898"/>
                </a:moveTo>
                <a:cubicBezTo>
                  <a:pt x="197708" y="176427"/>
                  <a:pt x="395416" y="113957"/>
                  <a:pt x="560173" y="74141"/>
                </a:cubicBezTo>
                <a:cubicBezTo>
                  <a:pt x="724930" y="34325"/>
                  <a:pt x="856735" y="17162"/>
                  <a:pt x="988541" y="0"/>
                </a:cubicBezTo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7" name="Freeform 56"/>
          <p:cNvSpPr/>
          <p:nvPr/>
        </p:nvSpPr>
        <p:spPr>
          <a:xfrm>
            <a:off x="5387547" y="3448373"/>
            <a:ext cx="939113" cy="535137"/>
          </a:xfrm>
          <a:custGeom>
            <a:avLst/>
            <a:gdLst>
              <a:gd name="connsiteX0" fmla="*/ 0 w 1252151"/>
              <a:gd name="connsiteY0" fmla="*/ 515808 h 713516"/>
              <a:gd name="connsiteX1" fmla="*/ 436605 w 1252151"/>
              <a:gd name="connsiteY1" fmla="*/ 474619 h 713516"/>
              <a:gd name="connsiteX2" fmla="*/ 617838 w 1252151"/>
              <a:gd name="connsiteY2" fmla="*/ 145105 h 713516"/>
              <a:gd name="connsiteX3" fmla="*/ 1013254 w 1252151"/>
              <a:gd name="connsiteY3" fmla="*/ 13300 h 713516"/>
              <a:gd name="connsiteX4" fmla="*/ 1095632 w 1252151"/>
              <a:gd name="connsiteY4" fmla="*/ 449905 h 713516"/>
              <a:gd name="connsiteX5" fmla="*/ 1252151 w 1252151"/>
              <a:gd name="connsiteY5" fmla="*/ 713516 h 713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52151" h="713516">
                <a:moveTo>
                  <a:pt x="0" y="515808"/>
                </a:moveTo>
                <a:cubicBezTo>
                  <a:pt x="166816" y="526105"/>
                  <a:pt x="333632" y="536403"/>
                  <a:pt x="436605" y="474619"/>
                </a:cubicBezTo>
                <a:cubicBezTo>
                  <a:pt x="539578" y="412835"/>
                  <a:pt x="521730" y="221991"/>
                  <a:pt x="617838" y="145105"/>
                </a:cubicBezTo>
                <a:cubicBezTo>
                  <a:pt x="713946" y="68218"/>
                  <a:pt x="933622" y="-37500"/>
                  <a:pt x="1013254" y="13300"/>
                </a:cubicBezTo>
                <a:cubicBezTo>
                  <a:pt x="1092886" y="64100"/>
                  <a:pt x="1055816" y="333202"/>
                  <a:pt x="1095632" y="449905"/>
                </a:cubicBezTo>
                <a:cubicBezTo>
                  <a:pt x="1135448" y="566608"/>
                  <a:pt x="1193799" y="640062"/>
                  <a:pt x="1252151" y="713516"/>
                </a:cubicBezTo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8" name="Freeform 57"/>
          <p:cNvSpPr/>
          <p:nvPr/>
        </p:nvSpPr>
        <p:spPr>
          <a:xfrm>
            <a:off x="4473146" y="4020580"/>
            <a:ext cx="976184" cy="426308"/>
          </a:xfrm>
          <a:custGeom>
            <a:avLst/>
            <a:gdLst>
              <a:gd name="connsiteX0" fmla="*/ 1301578 w 1301578"/>
              <a:gd name="connsiteY0" fmla="*/ 0 h 568411"/>
              <a:gd name="connsiteX1" fmla="*/ 823783 w 1301578"/>
              <a:gd name="connsiteY1" fmla="*/ 362465 h 568411"/>
              <a:gd name="connsiteX2" fmla="*/ 0 w 1301578"/>
              <a:gd name="connsiteY2" fmla="*/ 568411 h 568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01578" h="568411">
                <a:moveTo>
                  <a:pt x="1301578" y="0"/>
                </a:moveTo>
                <a:cubicBezTo>
                  <a:pt x="1171145" y="133865"/>
                  <a:pt x="1040713" y="267730"/>
                  <a:pt x="823783" y="362465"/>
                </a:cubicBezTo>
                <a:cubicBezTo>
                  <a:pt x="606853" y="457200"/>
                  <a:pt x="303426" y="512805"/>
                  <a:pt x="0" y="568411"/>
                </a:cubicBezTo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9" name="Oval 58"/>
          <p:cNvSpPr/>
          <p:nvPr/>
        </p:nvSpPr>
        <p:spPr>
          <a:xfrm>
            <a:off x="6223806" y="3878504"/>
            <a:ext cx="80318" cy="8031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0" name="Oval 59"/>
          <p:cNvSpPr/>
          <p:nvPr/>
        </p:nvSpPr>
        <p:spPr>
          <a:xfrm>
            <a:off x="4672905" y="3633172"/>
            <a:ext cx="80318" cy="8031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1" name="Oval 60"/>
          <p:cNvSpPr/>
          <p:nvPr/>
        </p:nvSpPr>
        <p:spPr>
          <a:xfrm>
            <a:off x="4625155" y="4354213"/>
            <a:ext cx="80318" cy="8031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23485" y="1434938"/>
            <a:ext cx="790832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IHDW1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Ice Harbor (local)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00938" y="1616305"/>
            <a:ext cx="790832" cy="10618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LMNW1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Lower Monumental (local)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779677" y="991540"/>
            <a:ext cx="1041533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HOPW1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Palouse at Hooper (</a:t>
            </a:r>
            <a:r>
              <a:rPr lang="en-US" sz="900" dirty="0" err="1">
                <a:solidFill>
                  <a:prstClr val="black"/>
                </a:solidFill>
                <a:latin typeface="Calibri" panose="020F0502020204030204"/>
              </a:rPr>
              <a:t>unreg</a:t>
            </a: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460713" y="2055025"/>
            <a:ext cx="790832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LGSW1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Little Goose (local)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95763" y="1693962"/>
            <a:ext cx="908602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LGDW1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Lower Granite (local)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63964" y="1640146"/>
            <a:ext cx="908602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PRII1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Potlatch below Little Potlatch</a:t>
            </a:r>
          </a:p>
        </p:txBody>
      </p:sp>
      <p:sp>
        <p:nvSpPr>
          <p:cNvPr id="69" name="Freeform 68"/>
          <p:cNvSpPr/>
          <p:nvPr/>
        </p:nvSpPr>
        <p:spPr>
          <a:xfrm>
            <a:off x="7741508" y="2111461"/>
            <a:ext cx="525162" cy="308919"/>
          </a:xfrm>
          <a:custGeom>
            <a:avLst/>
            <a:gdLst>
              <a:gd name="connsiteX0" fmla="*/ 0 w 700216"/>
              <a:gd name="connsiteY0" fmla="*/ 0 h 411892"/>
              <a:gd name="connsiteX1" fmla="*/ 411892 w 700216"/>
              <a:gd name="connsiteY1" fmla="*/ 271849 h 411892"/>
              <a:gd name="connsiteX2" fmla="*/ 700216 w 700216"/>
              <a:gd name="connsiteY2" fmla="*/ 411892 h 411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0216" h="411892">
                <a:moveTo>
                  <a:pt x="0" y="0"/>
                </a:moveTo>
                <a:cubicBezTo>
                  <a:pt x="147594" y="101600"/>
                  <a:pt x="295189" y="203200"/>
                  <a:pt x="411892" y="271849"/>
                </a:cubicBezTo>
                <a:cubicBezTo>
                  <a:pt x="528595" y="340498"/>
                  <a:pt x="614405" y="376195"/>
                  <a:pt x="700216" y="411892"/>
                </a:cubicBezTo>
              </a:path>
            </a:pathLst>
          </a:custGeom>
          <a:solidFill>
            <a:schemeClr val="bg1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7861716" y="1334117"/>
            <a:ext cx="908602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DWRI1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 err="1">
                <a:solidFill>
                  <a:prstClr val="black"/>
                </a:solidFill>
                <a:latin typeface="Calibri" panose="020F0502020204030204"/>
              </a:rPr>
              <a:t>Dworshak</a:t>
            </a: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 (</a:t>
            </a:r>
            <a:r>
              <a:rPr lang="en-US" sz="900" dirty="0" err="1">
                <a:solidFill>
                  <a:prstClr val="black"/>
                </a:solidFill>
                <a:latin typeface="Calibri" panose="020F0502020204030204"/>
              </a:rPr>
              <a:t>unreg</a:t>
            </a: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644943" y="5337079"/>
            <a:ext cx="1480010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BRNI1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Brownlee (</a:t>
            </a:r>
            <a:r>
              <a:rPr lang="en-US" sz="900" dirty="0" err="1">
                <a:solidFill>
                  <a:prstClr val="black"/>
                </a:solidFill>
                <a:latin typeface="Calibri" panose="020F0502020204030204"/>
              </a:rPr>
              <a:t>unreg</a:t>
            </a: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*BRNI1 = HCDI1 RFC flows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767517" y="4430215"/>
            <a:ext cx="1330944" cy="5078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HCDI1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Hells Canyon (</a:t>
            </a:r>
            <a:r>
              <a:rPr lang="en-US" sz="900" dirty="0" err="1">
                <a:solidFill>
                  <a:prstClr val="black"/>
                </a:solidFill>
                <a:latin typeface="Calibri" panose="020F0502020204030204"/>
              </a:rPr>
              <a:t>unreg</a:t>
            </a: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)</a:t>
            </a:r>
          </a:p>
        </p:txBody>
      </p:sp>
      <p:sp>
        <p:nvSpPr>
          <p:cNvPr id="76" name="Oval 75"/>
          <p:cNvSpPr/>
          <p:nvPr/>
        </p:nvSpPr>
        <p:spPr>
          <a:xfrm>
            <a:off x="5533915" y="4574684"/>
            <a:ext cx="80318" cy="8031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6272847" y="3645757"/>
            <a:ext cx="1330944" cy="5078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WHBI1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Salmon at </a:t>
            </a:r>
            <a:r>
              <a:rPr lang="en-US" sz="900" dirty="0" err="1">
                <a:solidFill>
                  <a:prstClr val="black"/>
                </a:solidFill>
                <a:latin typeface="Calibri" panose="020F0502020204030204"/>
              </a:rPr>
              <a:t>Whitebird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3800395" y="4263057"/>
            <a:ext cx="1330944" cy="5078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IMNO3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 err="1">
                <a:solidFill>
                  <a:prstClr val="black"/>
                </a:solidFill>
                <a:latin typeface="Calibri" panose="020F0502020204030204"/>
              </a:rPr>
              <a:t>Imnaha</a:t>
            </a: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 at </a:t>
            </a:r>
            <a:r>
              <a:rPr lang="en-US" sz="900" dirty="0" err="1">
                <a:solidFill>
                  <a:prstClr val="black"/>
                </a:solidFill>
                <a:latin typeface="Calibri" panose="020F0502020204030204"/>
              </a:rPr>
              <a:t>Imnaha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3436410" y="3399189"/>
            <a:ext cx="1330944" cy="5078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TRYO3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Grande </a:t>
            </a:r>
            <a:r>
              <a:rPr lang="en-US" sz="900" dirty="0" err="1">
                <a:solidFill>
                  <a:prstClr val="black"/>
                </a:solidFill>
                <a:latin typeface="Calibri" panose="020F0502020204030204"/>
              </a:rPr>
              <a:t>Ronde</a:t>
            </a: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 at Troy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918741" y="2669008"/>
            <a:ext cx="1704487" cy="7848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Asotin </a:t>
            </a:r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Ck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at Asotin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USGS 13335050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079861" y="2482069"/>
            <a:ext cx="908602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ORFI1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Clearwater at Orofino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106602" y="5154990"/>
            <a:ext cx="1850408" cy="14773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Non-RFC Forecast Location; inflows to be computed in relation to RFC Location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8" name="Oval 87"/>
          <p:cNvSpPr/>
          <p:nvPr/>
        </p:nvSpPr>
        <p:spPr>
          <a:xfrm>
            <a:off x="6923372" y="4748216"/>
            <a:ext cx="80318" cy="8031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7098462" y="4649875"/>
            <a:ext cx="1850408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RFC Forecast Location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5243414" y="3061612"/>
            <a:ext cx="1330944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ANAW1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Snake near </a:t>
            </a:r>
            <a:r>
              <a:rPr lang="en-US" sz="900" dirty="0" err="1">
                <a:solidFill>
                  <a:prstClr val="black"/>
                </a:solidFill>
                <a:latin typeface="Calibri" panose="020F0502020204030204"/>
              </a:rPr>
              <a:t>Anatone</a:t>
            </a: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 (local)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-28739" y="2687638"/>
            <a:ext cx="4060445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u="sng" dirty="0">
                <a:solidFill>
                  <a:prstClr val="black"/>
                </a:solidFill>
                <a:latin typeface="Calibri" panose="020F0502020204030204"/>
              </a:rPr>
              <a:t>Inflow Equations to Properly Account for Mass Balance: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900" u="sng" dirty="0">
              <a:solidFill>
                <a:prstClr val="black"/>
              </a:solidFill>
              <a:latin typeface="Calibri" panose="020F0502020204030204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*These are total flows, produced by RFC and used as boundary conditions</a:t>
            </a:r>
            <a:endParaRPr lang="en-US" sz="900" u="sng" dirty="0">
              <a:solidFill>
                <a:prstClr val="black"/>
              </a:solidFill>
              <a:latin typeface="Calibri" panose="020F0502020204030204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BRNI1,  ORFI1, DWRI1, PRII1</a:t>
            </a:r>
            <a:r>
              <a:rPr lang="en-US" sz="900" u="sng" dirty="0">
                <a:solidFill>
                  <a:prstClr val="black"/>
                </a:solidFill>
                <a:latin typeface="Calibri" panose="020F0502020204030204"/>
              </a:rPr>
              <a:t>, </a:t>
            </a: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HOPW1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*These are routing </a:t>
            </a:r>
            <a:r>
              <a:rPr lang="en-US" sz="900" dirty="0" err="1">
                <a:solidFill>
                  <a:prstClr val="black"/>
                </a:solidFill>
                <a:latin typeface="Calibri" panose="020F0502020204030204"/>
              </a:rPr>
              <a:t>calcs</a:t>
            </a: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 for local flows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ANAW1</a:t>
            </a:r>
            <a:r>
              <a:rPr lang="en-US" sz="900" baseline="-25000" dirty="0">
                <a:solidFill>
                  <a:prstClr val="black"/>
                </a:solidFill>
                <a:latin typeface="Calibri" panose="020F0502020204030204"/>
              </a:rPr>
              <a:t>local</a:t>
            </a: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 = ANAW1</a:t>
            </a:r>
            <a:r>
              <a:rPr lang="en-US" sz="900" baseline="-25000" dirty="0">
                <a:solidFill>
                  <a:prstClr val="black"/>
                </a:solidFill>
                <a:latin typeface="Calibri" panose="020F0502020204030204"/>
              </a:rPr>
              <a:t>total</a:t>
            </a: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 – HCDI1</a:t>
            </a:r>
            <a:r>
              <a:rPr lang="en-US" sz="900" baseline="-25000" dirty="0">
                <a:solidFill>
                  <a:prstClr val="black"/>
                </a:solidFill>
                <a:latin typeface="Calibri" panose="020F0502020204030204"/>
              </a:rPr>
              <a:t>total,routed</a:t>
            </a: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 (note: HCDI1</a:t>
            </a:r>
            <a:r>
              <a:rPr lang="en-US" sz="900" baseline="-25000" dirty="0">
                <a:solidFill>
                  <a:prstClr val="black"/>
                </a:solidFill>
                <a:latin typeface="Calibri" panose="020F0502020204030204"/>
              </a:rPr>
              <a:t>total</a:t>
            </a: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 =BRNII1</a:t>
            </a:r>
            <a:r>
              <a:rPr lang="en-US" sz="900" baseline="-25000" dirty="0">
                <a:solidFill>
                  <a:prstClr val="black"/>
                </a:solidFill>
                <a:latin typeface="Calibri" panose="020F0502020204030204"/>
              </a:rPr>
              <a:t>total</a:t>
            </a: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LGDW1</a:t>
            </a:r>
            <a:r>
              <a:rPr lang="en-US" sz="900" baseline="-25000" dirty="0">
                <a:solidFill>
                  <a:prstClr val="black"/>
                </a:solidFill>
                <a:latin typeface="Calibri" panose="020F0502020204030204"/>
              </a:rPr>
              <a:t>local</a:t>
            </a: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 = LGDW1</a:t>
            </a:r>
            <a:r>
              <a:rPr lang="en-US" sz="900" baseline="-25000" dirty="0">
                <a:solidFill>
                  <a:prstClr val="black"/>
                </a:solidFill>
                <a:latin typeface="Calibri" panose="020F0502020204030204"/>
              </a:rPr>
              <a:t>total</a:t>
            </a: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 – ANAW1</a:t>
            </a:r>
            <a:r>
              <a:rPr lang="en-US" sz="900" baseline="-25000" dirty="0">
                <a:solidFill>
                  <a:prstClr val="black"/>
                </a:solidFill>
                <a:latin typeface="Calibri" panose="020F0502020204030204"/>
              </a:rPr>
              <a:t>total,routed</a:t>
            </a: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 – SPDI1</a:t>
            </a:r>
            <a:r>
              <a:rPr lang="en-US" sz="900" baseline="-25000" dirty="0">
                <a:solidFill>
                  <a:prstClr val="black"/>
                </a:solidFill>
                <a:latin typeface="Calibri" panose="020F0502020204030204"/>
              </a:rPr>
              <a:t>total,routed</a:t>
            </a: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 -0.16*IMNO3</a:t>
            </a:r>
            <a:r>
              <a:rPr lang="en-US" sz="900" baseline="-25000" dirty="0">
                <a:solidFill>
                  <a:prstClr val="black"/>
                </a:solidFill>
                <a:latin typeface="Calibri" panose="020F0502020204030204"/>
              </a:rPr>
              <a:t>total,routed,Asotin </a:t>
            </a: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(Note: 0.16*IMNO3 = Asotin)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SPDI1</a:t>
            </a:r>
            <a:r>
              <a:rPr lang="en-US" sz="900" baseline="-25000" dirty="0">
                <a:solidFill>
                  <a:prstClr val="black"/>
                </a:solidFill>
                <a:latin typeface="Calibri" panose="020F0502020204030204"/>
              </a:rPr>
              <a:t>local </a:t>
            </a: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= SPDI1</a:t>
            </a:r>
            <a:r>
              <a:rPr lang="en-US" sz="900" baseline="-25000" dirty="0">
                <a:solidFill>
                  <a:prstClr val="black"/>
                </a:solidFill>
                <a:latin typeface="Calibri" panose="020F0502020204030204"/>
              </a:rPr>
              <a:t>total </a:t>
            </a: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–PRII1</a:t>
            </a:r>
            <a:r>
              <a:rPr lang="en-US" sz="900" baseline="-25000" dirty="0">
                <a:solidFill>
                  <a:prstClr val="black"/>
                </a:solidFill>
                <a:latin typeface="Calibri" panose="020F0502020204030204"/>
              </a:rPr>
              <a:t>total,routed</a:t>
            </a: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– 0.14PRII1</a:t>
            </a:r>
            <a:r>
              <a:rPr lang="en-US" sz="900" baseline="-25000" dirty="0">
                <a:solidFill>
                  <a:prstClr val="black"/>
                </a:solidFill>
                <a:latin typeface="Calibri" panose="020F0502020204030204"/>
              </a:rPr>
              <a:t>total,routed,Lapwai</a:t>
            </a: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– ORFI1</a:t>
            </a:r>
            <a:r>
              <a:rPr lang="en-US" sz="900" baseline="-25000" dirty="0">
                <a:solidFill>
                  <a:prstClr val="black"/>
                </a:solidFill>
                <a:latin typeface="Calibri" panose="020F0502020204030204"/>
              </a:rPr>
              <a:t>total,routed</a:t>
            </a: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 – DWRI1</a:t>
            </a:r>
            <a:r>
              <a:rPr lang="en-US" sz="900" baseline="-25000" dirty="0">
                <a:solidFill>
                  <a:prstClr val="black"/>
                </a:solidFill>
                <a:latin typeface="Calibri" panose="020F0502020204030204"/>
              </a:rPr>
              <a:t>total,routed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LGSW1</a:t>
            </a:r>
            <a:r>
              <a:rPr lang="en-US" sz="900" baseline="-25000" dirty="0">
                <a:solidFill>
                  <a:prstClr val="black"/>
                </a:solidFill>
                <a:latin typeface="Calibri" panose="020F0502020204030204"/>
              </a:rPr>
              <a:t>local</a:t>
            </a: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 = LGSW1</a:t>
            </a:r>
            <a:r>
              <a:rPr lang="en-US" sz="900" baseline="-25000" dirty="0">
                <a:solidFill>
                  <a:prstClr val="black"/>
                </a:solidFill>
                <a:latin typeface="Calibri" panose="020F0502020204030204"/>
              </a:rPr>
              <a:t>total</a:t>
            </a: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 - LGDW1</a:t>
            </a:r>
            <a:r>
              <a:rPr lang="en-US" sz="900" baseline="-25000" dirty="0">
                <a:solidFill>
                  <a:prstClr val="black"/>
                </a:solidFill>
                <a:latin typeface="Calibri" panose="020F0502020204030204"/>
              </a:rPr>
              <a:t>total,routed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LMNW1</a:t>
            </a:r>
            <a:r>
              <a:rPr lang="en-US" sz="900" baseline="-25000" dirty="0">
                <a:solidFill>
                  <a:prstClr val="black"/>
                </a:solidFill>
                <a:latin typeface="Calibri" panose="020F0502020204030204"/>
              </a:rPr>
              <a:t>local</a:t>
            </a: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 = LMNW1</a:t>
            </a:r>
            <a:r>
              <a:rPr lang="en-US" sz="900" baseline="-25000" dirty="0">
                <a:solidFill>
                  <a:prstClr val="black"/>
                </a:solidFill>
                <a:latin typeface="Calibri" panose="020F0502020204030204"/>
              </a:rPr>
              <a:t>total</a:t>
            </a: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 – LGSW1</a:t>
            </a:r>
            <a:r>
              <a:rPr lang="en-US" sz="900" baseline="-25000" dirty="0">
                <a:solidFill>
                  <a:prstClr val="black"/>
                </a:solidFill>
                <a:latin typeface="Calibri" panose="020F0502020204030204"/>
              </a:rPr>
              <a:t>total,routed</a:t>
            </a: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 – HOPW1</a:t>
            </a:r>
            <a:r>
              <a:rPr lang="en-US" sz="900" baseline="-25000" dirty="0">
                <a:solidFill>
                  <a:prstClr val="black"/>
                </a:solidFill>
                <a:latin typeface="Calibri" panose="020F0502020204030204"/>
              </a:rPr>
              <a:t>total,routed </a:t>
            </a: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– 0.15*HOPW1</a:t>
            </a:r>
            <a:r>
              <a:rPr lang="en-US" sz="900" baseline="-25000" dirty="0">
                <a:solidFill>
                  <a:prstClr val="black"/>
                </a:solidFill>
                <a:latin typeface="Calibri" panose="020F0502020204030204"/>
              </a:rPr>
              <a:t>total,routed,Tucannon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IHRW1</a:t>
            </a:r>
            <a:r>
              <a:rPr lang="en-US" sz="900" baseline="-25000" dirty="0">
                <a:solidFill>
                  <a:prstClr val="black"/>
                </a:solidFill>
                <a:latin typeface="Calibri" panose="020F0502020204030204"/>
              </a:rPr>
              <a:t>local</a:t>
            </a: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 = IHRW1</a:t>
            </a:r>
            <a:r>
              <a:rPr lang="en-US" sz="900" baseline="-25000" dirty="0">
                <a:solidFill>
                  <a:prstClr val="black"/>
                </a:solidFill>
                <a:latin typeface="Calibri" panose="020F0502020204030204"/>
              </a:rPr>
              <a:t>total</a:t>
            </a: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 – LMNW1</a:t>
            </a:r>
            <a:r>
              <a:rPr lang="en-US" sz="900" baseline="-25000" dirty="0">
                <a:solidFill>
                  <a:prstClr val="black"/>
                </a:solidFill>
                <a:latin typeface="Calibri" panose="020F0502020204030204"/>
              </a:rPr>
              <a:t>total,routed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*These are relationships of locations without ESP data to locations with ESP data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**These are also routed in the local flow calculations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 err="1">
                <a:solidFill>
                  <a:prstClr val="black"/>
                </a:solidFill>
                <a:latin typeface="Calibri" panose="020F0502020204030204"/>
              </a:rPr>
              <a:t>Lapwai</a:t>
            </a: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Calibri" panose="020F0502020204030204"/>
              </a:rPr>
              <a:t>Ck</a:t>
            </a: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 near </a:t>
            </a:r>
            <a:r>
              <a:rPr lang="en-US" sz="900" dirty="0" err="1">
                <a:solidFill>
                  <a:prstClr val="black"/>
                </a:solidFill>
                <a:latin typeface="Calibri" panose="020F0502020204030204"/>
              </a:rPr>
              <a:t>Lapwai</a:t>
            </a: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 = 0.14*PRII1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 err="1">
                <a:solidFill>
                  <a:prstClr val="black"/>
                </a:solidFill>
                <a:latin typeface="Calibri" panose="020F0502020204030204"/>
              </a:rPr>
              <a:t>Tucannon</a:t>
            </a: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 near Starbuck = 0.15*HOPW1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Asotin </a:t>
            </a:r>
            <a:r>
              <a:rPr lang="en-US" sz="900" dirty="0" err="1">
                <a:solidFill>
                  <a:prstClr val="black"/>
                </a:solidFill>
                <a:latin typeface="Calibri" panose="020F0502020204030204"/>
              </a:rPr>
              <a:t>Ck</a:t>
            </a: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 = 0.16*IMNO3</a:t>
            </a:r>
          </a:p>
        </p:txBody>
      </p:sp>
      <p:grpSp>
        <p:nvGrpSpPr>
          <p:cNvPr id="97" name="Group 96"/>
          <p:cNvGrpSpPr/>
          <p:nvPr/>
        </p:nvGrpSpPr>
        <p:grpSpPr>
          <a:xfrm>
            <a:off x="5311204" y="5746315"/>
            <a:ext cx="141841" cy="141841"/>
            <a:chOff x="9313538" y="6135418"/>
            <a:chExt cx="189121" cy="189121"/>
          </a:xfrm>
        </p:grpSpPr>
        <p:sp>
          <p:nvSpPr>
            <p:cNvPr id="95" name="Oval 94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4" name="Oval 93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96" name="TextBox 95"/>
          <p:cNvSpPr txBox="1"/>
          <p:nvPr/>
        </p:nvSpPr>
        <p:spPr>
          <a:xfrm>
            <a:off x="7124953" y="4889737"/>
            <a:ext cx="1850408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CCP Inflow Location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98" name="Group 97"/>
          <p:cNvGrpSpPr/>
          <p:nvPr/>
        </p:nvGrpSpPr>
        <p:grpSpPr>
          <a:xfrm>
            <a:off x="5162677" y="3212350"/>
            <a:ext cx="141841" cy="141841"/>
            <a:chOff x="9313538" y="6135418"/>
            <a:chExt cx="189121" cy="189121"/>
          </a:xfrm>
        </p:grpSpPr>
        <p:sp>
          <p:nvSpPr>
            <p:cNvPr id="99" name="Oval 98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0" name="Oval 99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01" name="Group 100"/>
          <p:cNvGrpSpPr/>
          <p:nvPr/>
        </p:nvGrpSpPr>
        <p:grpSpPr>
          <a:xfrm>
            <a:off x="6899781" y="4974204"/>
            <a:ext cx="141841" cy="141841"/>
            <a:chOff x="9313538" y="6135418"/>
            <a:chExt cx="189121" cy="189121"/>
          </a:xfrm>
        </p:grpSpPr>
        <p:sp>
          <p:nvSpPr>
            <p:cNvPr id="102" name="Oval 101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3" name="Oval 102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04" name="Group 103"/>
          <p:cNvGrpSpPr/>
          <p:nvPr/>
        </p:nvGrpSpPr>
        <p:grpSpPr>
          <a:xfrm>
            <a:off x="8151107" y="2352336"/>
            <a:ext cx="141841" cy="141841"/>
            <a:chOff x="9313538" y="6135418"/>
            <a:chExt cx="189121" cy="189121"/>
          </a:xfrm>
        </p:grpSpPr>
        <p:sp>
          <p:nvSpPr>
            <p:cNvPr id="105" name="Oval 104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6" name="Oval 105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10" name="Group 109"/>
          <p:cNvGrpSpPr/>
          <p:nvPr/>
        </p:nvGrpSpPr>
        <p:grpSpPr>
          <a:xfrm>
            <a:off x="6148265" y="2018412"/>
            <a:ext cx="141841" cy="141841"/>
            <a:chOff x="9313538" y="6135418"/>
            <a:chExt cx="189121" cy="189121"/>
          </a:xfrm>
        </p:grpSpPr>
        <p:sp>
          <p:nvSpPr>
            <p:cNvPr id="111" name="Oval 110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2" name="Oval 111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13" name="Group 112"/>
          <p:cNvGrpSpPr/>
          <p:nvPr/>
        </p:nvGrpSpPr>
        <p:grpSpPr>
          <a:xfrm>
            <a:off x="4565928" y="2273985"/>
            <a:ext cx="141841" cy="141841"/>
            <a:chOff x="9313538" y="6135418"/>
            <a:chExt cx="189121" cy="189121"/>
          </a:xfrm>
        </p:grpSpPr>
        <p:sp>
          <p:nvSpPr>
            <p:cNvPr id="114" name="Oval 113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5" name="Oval 114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16" name="Group 115"/>
          <p:cNvGrpSpPr/>
          <p:nvPr/>
        </p:nvGrpSpPr>
        <p:grpSpPr>
          <a:xfrm>
            <a:off x="3779678" y="1821369"/>
            <a:ext cx="141841" cy="141841"/>
            <a:chOff x="9313538" y="6135418"/>
            <a:chExt cx="189121" cy="189121"/>
          </a:xfrm>
        </p:grpSpPr>
        <p:sp>
          <p:nvSpPr>
            <p:cNvPr id="117" name="Oval 116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8" name="Oval 117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19" name="Group 118"/>
          <p:cNvGrpSpPr/>
          <p:nvPr/>
        </p:nvGrpSpPr>
        <p:grpSpPr>
          <a:xfrm>
            <a:off x="3637837" y="1060260"/>
            <a:ext cx="141841" cy="141841"/>
            <a:chOff x="9313538" y="6135418"/>
            <a:chExt cx="189121" cy="189121"/>
          </a:xfrm>
        </p:grpSpPr>
        <p:sp>
          <p:nvSpPr>
            <p:cNvPr id="120" name="Oval 119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1" name="Oval 120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22" name="Group 121"/>
          <p:cNvGrpSpPr/>
          <p:nvPr/>
        </p:nvGrpSpPr>
        <p:grpSpPr>
          <a:xfrm>
            <a:off x="2343963" y="1331847"/>
            <a:ext cx="141841" cy="141841"/>
            <a:chOff x="9313538" y="6135418"/>
            <a:chExt cx="189121" cy="189121"/>
          </a:xfrm>
        </p:grpSpPr>
        <p:sp>
          <p:nvSpPr>
            <p:cNvPr id="123" name="Oval 122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4" name="Oval 123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25" name="Group 124"/>
          <p:cNvGrpSpPr/>
          <p:nvPr/>
        </p:nvGrpSpPr>
        <p:grpSpPr>
          <a:xfrm>
            <a:off x="1036814" y="1824277"/>
            <a:ext cx="141841" cy="141841"/>
            <a:chOff x="9313538" y="6135418"/>
            <a:chExt cx="189121" cy="189121"/>
          </a:xfrm>
        </p:grpSpPr>
        <p:sp>
          <p:nvSpPr>
            <p:cNvPr id="126" name="Oval 125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7" name="Oval 126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cxnSp>
        <p:nvCxnSpPr>
          <p:cNvPr id="129" name="Straight Connector 128"/>
          <p:cNvCxnSpPr/>
          <p:nvPr/>
        </p:nvCxnSpPr>
        <p:spPr>
          <a:xfrm>
            <a:off x="7042724" y="4296496"/>
            <a:ext cx="455670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/>
          <p:cNvCxnSpPr/>
          <p:nvPr/>
        </p:nvCxnSpPr>
        <p:spPr>
          <a:xfrm>
            <a:off x="7048685" y="4492289"/>
            <a:ext cx="448499" cy="0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7573084" y="4157996"/>
            <a:ext cx="1705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ResSim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Model Reach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541727" y="4426421"/>
            <a:ext cx="1705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Reach Not Modeled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409729" y="2063857"/>
            <a:ext cx="908602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SPDI1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Clearwater at Spalding (local)</a:t>
            </a:r>
          </a:p>
        </p:txBody>
      </p:sp>
      <p:sp>
        <p:nvSpPr>
          <p:cNvPr id="139" name="Freeform 138"/>
          <p:cNvSpPr/>
          <p:nvPr/>
        </p:nvSpPr>
        <p:spPr>
          <a:xfrm rot="10541373">
            <a:off x="2976868" y="1688481"/>
            <a:ext cx="502127" cy="568933"/>
          </a:xfrm>
          <a:custGeom>
            <a:avLst/>
            <a:gdLst>
              <a:gd name="connsiteX0" fmla="*/ 0 w 669503"/>
              <a:gd name="connsiteY0" fmla="*/ 758577 h 758577"/>
              <a:gd name="connsiteX1" fmla="*/ 164757 w 669503"/>
              <a:gd name="connsiteY1" fmla="*/ 420825 h 758577"/>
              <a:gd name="connsiteX2" fmla="*/ 593124 w 669503"/>
              <a:gd name="connsiteY2" fmla="*/ 66598 h 758577"/>
              <a:gd name="connsiteX3" fmla="*/ 667265 w 669503"/>
              <a:gd name="connsiteY3" fmla="*/ 696 h 758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9503" h="758577">
                <a:moveTo>
                  <a:pt x="0" y="758577"/>
                </a:moveTo>
                <a:cubicBezTo>
                  <a:pt x="32951" y="647366"/>
                  <a:pt x="65903" y="536155"/>
                  <a:pt x="164757" y="420825"/>
                </a:cubicBezTo>
                <a:cubicBezTo>
                  <a:pt x="263611" y="305495"/>
                  <a:pt x="509373" y="136619"/>
                  <a:pt x="593124" y="66598"/>
                </a:cubicBezTo>
                <a:cubicBezTo>
                  <a:pt x="676875" y="-3423"/>
                  <a:pt x="672070" y="-1364"/>
                  <a:pt x="667265" y="696"/>
                </a:cubicBezTo>
              </a:path>
            </a:pathLst>
          </a:custGeom>
          <a:solidFill>
            <a:schemeClr val="bg1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1298700" y="815494"/>
            <a:ext cx="1330944" cy="10618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Tucannon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near Starbuck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USGS 13344500</a:t>
            </a:r>
          </a:p>
        </p:txBody>
      </p:sp>
      <p:sp>
        <p:nvSpPr>
          <p:cNvPr id="142" name="Freeform 141"/>
          <p:cNvSpPr/>
          <p:nvPr/>
        </p:nvSpPr>
        <p:spPr>
          <a:xfrm>
            <a:off x="2137719" y="956173"/>
            <a:ext cx="982362" cy="1087326"/>
          </a:xfrm>
          <a:custGeom>
            <a:avLst/>
            <a:gdLst>
              <a:gd name="connsiteX0" fmla="*/ 0 w 1309816"/>
              <a:gd name="connsiteY0" fmla="*/ 214092 h 1449768"/>
              <a:gd name="connsiteX1" fmla="*/ 74140 w 1309816"/>
              <a:gd name="connsiteY1" fmla="*/ 205854 h 1449768"/>
              <a:gd name="connsiteX2" fmla="*/ 1145059 w 1309816"/>
              <a:gd name="connsiteY2" fmla="*/ 49335 h 1449768"/>
              <a:gd name="connsiteX3" fmla="*/ 1136822 w 1309816"/>
              <a:gd name="connsiteY3" fmla="*/ 1186157 h 1449768"/>
              <a:gd name="connsiteX4" fmla="*/ 1309816 w 1309816"/>
              <a:gd name="connsiteY4" fmla="*/ 1449768 h 1449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9816" h="1449768">
                <a:moveTo>
                  <a:pt x="0" y="214092"/>
                </a:moveTo>
                <a:lnTo>
                  <a:pt x="74140" y="205854"/>
                </a:lnTo>
                <a:cubicBezTo>
                  <a:pt x="264983" y="178395"/>
                  <a:pt x="967945" y="-114049"/>
                  <a:pt x="1145059" y="49335"/>
                </a:cubicBezTo>
                <a:cubicBezTo>
                  <a:pt x="1322173" y="212719"/>
                  <a:pt x="1109363" y="952752"/>
                  <a:pt x="1136822" y="1186157"/>
                </a:cubicBezTo>
                <a:cubicBezTo>
                  <a:pt x="1164282" y="1419563"/>
                  <a:pt x="1237049" y="1434665"/>
                  <a:pt x="1309816" y="1449768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43" name="Freeform 142"/>
          <p:cNvSpPr/>
          <p:nvPr/>
        </p:nvSpPr>
        <p:spPr>
          <a:xfrm rot="19540660">
            <a:off x="6511902" y="2481110"/>
            <a:ext cx="205710" cy="766118"/>
          </a:xfrm>
          <a:custGeom>
            <a:avLst/>
            <a:gdLst>
              <a:gd name="connsiteX0" fmla="*/ 274280 w 274280"/>
              <a:gd name="connsiteY0" fmla="*/ 1021491 h 1021491"/>
              <a:gd name="connsiteX1" fmla="*/ 10669 w 274280"/>
              <a:gd name="connsiteY1" fmla="*/ 436605 h 1021491"/>
              <a:gd name="connsiteX2" fmla="*/ 76572 w 274280"/>
              <a:gd name="connsiteY2" fmla="*/ 0 h 1021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4280" h="1021491">
                <a:moveTo>
                  <a:pt x="274280" y="1021491"/>
                </a:moveTo>
                <a:cubicBezTo>
                  <a:pt x="158950" y="814172"/>
                  <a:pt x="43620" y="606853"/>
                  <a:pt x="10669" y="436605"/>
                </a:cubicBezTo>
                <a:cubicBezTo>
                  <a:pt x="-22282" y="266357"/>
                  <a:pt x="27145" y="133178"/>
                  <a:pt x="76572" y="0"/>
                </a:cubicBezTo>
              </a:path>
            </a:pathLst>
          </a:custGeom>
          <a:solidFill>
            <a:schemeClr val="bg1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6671525" y="3066148"/>
            <a:ext cx="1330944" cy="7848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Lapwai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Ck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near </a:t>
            </a:r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Lapwai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USGS 13342450</a:t>
            </a:r>
          </a:p>
        </p:txBody>
      </p:sp>
      <p:grpSp>
        <p:nvGrpSpPr>
          <p:cNvPr id="146" name="Group 145"/>
          <p:cNvGrpSpPr/>
          <p:nvPr/>
        </p:nvGrpSpPr>
        <p:grpSpPr>
          <a:xfrm rot="14423549">
            <a:off x="7738914" y="1984476"/>
            <a:ext cx="454498" cy="56185"/>
            <a:chOff x="1932416" y="2981325"/>
            <a:chExt cx="605997" cy="74913"/>
          </a:xfrm>
          <a:solidFill>
            <a:schemeClr val="bg1"/>
          </a:solidFill>
        </p:grpSpPr>
        <p:cxnSp>
          <p:nvCxnSpPr>
            <p:cNvPr id="147" name="Straight Connector 146"/>
            <p:cNvCxnSpPr/>
            <p:nvPr/>
          </p:nvCxnSpPr>
          <p:spPr>
            <a:xfrm flipV="1">
              <a:off x="1932416" y="2982097"/>
              <a:ext cx="115330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/>
            <p:cNvCxnSpPr/>
            <p:nvPr/>
          </p:nvCxnSpPr>
          <p:spPr>
            <a:xfrm>
              <a:off x="2050256" y="2981325"/>
              <a:ext cx="354807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/>
            <p:cNvCxnSpPr/>
            <p:nvPr/>
          </p:nvCxnSpPr>
          <p:spPr>
            <a:xfrm>
              <a:off x="2405064" y="2982097"/>
              <a:ext cx="133349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7" name="Group 106"/>
          <p:cNvGrpSpPr/>
          <p:nvPr/>
        </p:nvGrpSpPr>
        <p:grpSpPr>
          <a:xfrm>
            <a:off x="8042322" y="1945281"/>
            <a:ext cx="141841" cy="141841"/>
            <a:chOff x="9313538" y="6135418"/>
            <a:chExt cx="189121" cy="189121"/>
          </a:xfrm>
        </p:grpSpPr>
        <p:sp>
          <p:nvSpPr>
            <p:cNvPr id="108" name="Oval 107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9" name="Oval 108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150" name="TextBox 149"/>
          <p:cNvSpPr txBox="1"/>
          <p:nvPr/>
        </p:nvSpPr>
        <p:spPr>
          <a:xfrm>
            <a:off x="5131339" y="892540"/>
            <a:ext cx="348580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100" dirty="0" err="1">
                <a:solidFill>
                  <a:prstClr val="black"/>
                </a:solidFill>
                <a:latin typeface="Calibri" panose="020F0502020204030204"/>
              </a:rPr>
              <a:t>ResSim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: ESP Network Setup</a:t>
            </a:r>
          </a:p>
        </p:txBody>
      </p:sp>
      <p:grpSp>
        <p:nvGrpSpPr>
          <p:cNvPr id="152" name="Group 151"/>
          <p:cNvGrpSpPr/>
          <p:nvPr/>
        </p:nvGrpSpPr>
        <p:grpSpPr>
          <a:xfrm>
            <a:off x="3123311" y="2019258"/>
            <a:ext cx="137609" cy="137609"/>
            <a:chOff x="4164415" y="1549344"/>
            <a:chExt cx="183478" cy="183478"/>
          </a:xfrm>
        </p:grpSpPr>
        <p:sp>
          <p:nvSpPr>
            <p:cNvPr id="151" name="Oval 150"/>
            <p:cNvSpPr/>
            <p:nvPr/>
          </p:nvSpPr>
          <p:spPr>
            <a:xfrm>
              <a:off x="4164415" y="1549344"/>
              <a:ext cx="183478" cy="183478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0" name="Oval 139"/>
            <p:cNvSpPr/>
            <p:nvPr/>
          </p:nvSpPr>
          <p:spPr>
            <a:xfrm>
              <a:off x="4200355" y="1581440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53" name="Group 152"/>
          <p:cNvGrpSpPr/>
          <p:nvPr/>
        </p:nvGrpSpPr>
        <p:grpSpPr>
          <a:xfrm>
            <a:off x="4788508" y="2943523"/>
            <a:ext cx="137609" cy="137609"/>
            <a:chOff x="4164415" y="1549344"/>
            <a:chExt cx="183478" cy="183478"/>
          </a:xfrm>
        </p:grpSpPr>
        <p:sp>
          <p:nvSpPr>
            <p:cNvPr id="154" name="Oval 153"/>
            <p:cNvSpPr/>
            <p:nvPr/>
          </p:nvSpPr>
          <p:spPr>
            <a:xfrm>
              <a:off x="4164415" y="1549344"/>
              <a:ext cx="183478" cy="183478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5" name="Oval 154"/>
            <p:cNvSpPr/>
            <p:nvPr/>
          </p:nvSpPr>
          <p:spPr>
            <a:xfrm>
              <a:off x="4200355" y="1581440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56" name="Group 155"/>
          <p:cNvGrpSpPr/>
          <p:nvPr/>
        </p:nvGrpSpPr>
        <p:grpSpPr>
          <a:xfrm>
            <a:off x="6715978" y="2981251"/>
            <a:ext cx="137609" cy="137609"/>
            <a:chOff x="4164415" y="1549344"/>
            <a:chExt cx="183478" cy="183478"/>
          </a:xfrm>
        </p:grpSpPr>
        <p:sp>
          <p:nvSpPr>
            <p:cNvPr id="157" name="Oval 156"/>
            <p:cNvSpPr/>
            <p:nvPr/>
          </p:nvSpPr>
          <p:spPr>
            <a:xfrm>
              <a:off x="4164415" y="1549344"/>
              <a:ext cx="183478" cy="183478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8" name="Oval 157"/>
            <p:cNvSpPr/>
            <p:nvPr/>
          </p:nvSpPr>
          <p:spPr>
            <a:xfrm>
              <a:off x="4200355" y="1581440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59" name="Group 158"/>
          <p:cNvGrpSpPr/>
          <p:nvPr/>
        </p:nvGrpSpPr>
        <p:grpSpPr>
          <a:xfrm>
            <a:off x="6890475" y="5190346"/>
            <a:ext cx="137609" cy="137609"/>
            <a:chOff x="4164415" y="1549344"/>
            <a:chExt cx="183478" cy="183478"/>
          </a:xfrm>
        </p:grpSpPr>
        <p:sp>
          <p:nvSpPr>
            <p:cNvPr id="160" name="Oval 159"/>
            <p:cNvSpPr/>
            <p:nvPr/>
          </p:nvSpPr>
          <p:spPr>
            <a:xfrm>
              <a:off x="4164415" y="1549344"/>
              <a:ext cx="183478" cy="183478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61" name="Oval 160"/>
            <p:cNvSpPr/>
            <p:nvPr/>
          </p:nvSpPr>
          <p:spPr>
            <a:xfrm>
              <a:off x="4200355" y="1581440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cxnSp>
        <p:nvCxnSpPr>
          <p:cNvPr id="128" name="Straight Connector 127"/>
          <p:cNvCxnSpPr/>
          <p:nvPr/>
        </p:nvCxnSpPr>
        <p:spPr>
          <a:xfrm>
            <a:off x="7041416" y="4107257"/>
            <a:ext cx="455670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/>
          <p:cNvSpPr txBox="1"/>
          <p:nvPr/>
        </p:nvSpPr>
        <p:spPr>
          <a:xfrm>
            <a:off x="7565767" y="3932130"/>
            <a:ext cx="1705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RFC Routing Reach</a:t>
            </a:r>
          </a:p>
        </p:txBody>
      </p:sp>
      <p:sp>
        <p:nvSpPr>
          <p:cNvPr id="8" name="Freeform 7"/>
          <p:cNvSpPr/>
          <p:nvPr/>
        </p:nvSpPr>
        <p:spPr>
          <a:xfrm>
            <a:off x="1143001" y="1332985"/>
            <a:ext cx="1180070" cy="426308"/>
          </a:xfrm>
          <a:custGeom>
            <a:avLst/>
            <a:gdLst>
              <a:gd name="connsiteX0" fmla="*/ 1573427 w 1573427"/>
              <a:gd name="connsiteY0" fmla="*/ 0 h 568410"/>
              <a:gd name="connsiteX1" fmla="*/ 716692 w 1573427"/>
              <a:gd name="connsiteY1" fmla="*/ 189470 h 568410"/>
              <a:gd name="connsiteX2" fmla="*/ 0 w 1573427"/>
              <a:gd name="connsiteY2" fmla="*/ 568410 h 568410"/>
              <a:gd name="connsiteX3" fmla="*/ 0 w 1573427"/>
              <a:gd name="connsiteY3" fmla="*/ 568410 h 568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73427" h="568410">
                <a:moveTo>
                  <a:pt x="1573427" y="0"/>
                </a:moveTo>
                <a:cubicBezTo>
                  <a:pt x="1276178" y="47367"/>
                  <a:pt x="978930" y="94735"/>
                  <a:pt x="716692" y="189470"/>
                </a:cubicBezTo>
                <a:cubicBezTo>
                  <a:pt x="454454" y="284205"/>
                  <a:pt x="0" y="568410"/>
                  <a:pt x="0" y="568410"/>
                </a:cubicBezTo>
                <a:lnTo>
                  <a:pt x="0" y="568410"/>
                </a:lnTo>
              </a:path>
            </a:pathLst>
          </a:cu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Freeform 9"/>
          <p:cNvSpPr/>
          <p:nvPr/>
        </p:nvSpPr>
        <p:spPr>
          <a:xfrm>
            <a:off x="2514336" y="1443489"/>
            <a:ext cx="885780" cy="543697"/>
          </a:xfrm>
          <a:custGeom>
            <a:avLst/>
            <a:gdLst>
              <a:gd name="connsiteX0" fmla="*/ 889687 w 1181040"/>
              <a:gd name="connsiteY0" fmla="*/ 724929 h 724929"/>
              <a:gd name="connsiteX1" fmla="*/ 1128584 w 1181040"/>
              <a:gd name="connsiteY1" fmla="*/ 337751 h 724929"/>
              <a:gd name="connsiteX2" fmla="*/ 0 w 1181040"/>
              <a:gd name="connsiteY2" fmla="*/ 0 h 724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81040" h="724929">
                <a:moveTo>
                  <a:pt x="889687" y="724929"/>
                </a:moveTo>
                <a:cubicBezTo>
                  <a:pt x="1083276" y="591750"/>
                  <a:pt x="1276865" y="458572"/>
                  <a:pt x="1128584" y="337751"/>
                </a:cubicBezTo>
                <a:cubicBezTo>
                  <a:pt x="980303" y="216930"/>
                  <a:pt x="490151" y="108465"/>
                  <a:pt x="0" y="0"/>
                </a:cubicBezTo>
              </a:path>
            </a:pathLst>
          </a:cu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2526223" y="1240818"/>
            <a:ext cx="778475" cy="185025"/>
          </a:xfrm>
          <a:custGeom>
            <a:avLst/>
            <a:gdLst>
              <a:gd name="connsiteX0" fmla="*/ 1037967 w 1037967"/>
              <a:gd name="connsiteY0" fmla="*/ 246700 h 246700"/>
              <a:gd name="connsiteX1" fmla="*/ 469556 w 1037967"/>
              <a:gd name="connsiteY1" fmla="*/ 24279 h 246700"/>
              <a:gd name="connsiteX2" fmla="*/ 0 w 1037967"/>
              <a:gd name="connsiteY2" fmla="*/ 16041 h 24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37967" h="246700">
                <a:moveTo>
                  <a:pt x="1037967" y="246700"/>
                </a:moveTo>
                <a:cubicBezTo>
                  <a:pt x="840258" y="154711"/>
                  <a:pt x="642550" y="62722"/>
                  <a:pt x="469556" y="24279"/>
                </a:cubicBezTo>
                <a:cubicBezTo>
                  <a:pt x="296562" y="-14164"/>
                  <a:pt x="148281" y="938"/>
                  <a:pt x="0" y="16041"/>
                </a:cubicBezTo>
              </a:path>
            </a:pathLst>
          </a:cu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Freeform 11"/>
          <p:cNvSpPr/>
          <p:nvPr/>
        </p:nvSpPr>
        <p:spPr>
          <a:xfrm>
            <a:off x="2551671" y="1332986"/>
            <a:ext cx="1254211" cy="432486"/>
          </a:xfrm>
          <a:custGeom>
            <a:avLst/>
            <a:gdLst>
              <a:gd name="connsiteX0" fmla="*/ 1672281 w 1672281"/>
              <a:gd name="connsiteY0" fmla="*/ 576648 h 576648"/>
              <a:gd name="connsiteX1" fmla="*/ 724930 w 1672281"/>
              <a:gd name="connsiteY1" fmla="*/ 107091 h 576648"/>
              <a:gd name="connsiteX2" fmla="*/ 0 w 1672281"/>
              <a:gd name="connsiteY2" fmla="*/ 0 h 576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72281" h="576648">
                <a:moveTo>
                  <a:pt x="1672281" y="576648"/>
                </a:moveTo>
                <a:cubicBezTo>
                  <a:pt x="1337962" y="389923"/>
                  <a:pt x="1003643" y="203199"/>
                  <a:pt x="724930" y="107091"/>
                </a:cubicBezTo>
                <a:cubicBezTo>
                  <a:pt x="446216" y="10983"/>
                  <a:pt x="223108" y="5491"/>
                  <a:pt x="0" y="0"/>
                </a:cubicBezTo>
              </a:path>
            </a:pathLst>
          </a:cu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Freeform 12"/>
          <p:cNvSpPr/>
          <p:nvPr/>
        </p:nvSpPr>
        <p:spPr>
          <a:xfrm>
            <a:off x="3923270" y="2000250"/>
            <a:ext cx="605481" cy="352168"/>
          </a:xfrm>
          <a:custGeom>
            <a:avLst/>
            <a:gdLst>
              <a:gd name="connsiteX0" fmla="*/ 807308 w 807308"/>
              <a:gd name="connsiteY0" fmla="*/ 469557 h 469557"/>
              <a:gd name="connsiteX1" fmla="*/ 0 w 807308"/>
              <a:gd name="connsiteY1" fmla="*/ 0 h 469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07308" h="469557">
                <a:moveTo>
                  <a:pt x="807308" y="469557"/>
                </a:moveTo>
                <a:lnTo>
                  <a:pt x="0" y="0"/>
                </a:lnTo>
              </a:path>
            </a:pathLst>
          </a:cu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Freeform 13"/>
          <p:cNvSpPr/>
          <p:nvPr/>
        </p:nvSpPr>
        <p:spPr>
          <a:xfrm>
            <a:off x="4738817" y="2327704"/>
            <a:ext cx="1173892" cy="278027"/>
          </a:xfrm>
          <a:custGeom>
            <a:avLst/>
            <a:gdLst>
              <a:gd name="connsiteX0" fmla="*/ 1565189 w 1565189"/>
              <a:gd name="connsiteY0" fmla="*/ 370703 h 370703"/>
              <a:gd name="connsiteX1" fmla="*/ 856735 w 1565189"/>
              <a:gd name="connsiteY1" fmla="*/ 280087 h 370703"/>
              <a:gd name="connsiteX2" fmla="*/ 0 w 1565189"/>
              <a:gd name="connsiteY2" fmla="*/ 0 h 370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65189" h="370703">
                <a:moveTo>
                  <a:pt x="1565189" y="370703"/>
                </a:moveTo>
                <a:cubicBezTo>
                  <a:pt x="1341394" y="356287"/>
                  <a:pt x="1117600" y="341871"/>
                  <a:pt x="856735" y="280087"/>
                </a:cubicBezTo>
                <a:cubicBezTo>
                  <a:pt x="595870" y="218303"/>
                  <a:pt x="297935" y="109151"/>
                  <a:pt x="0" y="0"/>
                </a:cubicBezTo>
              </a:path>
            </a:pathLst>
          </a:cu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5" name="Freeform 44"/>
          <p:cNvSpPr/>
          <p:nvPr/>
        </p:nvSpPr>
        <p:spPr>
          <a:xfrm>
            <a:off x="4744994" y="2463628"/>
            <a:ext cx="694388" cy="524945"/>
          </a:xfrm>
          <a:custGeom>
            <a:avLst/>
            <a:gdLst>
              <a:gd name="connsiteX0" fmla="*/ 296562 w 925850"/>
              <a:gd name="connsiteY0" fmla="*/ 659027 h 699926"/>
              <a:gd name="connsiteX1" fmla="*/ 708454 w 925850"/>
              <a:gd name="connsiteY1" fmla="*/ 675503 h 699926"/>
              <a:gd name="connsiteX2" fmla="*/ 889687 w 925850"/>
              <a:gd name="connsiteY2" fmla="*/ 370703 h 699926"/>
              <a:gd name="connsiteX3" fmla="*/ 0 w 925850"/>
              <a:gd name="connsiteY3" fmla="*/ 0 h 699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5850" h="699926">
                <a:moveTo>
                  <a:pt x="296562" y="659027"/>
                </a:moveTo>
                <a:cubicBezTo>
                  <a:pt x="453081" y="691292"/>
                  <a:pt x="609600" y="723557"/>
                  <a:pt x="708454" y="675503"/>
                </a:cubicBezTo>
                <a:cubicBezTo>
                  <a:pt x="807308" y="627449"/>
                  <a:pt x="1007763" y="483287"/>
                  <a:pt x="889687" y="370703"/>
                </a:cubicBezTo>
                <a:cubicBezTo>
                  <a:pt x="771611" y="258119"/>
                  <a:pt x="385805" y="129059"/>
                  <a:pt x="0" y="0"/>
                </a:cubicBezTo>
              </a:path>
            </a:pathLst>
          </a:cu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6" name="Freeform 45"/>
          <p:cNvSpPr/>
          <p:nvPr/>
        </p:nvSpPr>
        <p:spPr>
          <a:xfrm>
            <a:off x="4769709" y="2395667"/>
            <a:ext cx="772700" cy="784654"/>
          </a:xfrm>
          <a:custGeom>
            <a:avLst/>
            <a:gdLst>
              <a:gd name="connsiteX0" fmla="*/ 733167 w 1030267"/>
              <a:gd name="connsiteY0" fmla="*/ 1046205 h 1046205"/>
              <a:gd name="connsiteX1" fmla="*/ 1021492 w 1030267"/>
              <a:gd name="connsiteY1" fmla="*/ 593124 h 1046205"/>
              <a:gd name="connsiteX2" fmla="*/ 864973 w 1030267"/>
              <a:gd name="connsiteY2" fmla="*/ 288324 h 1046205"/>
              <a:gd name="connsiteX3" fmla="*/ 0 w 1030267"/>
              <a:gd name="connsiteY3" fmla="*/ 0 h 1046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0267" h="1046205">
                <a:moveTo>
                  <a:pt x="733167" y="1046205"/>
                </a:moveTo>
                <a:cubicBezTo>
                  <a:pt x="866345" y="882821"/>
                  <a:pt x="999524" y="719437"/>
                  <a:pt x="1021492" y="593124"/>
                </a:cubicBezTo>
                <a:cubicBezTo>
                  <a:pt x="1043460" y="466811"/>
                  <a:pt x="1035221" y="387178"/>
                  <a:pt x="864973" y="288324"/>
                </a:cubicBezTo>
                <a:cubicBezTo>
                  <a:pt x="694725" y="189470"/>
                  <a:pt x="347362" y="94735"/>
                  <a:pt x="0" y="0"/>
                </a:cubicBezTo>
              </a:path>
            </a:pathLst>
          </a:cu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9" name="Freeform 48"/>
          <p:cNvSpPr/>
          <p:nvPr/>
        </p:nvSpPr>
        <p:spPr>
          <a:xfrm>
            <a:off x="5121708" y="3390345"/>
            <a:ext cx="340391" cy="1176297"/>
          </a:xfrm>
          <a:custGeom>
            <a:avLst/>
            <a:gdLst>
              <a:gd name="connsiteX0" fmla="*/ 444843 w 453854"/>
              <a:gd name="connsiteY0" fmla="*/ 1532237 h 1568396"/>
              <a:gd name="connsiteX1" fmla="*/ 436605 w 453854"/>
              <a:gd name="connsiteY1" fmla="*/ 1466335 h 1568396"/>
              <a:gd name="connsiteX2" fmla="*/ 288324 w 453854"/>
              <a:gd name="connsiteY2" fmla="*/ 667264 h 1568396"/>
              <a:gd name="connsiteX3" fmla="*/ 0 w 453854"/>
              <a:gd name="connsiteY3" fmla="*/ 0 h 1568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3854" h="1568396">
                <a:moveTo>
                  <a:pt x="444843" y="1532237"/>
                </a:moveTo>
                <a:cubicBezTo>
                  <a:pt x="453767" y="1571367"/>
                  <a:pt x="462691" y="1610497"/>
                  <a:pt x="436605" y="1466335"/>
                </a:cubicBezTo>
                <a:cubicBezTo>
                  <a:pt x="410519" y="1322173"/>
                  <a:pt x="361091" y="911653"/>
                  <a:pt x="288324" y="667264"/>
                </a:cubicBezTo>
                <a:cubicBezTo>
                  <a:pt x="215557" y="422875"/>
                  <a:pt x="107778" y="211437"/>
                  <a:pt x="0" y="0"/>
                </a:cubicBezTo>
              </a:path>
            </a:pathLst>
          </a:cu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144" name="Group 143"/>
          <p:cNvGrpSpPr/>
          <p:nvPr/>
        </p:nvGrpSpPr>
        <p:grpSpPr>
          <a:xfrm>
            <a:off x="5971425" y="2585808"/>
            <a:ext cx="141841" cy="141841"/>
            <a:chOff x="9313538" y="6135418"/>
            <a:chExt cx="189121" cy="189121"/>
          </a:xfrm>
        </p:grpSpPr>
        <p:sp>
          <p:nvSpPr>
            <p:cNvPr id="163" name="Oval 162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64" name="Oval 163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2" name="Freeform 1"/>
          <p:cNvSpPr/>
          <p:nvPr/>
        </p:nvSpPr>
        <p:spPr>
          <a:xfrm>
            <a:off x="6128952" y="2173245"/>
            <a:ext cx="282721" cy="426308"/>
          </a:xfrm>
          <a:custGeom>
            <a:avLst/>
            <a:gdLst>
              <a:gd name="connsiteX0" fmla="*/ 197708 w 376961"/>
              <a:gd name="connsiteY0" fmla="*/ 0 h 568411"/>
              <a:gd name="connsiteX1" fmla="*/ 370703 w 376961"/>
              <a:gd name="connsiteY1" fmla="*/ 345990 h 568411"/>
              <a:gd name="connsiteX2" fmla="*/ 0 w 376961"/>
              <a:gd name="connsiteY2" fmla="*/ 568411 h 568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6961" h="568411">
                <a:moveTo>
                  <a:pt x="197708" y="0"/>
                </a:moveTo>
                <a:cubicBezTo>
                  <a:pt x="300681" y="125627"/>
                  <a:pt x="403654" y="251255"/>
                  <a:pt x="370703" y="345990"/>
                </a:cubicBezTo>
                <a:cubicBezTo>
                  <a:pt x="337752" y="440725"/>
                  <a:pt x="168876" y="504568"/>
                  <a:pt x="0" y="568411"/>
                </a:cubicBezTo>
              </a:path>
            </a:pathLst>
          </a:cu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6178379" y="2635179"/>
            <a:ext cx="556054" cy="298007"/>
          </a:xfrm>
          <a:custGeom>
            <a:avLst/>
            <a:gdLst>
              <a:gd name="connsiteX0" fmla="*/ 741405 w 741405"/>
              <a:gd name="connsiteY0" fmla="*/ 397343 h 397343"/>
              <a:gd name="connsiteX1" fmla="*/ 428367 w 741405"/>
              <a:gd name="connsiteY1" fmla="*/ 34878 h 397343"/>
              <a:gd name="connsiteX2" fmla="*/ 0 w 741405"/>
              <a:gd name="connsiteY2" fmla="*/ 34878 h 397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41405" h="397343">
                <a:moveTo>
                  <a:pt x="741405" y="397343"/>
                </a:moveTo>
                <a:cubicBezTo>
                  <a:pt x="646669" y="246316"/>
                  <a:pt x="551934" y="95289"/>
                  <a:pt x="428367" y="34878"/>
                </a:cubicBezTo>
                <a:cubicBezTo>
                  <a:pt x="304799" y="-25533"/>
                  <a:pt x="152399" y="4672"/>
                  <a:pt x="0" y="34878"/>
                </a:cubicBezTo>
              </a:path>
            </a:pathLst>
          </a:cu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6153664" y="2239418"/>
            <a:ext cx="1834979" cy="391027"/>
          </a:xfrm>
          <a:custGeom>
            <a:avLst/>
            <a:gdLst>
              <a:gd name="connsiteX0" fmla="*/ 2446638 w 2446638"/>
              <a:gd name="connsiteY0" fmla="*/ 224807 h 521369"/>
              <a:gd name="connsiteX1" fmla="*/ 1787611 w 2446638"/>
              <a:gd name="connsiteY1" fmla="*/ 10624 h 521369"/>
              <a:gd name="connsiteX2" fmla="*/ 0 w 2446638"/>
              <a:gd name="connsiteY2" fmla="*/ 521369 h 521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6638" h="521369">
                <a:moveTo>
                  <a:pt x="2446638" y="224807"/>
                </a:moveTo>
                <a:cubicBezTo>
                  <a:pt x="2321011" y="93002"/>
                  <a:pt x="2195384" y="-38803"/>
                  <a:pt x="1787611" y="10624"/>
                </a:cubicBezTo>
                <a:cubicBezTo>
                  <a:pt x="1379838" y="60051"/>
                  <a:pt x="689919" y="290710"/>
                  <a:pt x="0" y="521369"/>
                </a:cubicBezTo>
              </a:path>
            </a:pathLst>
          </a:cu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4" name="Freeform 43"/>
          <p:cNvSpPr/>
          <p:nvPr/>
        </p:nvSpPr>
        <p:spPr>
          <a:xfrm>
            <a:off x="6122773" y="1994071"/>
            <a:ext cx="1736125" cy="624017"/>
          </a:xfrm>
          <a:custGeom>
            <a:avLst/>
            <a:gdLst>
              <a:gd name="connsiteX0" fmla="*/ 2314833 w 2314833"/>
              <a:gd name="connsiteY0" fmla="*/ 0 h 832022"/>
              <a:gd name="connsiteX1" fmla="*/ 0 w 2314833"/>
              <a:gd name="connsiteY1" fmla="*/ 832022 h 832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314833" h="832022">
                <a:moveTo>
                  <a:pt x="2314833" y="0"/>
                </a:moveTo>
                <a:lnTo>
                  <a:pt x="0" y="832022"/>
                </a:lnTo>
              </a:path>
            </a:pathLst>
          </a:cu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4870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914400" y="1398463"/>
            <a:ext cx="7211825" cy="1272092"/>
          </a:xfrm>
          <a:custGeom>
            <a:avLst/>
            <a:gdLst>
              <a:gd name="connsiteX0" fmla="*/ 0 w 9615766"/>
              <a:gd name="connsiteY0" fmla="*/ 794145 h 1696122"/>
              <a:gd name="connsiteX1" fmla="*/ 2496065 w 9615766"/>
              <a:gd name="connsiteY1" fmla="*/ 28026 h 1696122"/>
              <a:gd name="connsiteX2" fmla="*/ 6096000 w 9615766"/>
              <a:gd name="connsiteY2" fmla="*/ 1675594 h 1696122"/>
              <a:gd name="connsiteX3" fmla="*/ 9127524 w 9615766"/>
              <a:gd name="connsiteY3" fmla="*/ 942426 h 1696122"/>
              <a:gd name="connsiteX4" fmla="*/ 9572368 w 9615766"/>
              <a:gd name="connsiteY4" fmla="*/ 810621 h 1696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15766" h="1696122">
                <a:moveTo>
                  <a:pt x="0" y="794145"/>
                </a:moveTo>
                <a:cubicBezTo>
                  <a:pt x="740032" y="337631"/>
                  <a:pt x="1480065" y="-118882"/>
                  <a:pt x="2496065" y="28026"/>
                </a:cubicBezTo>
                <a:cubicBezTo>
                  <a:pt x="3512065" y="174934"/>
                  <a:pt x="4990757" y="1523194"/>
                  <a:pt x="6096000" y="1675594"/>
                </a:cubicBezTo>
                <a:cubicBezTo>
                  <a:pt x="7201243" y="1827994"/>
                  <a:pt x="8548129" y="1086588"/>
                  <a:pt x="9127524" y="942426"/>
                </a:cubicBezTo>
                <a:cubicBezTo>
                  <a:pt x="9706919" y="798264"/>
                  <a:pt x="9639643" y="804442"/>
                  <a:pt x="9572368" y="810621"/>
                </a:cubicBezTo>
              </a:path>
            </a:pathLst>
          </a:cu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900">
              <a:solidFill>
                <a:prstClr val="white"/>
              </a:solidFill>
            </a:endParaRPr>
          </a:p>
        </p:txBody>
      </p:sp>
      <p:sp>
        <p:nvSpPr>
          <p:cNvPr id="5" name="Freeform 4"/>
          <p:cNvSpPr/>
          <p:nvPr/>
        </p:nvSpPr>
        <p:spPr>
          <a:xfrm>
            <a:off x="5245350" y="2670554"/>
            <a:ext cx="321370" cy="3185004"/>
          </a:xfrm>
          <a:custGeom>
            <a:avLst/>
            <a:gdLst>
              <a:gd name="connsiteX0" fmla="*/ 543823 w 588646"/>
              <a:gd name="connsiteY0" fmla="*/ 0 h 3855308"/>
              <a:gd name="connsiteX1" fmla="*/ 125 w 588646"/>
              <a:gd name="connsiteY1" fmla="*/ 881448 h 3855308"/>
              <a:gd name="connsiteX2" fmla="*/ 585012 w 588646"/>
              <a:gd name="connsiteY2" fmla="*/ 2125362 h 3855308"/>
              <a:gd name="connsiteX3" fmla="*/ 247260 w 588646"/>
              <a:gd name="connsiteY3" fmla="*/ 3855308 h 3855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8646" h="3855308">
                <a:moveTo>
                  <a:pt x="543823" y="0"/>
                </a:moveTo>
                <a:cubicBezTo>
                  <a:pt x="268541" y="263610"/>
                  <a:pt x="-6740" y="527221"/>
                  <a:pt x="125" y="881448"/>
                </a:cubicBezTo>
                <a:cubicBezTo>
                  <a:pt x="6990" y="1235675"/>
                  <a:pt x="543823" y="1629719"/>
                  <a:pt x="585012" y="2125362"/>
                </a:cubicBezTo>
                <a:cubicBezTo>
                  <a:pt x="626201" y="2621005"/>
                  <a:pt x="304925" y="3568357"/>
                  <a:pt x="247260" y="3855308"/>
                </a:cubicBezTo>
              </a:path>
            </a:pathLst>
          </a:cu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900">
              <a:solidFill>
                <a:prstClr val="white"/>
              </a:solidFill>
            </a:endParaRPr>
          </a:p>
        </p:txBody>
      </p:sp>
      <p:grpSp>
        <p:nvGrpSpPr>
          <p:cNvPr id="15" name="Group 14"/>
          <p:cNvGrpSpPr/>
          <p:nvPr/>
        </p:nvGrpSpPr>
        <p:grpSpPr>
          <a:xfrm rot="484849">
            <a:off x="5178785" y="5699284"/>
            <a:ext cx="454498" cy="56185"/>
            <a:chOff x="1932416" y="2981325"/>
            <a:chExt cx="605997" cy="74913"/>
          </a:xfrm>
          <a:solidFill>
            <a:schemeClr val="bg1"/>
          </a:solidFill>
        </p:grpSpPr>
        <p:cxnSp>
          <p:nvCxnSpPr>
            <p:cNvPr id="16" name="Straight Connector 15"/>
            <p:cNvCxnSpPr/>
            <p:nvPr/>
          </p:nvCxnSpPr>
          <p:spPr>
            <a:xfrm flipV="1">
              <a:off x="1932416" y="2982097"/>
              <a:ext cx="115330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2050256" y="2981325"/>
              <a:ext cx="354807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2405064" y="2982097"/>
              <a:ext cx="133349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/>
          <p:cNvGrpSpPr/>
          <p:nvPr/>
        </p:nvGrpSpPr>
        <p:grpSpPr>
          <a:xfrm rot="560028">
            <a:off x="5272096" y="5053884"/>
            <a:ext cx="454498" cy="56185"/>
            <a:chOff x="1932416" y="2981325"/>
            <a:chExt cx="605997" cy="74913"/>
          </a:xfrm>
          <a:solidFill>
            <a:schemeClr val="bg1"/>
          </a:solidFill>
        </p:grpSpPr>
        <p:cxnSp>
          <p:nvCxnSpPr>
            <p:cNvPr id="20" name="Straight Connector 19"/>
            <p:cNvCxnSpPr/>
            <p:nvPr/>
          </p:nvCxnSpPr>
          <p:spPr>
            <a:xfrm flipV="1">
              <a:off x="1932416" y="2982097"/>
              <a:ext cx="115330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2050256" y="2981325"/>
              <a:ext cx="354807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2405064" y="2982097"/>
              <a:ext cx="133349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 rot="322589">
            <a:off x="5339470" y="4612128"/>
            <a:ext cx="454498" cy="56185"/>
            <a:chOff x="1932416" y="2981325"/>
            <a:chExt cx="605997" cy="74913"/>
          </a:xfrm>
          <a:solidFill>
            <a:schemeClr val="bg1"/>
          </a:solidFill>
        </p:grpSpPr>
        <p:cxnSp>
          <p:nvCxnSpPr>
            <p:cNvPr id="24" name="Straight Connector 23"/>
            <p:cNvCxnSpPr/>
            <p:nvPr/>
          </p:nvCxnSpPr>
          <p:spPr>
            <a:xfrm flipV="1">
              <a:off x="1932416" y="2982097"/>
              <a:ext cx="115330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2050256" y="2981325"/>
              <a:ext cx="354807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2405064" y="2982097"/>
              <a:ext cx="133349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/>
          <p:cNvGrpSpPr/>
          <p:nvPr/>
        </p:nvGrpSpPr>
        <p:grpSpPr>
          <a:xfrm rot="18671544">
            <a:off x="4423158" y="2327434"/>
            <a:ext cx="454498" cy="56185"/>
            <a:chOff x="1932416" y="2981325"/>
            <a:chExt cx="605997" cy="74913"/>
          </a:xfrm>
          <a:solidFill>
            <a:schemeClr val="bg1"/>
          </a:solidFill>
        </p:grpSpPr>
        <p:cxnSp>
          <p:nvCxnSpPr>
            <p:cNvPr id="28" name="Straight Connector 27"/>
            <p:cNvCxnSpPr/>
            <p:nvPr/>
          </p:nvCxnSpPr>
          <p:spPr>
            <a:xfrm flipV="1">
              <a:off x="1932416" y="2982097"/>
              <a:ext cx="115330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2050256" y="2981325"/>
              <a:ext cx="354807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2405064" y="2982097"/>
              <a:ext cx="133349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/>
          <p:cNvGrpSpPr/>
          <p:nvPr/>
        </p:nvGrpSpPr>
        <p:grpSpPr>
          <a:xfrm rot="18493238">
            <a:off x="3638157" y="1870233"/>
            <a:ext cx="454498" cy="56185"/>
            <a:chOff x="1932416" y="2981325"/>
            <a:chExt cx="605997" cy="74913"/>
          </a:xfrm>
          <a:solidFill>
            <a:schemeClr val="bg1"/>
          </a:solidFill>
        </p:grpSpPr>
        <p:cxnSp>
          <p:nvCxnSpPr>
            <p:cNvPr id="32" name="Straight Connector 31"/>
            <p:cNvCxnSpPr/>
            <p:nvPr/>
          </p:nvCxnSpPr>
          <p:spPr>
            <a:xfrm flipV="1">
              <a:off x="1932416" y="2982097"/>
              <a:ext cx="115330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2050256" y="2981325"/>
              <a:ext cx="354807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2405064" y="2982097"/>
              <a:ext cx="133349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/>
          <p:cNvGrpSpPr/>
          <p:nvPr/>
        </p:nvGrpSpPr>
        <p:grpSpPr>
          <a:xfrm rot="16200000">
            <a:off x="2215727" y="1382727"/>
            <a:ext cx="454498" cy="56185"/>
            <a:chOff x="1932416" y="2981325"/>
            <a:chExt cx="605997" cy="74913"/>
          </a:xfrm>
          <a:solidFill>
            <a:schemeClr val="bg1"/>
          </a:solidFill>
        </p:grpSpPr>
        <p:cxnSp>
          <p:nvCxnSpPr>
            <p:cNvPr id="36" name="Straight Connector 35"/>
            <p:cNvCxnSpPr/>
            <p:nvPr/>
          </p:nvCxnSpPr>
          <p:spPr>
            <a:xfrm flipV="1">
              <a:off x="1932416" y="2982097"/>
              <a:ext cx="115330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2050256" y="2981325"/>
              <a:ext cx="354807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2405064" y="2982097"/>
              <a:ext cx="133349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/>
          <p:cNvGrpSpPr/>
          <p:nvPr/>
        </p:nvGrpSpPr>
        <p:grpSpPr>
          <a:xfrm rot="14423549">
            <a:off x="1072037" y="1713882"/>
            <a:ext cx="454498" cy="56185"/>
            <a:chOff x="1932416" y="2981325"/>
            <a:chExt cx="605997" cy="74913"/>
          </a:xfrm>
          <a:solidFill>
            <a:schemeClr val="bg1"/>
          </a:solidFill>
        </p:grpSpPr>
        <p:cxnSp>
          <p:nvCxnSpPr>
            <p:cNvPr id="40" name="Straight Connector 39"/>
            <p:cNvCxnSpPr/>
            <p:nvPr/>
          </p:nvCxnSpPr>
          <p:spPr>
            <a:xfrm flipV="1">
              <a:off x="1932416" y="2982097"/>
              <a:ext cx="115330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2050256" y="2981325"/>
              <a:ext cx="354807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2405064" y="2982097"/>
              <a:ext cx="133349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Freeform 42"/>
          <p:cNvSpPr/>
          <p:nvPr/>
        </p:nvSpPr>
        <p:spPr>
          <a:xfrm rot="1347251">
            <a:off x="3291558" y="1040442"/>
            <a:ext cx="502127" cy="568933"/>
          </a:xfrm>
          <a:custGeom>
            <a:avLst/>
            <a:gdLst>
              <a:gd name="connsiteX0" fmla="*/ 0 w 669503"/>
              <a:gd name="connsiteY0" fmla="*/ 758577 h 758577"/>
              <a:gd name="connsiteX1" fmla="*/ 164757 w 669503"/>
              <a:gd name="connsiteY1" fmla="*/ 420825 h 758577"/>
              <a:gd name="connsiteX2" fmla="*/ 593124 w 669503"/>
              <a:gd name="connsiteY2" fmla="*/ 66598 h 758577"/>
              <a:gd name="connsiteX3" fmla="*/ 667265 w 669503"/>
              <a:gd name="connsiteY3" fmla="*/ 696 h 758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9503" h="758577">
                <a:moveTo>
                  <a:pt x="0" y="758577"/>
                </a:moveTo>
                <a:cubicBezTo>
                  <a:pt x="32951" y="647366"/>
                  <a:pt x="65903" y="536155"/>
                  <a:pt x="164757" y="420825"/>
                </a:cubicBezTo>
                <a:cubicBezTo>
                  <a:pt x="263611" y="305495"/>
                  <a:pt x="509373" y="136619"/>
                  <a:pt x="593124" y="66598"/>
                </a:cubicBezTo>
                <a:cubicBezTo>
                  <a:pt x="676875" y="-3423"/>
                  <a:pt x="672070" y="-1364"/>
                  <a:pt x="667265" y="696"/>
                </a:cubicBezTo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900">
              <a:solidFill>
                <a:prstClr val="white"/>
              </a:solidFill>
            </a:endParaRPr>
          </a:p>
        </p:txBody>
      </p:sp>
      <p:sp>
        <p:nvSpPr>
          <p:cNvPr id="52" name="Freeform 51"/>
          <p:cNvSpPr/>
          <p:nvPr/>
        </p:nvSpPr>
        <p:spPr>
          <a:xfrm>
            <a:off x="4423864" y="2859664"/>
            <a:ext cx="895865" cy="147629"/>
          </a:xfrm>
          <a:custGeom>
            <a:avLst/>
            <a:gdLst>
              <a:gd name="connsiteX0" fmla="*/ 0 w 1194486"/>
              <a:gd name="connsiteY0" fmla="*/ 196838 h 196838"/>
              <a:gd name="connsiteX1" fmla="*/ 634313 w 1194486"/>
              <a:gd name="connsiteY1" fmla="*/ 7368 h 196838"/>
              <a:gd name="connsiteX2" fmla="*/ 1194486 w 1194486"/>
              <a:gd name="connsiteY2" fmla="*/ 56795 h 196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94486" h="196838">
                <a:moveTo>
                  <a:pt x="0" y="196838"/>
                </a:moveTo>
                <a:cubicBezTo>
                  <a:pt x="217616" y="113773"/>
                  <a:pt x="435232" y="30708"/>
                  <a:pt x="634313" y="7368"/>
                </a:cubicBezTo>
                <a:cubicBezTo>
                  <a:pt x="833394" y="-15972"/>
                  <a:pt x="1013940" y="20411"/>
                  <a:pt x="1194486" y="56795"/>
                </a:cubicBezTo>
              </a:path>
            </a:pathLst>
          </a:cu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900">
              <a:solidFill>
                <a:prstClr val="white"/>
              </a:solidFill>
            </a:endParaRPr>
          </a:p>
        </p:txBody>
      </p:sp>
      <p:sp>
        <p:nvSpPr>
          <p:cNvPr id="53" name="Freeform 52"/>
          <p:cNvSpPr/>
          <p:nvPr/>
        </p:nvSpPr>
        <p:spPr>
          <a:xfrm>
            <a:off x="6429872" y="1771651"/>
            <a:ext cx="205710" cy="766118"/>
          </a:xfrm>
          <a:custGeom>
            <a:avLst/>
            <a:gdLst>
              <a:gd name="connsiteX0" fmla="*/ 274280 w 274280"/>
              <a:gd name="connsiteY0" fmla="*/ 1021491 h 1021491"/>
              <a:gd name="connsiteX1" fmla="*/ 10669 w 274280"/>
              <a:gd name="connsiteY1" fmla="*/ 436605 h 1021491"/>
              <a:gd name="connsiteX2" fmla="*/ 76572 w 274280"/>
              <a:gd name="connsiteY2" fmla="*/ 0 h 1021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4280" h="1021491">
                <a:moveTo>
                  <a:pt x="274280" y="1021491"/>
                </a:moveTo>
                <a:cubicBezTo>
                  <a:pt x="158950" y="814172"/>
                  <a:pt x="43620" y="606853"/>
                  <a:pt x="10669" y="436605"/>
                </a:cubicBezTo>
                <a:cubicBezTo>
                  <a:pt x="-22282" y="266357"/>
                  <a:pt x="27145" y="133178"/>
                  <a:pt x="76572" y="0"/>
                </a:cubicBezTo>
              </a:path>
            </a:pathLst>
          </a:cu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900">
              <a:solidFill>
                <a:prstClr val="white"/>
              </a:solidFill>
            </a:endParaRPr>
          </a:p>
        </p:txBody>
      </p:sp>
      <p:sp>
        <p:nvSpPr>
          <p:cNvPr id="56" name="Freeform 55"/>
          <p:cNvSpPr/>
          <p:nvPr/>
        </p:nvSpPr>
        <p:spPr>
          <a:xfrm>
            <a:off x="4469815" y="3371627"/>
            <a:ext cx="741406" cy="179174"/>
          </a:xfrm>
          <a:custGeom>
            <a:avLst/>
            <a:gdLst>
              <a:gd name="connsiteX0" fmla="*/ 0 w 988541"/>
              <a:gd name="connsiteY0" fmla="*/ 238898 h 238898"/>
              <a:gd name="connsiteX1" fmla="*/ 560173 w 988541"/>
              <a:gd name="connsiteY1" fmla="*/ 74141 h 238898"/>
              <a:gd name="connsiteX2" fmla="*/ 988541 w 988541"/>
              <a:gd name="connsiteY2" fmla="*/ 0 h 238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88541" h="238898">
                <a:moveTo>
                  <a:pt x="0" y="238898"/>
                </a:moveTo>
                <a:cubicBezTo>
                  <a:pt x="197708" y="176427"/>
                  <a:pt x="395416" y="113957"/>
                  <a:pt x="560173" y="74141"/>
                </a:cubicBezTo>
                <a:cubicBezTo>
                  <a:pt x="724930" y="34325"/>
                  <a:pt x="856735" y="17162"/>
                  <a:pt x="988541" y="0"/>
                </a:cubicBezTo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900">
              <a:solidFill>
                <a:prstClr val="white"/>
              </a:solidFill>
            </a:endParaRPr>
          </a:p>
        </p:txBody>
      </p:sp>
      <p:sp>
        <p:nvSpPr>
          <p:cNvPr id="57" name="Freeform 56"/>
          <p:cNvSpPr/>
          <p:nvPr/>
        </p:nvSpPr>
        <p:spPr>
          <a:xfrm>
            <a:off x="5387547" y="3448373"/>
            <a:ext cx="939113" cy="535137"/>
          </a:xfrm>
          <a:custGeom>
            <a:avLst/>
            <a:gdLst>
              <a:gd name="connsiteX0" fmla="*/ 0 w 1252151"/>
              <a:gd name="connsiteY0" fmla="*/ 515808 h 713516"/>
              <a:gd name="connsiteX1" fmla="*/ 436605 w 1252151"/>
              <a:gd name="connsiteY1" fmla="*/ 474619 h 713516"/>
              <a:gd name="connsiteX2" fmla="*/ 617838 w 1252151"/>
              <a:gd name="connsiteY2" fmla="*/ 145105 h 713516"/>
              <a:gd name="connsiteX3" fmla="*/ 1013254 w 1252151"/>
              <a:gd name="connsiteY3" fmla="*/ 13300 h 713516"/>
              <a:gd name="connsiteX4" fmla="*/ 1095632 w 1252151"/>
              <a:gd name="connsiteY4" fmla="*/ 449905 h 713516"/>
              <a:gd name="connsiteX5" fmla="*/ 1252151 w 1252151"/>
              <a:gd name="connsiteY5" fmla="*/ 713516 h 713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52151" h="713516">
                <a:moveTo>
                  <a:pt x="0" y="515808"/>
                </a:moveTo>
                <a:cubicBezTo>
                  <a:pt x="166816" y="526105"/>
                  <a:pt x="333632" y="536403"/>
                  <a:pt x="436605" y="474619"/>
                </a:cubicBezTo>
                <a:cubicBezTo>
                  <a:pt x="539578" y="412835"/>
                  <a:pt x="521730" y="221991"/>
                  <a:pt x="617838" y="145105"/>
                </a:cubicBezTo>
                <a:cubicBezTo>
                  <a:pt x="713946" y="68218"/>
                  <a:pt x="933622" y="-37500"/>
                  <a:pt x="1013254" y="13300"/>
                </a:cubicBezTo>
                <a:cubicBezTo>
                  <a:pt x="1092886" y="64100"/>
                  <a:pt x="1055816" y="333202"/>
                  <a:pt x="1095632" y="449905"/>
                </a:cubicBezTo>
                <a:cubicBezTo>
                  <a:pt x="1135448" y="566608"/>
                  <a:pt x="1193799" y="640062"/>
                  <a:pt x="1252151" y="713516"/>
                </a:cubicBezTo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900">
              <a:solidFill>
                <a:prstClr val="white"/>
              </a:solidFill>
            </a:endParaRPr>
          </a:p>
        </p:txBody>
      </p:sp>
      <p:sp>
        <p:nvSpPr>
          <p:cNvPr id="58" name="Freeform 57"/>
          <p:cNvSpPr/>
          <p:nvPr/>
        </p:nvSpPr>
        <p:spPr>
          <a:xfrm>
            <a:off x="4473146" y="4020580"/>
            <a:ext cx="976184" cy="426308"/>
          </a:xfrm>
          <a:custGeom>
            <a:avLst/>
            <a:gdLst>
              <a:gd name="connsiteX0" fmla="*/ 1301578 w 1301578"/>
              <a:gd name="connsiteY0" fmla="*/ 0 h 568411"/>
              <a:gd name="connsiteX1" fmla="*/ 823783 w 1301578"/>
              <a:gd name="connsiteY1" fmla="*/ 362465 h 568411"/>
              <a:gd name="connsiteX2" fmla="*/ 0 w 1301578"/>
              <a:gd name="connsiteY2" fmla="*/ 568411 h 568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01578" h="568411">
                <a:moveTo>
                  <a:pt x="1301578" y="0"/>
                </a:moveTo>
                <a:cubicBezTo>
                  <a:pt x="1171145" y="133865"/>
                  <a:pt x="1040713" y="267730"/>
                  <a:pt x="823783" y="362465"/>
                </a:cubicBezTo>
                <a:cubicBezTo>
                  <a:pt x="606853" y="457200"/>
                  <a:pt x="303426" y="512805"/>
                  <a:pt x="0" y="568411"/>
                </a:cubicBezTo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900">
              <a:solidFill>
                <a:prstClr val="white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83687" y="947988"/>
            <a:ext cx="1056563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Ice </a:t>
            </a:r>
            <a:r>
              <a:rPr lang="en-US" sz="900" dirty="0" err="1">
                <a:solidFill>
                  <a:prstClr val="black"/>
                </a:solidFill>
                <a:latin typeface="Calibri" panose="020F0502020204030204"/>
              </a:rPr>
              <a:t>Harbor_IN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759433" y="1698923"/>
            <a:ext cx="1333909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Lower </a:t>
            </a:r>
            <a:r>
              <a:rPr lang="en-US" sz="900" dirty="0" err="1">
                <a:solidFill>
                  <a:prstClr val="black"/>
                </a:solidFill>
                <a:latin typeface="Calibri" panose="020F0502020204030204"/>
              </a:rPr>
              <a:t>Monumental_IN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6" name="TextBox 65"/>
          <p:cNvSpPr txBox="1"/>
          <p:nvPr/>
        </p:nvSpPr>
        <p:spPr>
          <a:xfrm rot="18666554">
            <a:off x="3609487" y="1191975"/>
            <a:ext cx="1286753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Little </a:t>
            </a:r>
            <a:r>
              <a:rPr lang="en-US" sz="900" dirty="0" err="1">
                <a:solidFill>
                  <a:prstClr val="black"/>
                </a:solidFill>
                <a:latin typeface="Calibri" panose="020F0502020204030204"/>
              </a:rPr>
              <a:t>Goose_IN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7" name="TextBox 66"/>
          <p:cNvSpPr txBox="1"/>
          <p:nvPr/>
        </p:nvSpPr>
        <p:spPr>
          <a:xfrm rot="18581299">
            <a:off x="4445842" y="1564043"/>
            <a:ext cx="1404026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Lower </a:t>
            </a:r>
            <a:r>
              <a:rPr lang="en-US" sz="900" dirty="0" err="1">
                <a:solidFill>
                  <a:prstClr val="black"/>
                </a:solidFill>
                <a:latin typeface="Calibri" panose="020F0502020204030204"/>
              </a:rPr>
              <a:t>Granite_IN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6154736" y="1525691"/>
            <a:ext cx="90860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Potlatch nr </a:t>
            </a:r>
            <a:r>
              <a:rPr lang="en-US" sz="900" dirty="0" err="1">
                <a:solidFill>
                  <a:prstClr val="black"/>
                </a:solidFill>
                <a:latin typeface="Calibri" panose="020F0502020204030204"/>
              </a:rPr>
              <a:t>Spaldng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9" name="Freeform 68"/>
          <p:cNvSpPr/>
          <p:nvPr/>
        </p:nvSpPr>
        <p:spPr>
          <a:xfrm>
            <a:off x="7741508" y="2111461"/>
            <a:ext cx="525162" cy="308919"/>
          </a:xfrm>
          <a:custGeom>
            <a:avLst/>
            <a:gdLst>
              <a:gd name="connsiteX0" fmla="*/ 0 w 700216"/>
              <a:gd name="connsiteY0" fmla="*/ 0 h 411892"/>
              <a:gd name="connsiteX1" fmla="*/ 411892 w 700216"/>
              <a:gd name="connsiteY1" fmla="*/ 271849 h 411892"/>
              <a:gd name="connsiteX2" fmla="*/ 700216 w 700216"/>
              <a:gd name="connsiteY2" fmla="*/ 411892 h 411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0216" h="411892">
                <a:moveTo>
                  <a:pt x="0" y="0"/>
                </a:moveTo>
                <a:cubicBezTo>
                  <a:pt x="147594" y="101600"/>
                  <a:pt x="295189" y="203200"/>
                  <a:pt x="411892" y="271849"/>
                </a:cubicBezTo>
                <a:cubicBezTo>
                  <a:pt x="528595" y="340498"/>
                  <a:pt x="614405" y="376195"/>
                  <a:pt x="700216" y="411892"/>
                </a:cubicBezTo>
              </a:path>
            </a:pathLst>
          </a:cu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900">
              <a:solidFill>
                <a:prstClr val="white"/>
              </a:solidFill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8138902" y="1952915"/>
            <a:ext cx="1331550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 err="1">
                <a:solidFill>
                  <a:prstClr val="black"/>
                </a:solidFill>
                <a:latin typeface="Calibri" panose="020F0502020204030204"/>
              </a:rPr>
              <a:t>Dworshak_IN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5619170" y="5428371"/>
            <a:ext cx="1330944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 err="1">
                <a:solidFill>
                  <a:prstClr val="black"/>
                </a:solidFill>
                <a:latin typeface="Calibri" panose="020F0502020204030204"/>
              </a:rPr>
              <a:t>Brownlee_IN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5761339" y="4504054"/>
            <a:ext cx="1330944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Hells Canyon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22347" y="2906875"/>
            <a:ext cx="1704487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 err="1">
                <a:solidFill>
                  <a:prstClr val="black"/>
                </a:solidFill>
                <a:latin typeface="Calibri" panose="020F0502020204030204"/>
              </a:rPr>
              <a:t>Snake+Asotin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7738767" y="2424968"/>
            <a:ext cx="1312087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Clearwater at Orofino</a:t>
            </a:r>
          </a:p>
        </p:txBody>
      </p:sp>
      <p:sp>
        <p:nvSpPr>
          <p:cNvPr id="88" name="Oval 87"/>
          <p:cNvSpPr/>
          <p:nvPr/>
        </p:nvSpPr>
        <p:spPr>
          <a:xfrm>
            <a:off x="7002566" y="5249713"/>
            <a:ext cx="80318" cy="8031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900">
              <a:solidFill>
                <a:prstClr val="white"/>
              </a:solidFill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7177656" y="5151372"/>
            <a:ext cx="185040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Non-Inflow CCP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5579749" y="4180853"/>
            <a:ext cx="1438392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Snake at Johnson Bar</a:t>
            </a:r>
          </a:p>
        </p:txBody>
      </p:sp>
      <p:grpSp>
        <p:nvGrpSpPr>
          <p:cNvPr id="97" name="Group 96"/>
          <p:cNvGrpSpPr/>
          <p:nvPr/>
        </p:nvGrpSpPr>
        <p:grpSpPr>
          <a:xfrm>
            <a:off x="5311204" y="5746315"/>
            <a:ext cx="141841" cy="141841"/>
            <a:chOff x="9313538" y="6135418"/>
            <a:chExt cx="189121" cy="189121"/>
          </a:xfrm>
        </p:grpSpPr>
        <p:sp>
          <p:nvSpPr>
            <p:cNvPr id="95" name="Oval 94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900">
                <a:solidFill>
                  <a:prstClr val="white"/>
                </a:solidFill>
              </a:endParaRPr>
            </a:p>
          </p:txBody>
        </p:sp>
        <p:sp>
          <p:nvSpPr>
            <p:cNvPr id="94" name="Oval 93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900">
                <a:solidFill>
                  <a:prstClr val="white"/>
                </a:solidFill>
              </a:endParaRPr>
            </a:p>
          </p:txBody>
        </p:sp>
      </p:grpSp>
      <p:sp>
        <p:nvSpPr>
          <p:cNvPr id="96" name="TextBox 95"/>
          <p:cNvSpPr txBox="1"/>
          <p:nvPr/>
        </p:nvSpPr>
        <p:spPr>
          <a:xfrm>
            <a:off x="7204147" y="5391234"/>
            <a:ext cx="1850408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CCP Inflow Location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98" name="Group 97"/>
          <p:cNvGrpSpPr/>
          <p:nvPr/>
        </p:nvGrpSpPr>
        <p:grpSpPr>
          <a:xfrm>
            <a:off x="5142094" y="3286276"/>
            <a:ext cx="141841" cy="141841"/>
            <a:chOff x="9313538" y="6135418"/>
            <a:chExt cx="189121" cy="189121"/>
          </a:xfrm>
        </p:grpSpPr>
        <p:sp>
          <p:nvSpPr>
            <p:cNvPr id="99" name="Oval 98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900">
                <a:solidFill>
                  <a:prstClr val="white"/>
                </a:solidFill>
              </a:endParaRPr>
            </a:p>
          </p:txBody>
        </p:sp>
        <p:sp>
          <p:nvSpPr>
            <p:cNvPr id="100" name="Oval 99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900">
                <a:solidFill>
                  <a:prstClr val="white"/>
                </a:solidFill>
              </a:endParaRPr>
            </a:p>
          </p:txBody>
        </p:sp>
      </p:grpSp>
      <p:grpSp>
        <p:nvGrpSpPr>
          <p:cNvPr id="101" name="Group 100"/>
          <p:cNvGrpSpPr/>
          <p:nvPr/>
        </p:nvGrpSpPr>
        <p:grpSpPr>
          <a:xfrm>
            <a:off x="6978975" y="5475701"/>
            <a:ext cx="141841" cy="141841"/>
            <a:chOff x="9313538" y="6135418"/>
            <a:chExt cx="189121" cy="189121"/>
          </a:xfrm>
        </p:grpSpPr>
        <p:sp>
          <p:nvSpPr>
            <p:cNvPr id="102" name="Oval 101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900">
                <a:solidFill>
                  <a:prstClr val="white"/>
                </a:solidFill>
              </a:endParaRPr>
            </a:p>
          </p:txBody>
        </p:sp>
        <p:sp>
          <p:nvSpPr>
            <p:cNvPr id="103" name="Oval 102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900">
                <a:solidFill>
                  <a:prstClr val="white"/>
                </a:solidFill>
              </a:endParaRPr>
            </a:p>
          </p:txBody>
        </p:sp>
      </p:grpSp>
      <p:grpSp>
        <p:nvGrpSpPr>
          <p:cNvPr id="104" name="Group 103"/>
          <p:cNvGrpSpPr/>
          <p:nvPr/>
        </p:nvGrpSpPr>
        <p:grpSpPr>
          <a:xfrm>
            <a:off x="8151107" y="2352336"/>
            <a:ext cx="141841" cy="141841"/>
            <a:chOff x="9313538" y="6135418"/>
            <a:chExt cx="189121" cy="189121"/>
          </a:xfrm>
        </p:grpSpPr>
        <p:sp>
          <p:nvSpPr>
            <p:cNvPr id="105" name="Oval 104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900">
                <a:solidFill>
                  <a:prstClr val="white"/>
                </a:solidFill>
              </a:endParaRPr>
            </a:p>
          </p:txBody>
        </p:sp>
        <p:sp>
          <p:nvSpPr>
            <p:cNvPr id="106" name="Oval 105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900">
                <a:solidFill>
                  <a:prstClr val="white"/>
                </a:solidFill>
              </a:endParaRPr>
            </a:p>
          </p:txBody>
        </p:sp>
      </p:grpSp>
      <p:grpSp>
        <p:nvGrpSpPr>
          <p:cNvPr id="110" name="Group 109"/>
          <p:cNvGrpSpPr/>
          <p:nvPr/>
        </p:nvGrpSpPr>
        <p:grpSpPr>
          <a:xfrm>
            <a:off x="6376869" y="1999876"/>
            <a:ext cx="141841" cy="141841"/>
            <a:chOff x="9313538" y="6135418"/>
            <a:chExt cx="189121" cy="189121"/>
          </a:xfrm>
        </p:grpSpPr>
        <p:sp>
          <p:nvSpPr>
            <p:cNvPr id="111" name="Oval 110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900">
                <a:solidFill>
                  <a:prstClr val="white"/>
                </a:solidFill>
              </a:endParaRPr>
            </a:p>
          </p:txBody>
        </p:sp>
        <p:sp>
          <p:nvSpPr>
            <p:cNvPr id="112" name="Oval 111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900">
                <a:solidFill>
                  <a:prstClr val="white"/>
                </a:solidFill>
              </a:endParaRPr>
            </a:p>
          </p:txBody>
        </p:sp>
      </p:grpSp>
      <p:grpSp>
        <p:nvGrpSpPr>
          <p:cNvPr id="113" name="Group 112"/>
          <p:cNvGrpSpPr/>
          <p:nvPr/>
        </p:nvGrpSpPr>
        <p:grpSpPr>
          <a:xfrm>
            <a:off x="4565928" y="2273985"/>
            <a:ext cx="141841" cy="141841"/>
            <a:chOff x="9313538" y="6135418"/>
            <a:chExt cx="189121" cy="189121"/>
          </a:xfrm>
        </p:grpSpPr>
        <p:sp>
          <p:nvSpPr>
            <p:cNvPr id="114" name="Oval 113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900">
                <a:solidFill>
                  <a:prstClr val="white"/>
                </a:solidFill>
              </a:endParaRPr>
            </a:p>
          </p:txBody>
        </p:sp>
        <p:sp>
          <p:nvSpPr>
            <p:cNvPr id="115" name="Oval 114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900">
                <a:solidFill>
                  <a:prstClr val="white"/>
                </a:solidFill>
              </a:endParaRPr>
            </a:p>
          </p:txBody>
        </p:sp>
      </p:grpSp>
      <p:grpSp>
        <p:nvGrpSpPr>
          <p:cNvPr id="116" name="Group 115"/>
          <p:cNvGrpSpPr/>
          <p:nvPr/>
        </p:nvGrpSpPr>
        <p:grpSpPr>
          <a:xfrm>
            <a:off x="3779678" y="1821369"/>
            <a:ext cx="141841" cy="141841"/>
            <a:chOff x="9313538" y="6135418"/>
            <a:chExt cx="189121" cy="189121"/>
          </a:xfrm>
        </p:grpSpPr>
        <p:sp>
          <p:nvSpPr>
            <p:cNvPr id="117" name="Oval 116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900">
                <a:solidFill>
                  <a:prstClr val="white"/>
                </a:solidFill>
              </a:endParaRPr>
            </a:p>
          </p:txBody>
        </p:sp>
        <p:sp>
          <p:nvSpPr>
            <p:cNvPr id="118" name="Oval 117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900">
                <a:solidFill>
                  <a:prstClr val="white"/>
                </a:solidFill>
              </a:endParaRPr>
            </a:p>
          </p:txBody>
        </p:sp>
      </p:grpSp>
      <p:grpSp>
        <p:nvGrpSpPr>
          <p:cNvPr id="122" name="Group 121"/>
          <p:cNvGrpSpPr/>
          <p:nvPr/>
        </p:nvGrpSpPr>
        <p:grpSpPr>
          <a:xfrm>
            <a:off x="2343963" y="1331847"/>
            <a:ext cx="141841" cy="141841"/>
            <a:chOff x="9313538" y="6135418"/>
            <a:chExt cx="189121" cy="189121"/>
          </a:xfrm>
        </p:grpSpPr>
        <p:sp>
          <p:nvSpPr>
            <p:cNvPr id="123" name="Oval 122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900">
                <a:solidFill>
                  <a:prstClr val="white"/>
                </a:solidFill>
              </a:endParaRPr>
            </a:p>
          </p:txBody>
        </p:sp>
        <p:sp>
          <p:nvSpPr>
            <p:cNvPr id="124" name="Oval 123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900">
                <a:solidFill>
                  <a:prstClr val="white"/>
                </a:solidFill>
              </a:endParaRPr>
            </a:p>
          </p:txBody>
        </p:sp>
      </p:grpSp>
      <p:grpSp>
        <p:nvGrpSpPr>
          <p:cNvPr id="125" name="Group 124"/>
          <p:cNvGrpSpPr/>
          <p:nvPr/>
        </p:nvGrpSpPr>
        <p:grpSpPr>
          <a:xfrm>
            <a:off x="1231038" y="1710852"/>
            <a:ext cx="141841" cy="141841"/>
            <a:chOff x="9313538" y="6135418"/>
            <a:chExt cx="189121" cy="189121"/>
          </a:xfrm>
        </p:grpSpPr>
        <p:sp>
          <p:nvSpPr>
            <p:cNvPr id="126" name="Oval 125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900">
                <a:solidFill>
                  <a:prstClr val="white"/>
                </a:solidFill>
              </a:endParaRPr>
            </a:p>
          </p:txBody>
        </p:sp>
        <p:sp>
          <p:nvSpPr>
            <p:cNvPr id="127" name="Oval 126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900">
                <a:solidFill>
                  <a:prstClr val="white"/>
                </a:solidFill>
              </a:endParaRPr>
            </a:p>
          </p:txBody>
        </p:sp>
      </p:grpSp>
      <p:cxnSp>
        <p:nvCxnSpPr>
          <p:cNvPr id="129" name="Straight Connector 128"/>
          <p:cNvCxnSpPr/>
          <p:nvPr/>
        </p:nvCxnSpPr>
        <p:spPr>
          <a:xfrm>
            <a:off x="7042724" y="4296496"/>
            <a:ext cx="455670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/>
          <p:cNvCxnSpPr/>
          <p:nvPr/>
        </p:nvCxnSpPr>
        <p:spPr>
          <a:xfrm>
            <a:off x="7049896" y="4567218"/>
            <a:ext cx="448499" cy="0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7573084" y="4157996"/>
            <a:ext cx="1705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ResSim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Model Reach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541727" y="4426421"/>
            <a:ext cx="1705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Reach Not Modeled</a:t>
            </a:r>
          </a:p>
        </p:txBody>
      </p:sp>
      <p:sp>
        <p:nvSpPr>
          <p:cNvPr id="139" name="Freeform 138"/>
          <p:cNvSpPr/>
          <p:nvPr/>
        </p:nvSpPr>
        <p:spPr>
          <a:xfrm rot="10541373">
            <a:off x="2976868" y="1688481"/>
            <a:ext cx="502127" cy="568933"/>
          </a:xfrm>
          <a:custGeom>
            <a:avLst/>
            <a:gdLst>
              <a:gd name="connsiteX0" fmla="*/ 0 w 669503"/>
              <a:gd name="connsiteY0" fmla="*/ 758577 h 758577"/>
              <a:gd name="connsiteX1" fmla="*/ 164757 w 669503"/>
              <a:gd name="connsiteY1" fmla="*/ 420825 h 758577"/>
              <a:gd name="connsiteX2" fmla="*/ 593124 w 669503"/>
              <a:gd name="connsiteY2" fmla="*/ 66598 h 758577"/>
              <a:gd name="connsiteX3" fmla="*/ 667265 w 669503"/>
              <a:gd name="connsiteY3" fmla="*/ 696 h 758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9503" h="758577">
                <a:moveTo>
                  <a:pt x="0" y="758577"/>
                </a:moveTo>
                <a:cubicBezTo>
                  <a:pt x="32951" y="647366"/>
                  <a:pt x="65903" y="536155"/>
                  <a:pt x="164757" y="420825"/>
                </a:cubicBezTo>
                <a:cubicBezTo>
                  <a:pt x="263611" y="305495"/>
                  <a:pt x="509373" y="136619"/>
                  <a:pt x="593124" y="66598"/>
                </a:cubicBezTo>
                <a:cubicBezTo>
                  <a:pt x="676875" y="-3423"/>
                  <a:pt x="672070" y="-1364"/>
                  <a:pt x="667265" y="696"/>
                </a:cubicBezTo>
              </a:path>
            </a:pathLst>
          </a:custGeom>
          <a:solidFill>
            <a:schemeClr val="bg1"/>
          </a:solidFill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900">
              <a:solidFill>
                <a:prstClr val="white"/>
              </a:solidFill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2183857" y="2138699"/>
            <a:ext cx="1330944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 err="1">
                <a:solidFill>
                  <a:prstClr val="black"/>
                </a:solidFill>
                <a:latin typeface="Calibri" panose="020F0502020204030204"/>
              </a:rPr>
              <a:t>Tucannon_HW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3" name="Freeform 142"/>
          <p:cNvSpPr/>
          <p:nvPr/>
        </p:nvSpPr>
        <p:spPr>
          <a:xfrm rot="19540660">
            <a:off x="6511902" y="2481110"/>
            <a:ext cx="205710" cy="766118"/>
          </a:xfrm>
          <a:custGeom>
            <a:avLst/>
            <a:gdLst>
              <a:gd name="connsiteX0" fmla="*/ 274280 w 274280"/>
              <a:gd name="connsiteY0" fmla="*/ 1021491 h 1021491"/>
              <a:gd name="connsiteX1" fmla="*/ 10669 w 274280"/>
              <a:gd name="connsiteY1" fmla="*/ 436605 h 1021491"/>
              <a:gd name="connsiteX2" fmla="*/ 76572 w 274280"/>
              <a:gd name="connsiteY2" fmla="*/ 0 h 1021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4280" h="1021491">
                <a:moveTo>
                  <a:pt x="274280" y="1021491"/>
                </a:moveTo>
                <a:cubicBezTo>
                  <a:pt x="158950" y="814172"/>
                  <a:pt x="43620" y="606853"/>
                  <a:pt x="10669" y="436605"/>
                </a:cubicBezTo>
                <a:cubicBezTo>
                  <a:pt x="-22282" y="266357"/>
                  <a:pt x="27145" y="133178"/>
                  <a:pt x="76572" y="0"/>
                </a:cubicBezTo>
              </a:path>
            </a:pathLst>
          </a:cu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900">
              <a:solidFill>
                <a:prstClr val="white"/>
              </a:solidFill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6671524" y="3066148"/>
            <a:ext cx="2107952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 err="1">
                <a:solidFill>
                  <a:prstClr val="black"/>
                </a:solidFill>
                <a:latin typeface="Calibri" panose="020F0502020204030204"/>
              </a:rPr>
              <a:t>Lapwai</a:t>
            </a: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Calibri" panose="020F0502020204030204"/>
              </a:rPr>
              <a:t>Ck</a:t>
            </a: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 near </a:t>
            </a:r>
            <a:r>
              <a:rPr lang="en-US" sz="900" dirty="0" err="1">
                <a:solidFill>
                  <a:prstClr val="black"/>
                </a:solidFill>
                <a:latin typeface="Calibri" panose="020F0502020204030204"/>
              </a:rPr>
              <a:t>Lapwai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46" name="Group 145"/>
          <p:cNvGrpSpPr/>
          <p:nvPr/>
        </p:nvGrpSpPr>
        <p:grpSpPr>
          <a:xfrm rot="14423549">
            <a:off x="7793046" y="1978575"/>
            <a:ext cx="454498" cy="56185"/>
            <a:chOff x="1932416" y="2981325"/>
            <a:chExt cx="605997" cy="74913"/>
          </a:xfrm>
          <a:solidFill>
            <a:schemeClr val="bg1"/>
          </a:solidFill>
        </p:grpSpPr>
        <p:cxnSp>
          <p:nvCxnSpPr>
            <p:cNvPr id="147" name="Straight Connector 146"/>
            <p:cNvCxnSpPr/>
            <p:nvPr/>
          </p:nvCxnSpPr>
          <p:spPr>
            <a:xfrm flipV="1">
              <a:off x="1932416" y="2982097"/>
              <a:ext cx="115330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/>
            <p:cNvCxnSpPr/>
            <p:nvPr/>
          </p:nvCxnSpPr>
          <p:spPr>
            <a:xfrm>
              <a:off x="2050256" y="2981325"/>
              <a:ext cx="354807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/>
            <p:cNvCxnSpPr/>
            <p:nvPr/>
          </p:nvCxnSpPr>
          <p:spPr>
            <a:xfrm>
              <a:off x="2405064" y="2982097"/>
              <a:ext cx="133349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7" name="Group 106"/>
          <p:cNvGrpSpPr/>
          <p:nvPr/>
        </p:nvGrpSpPr>
        <p:grpSpPr>
          <a:xfrm>
            <a:off x="8042322" y="1945281"/>
            <a:ext cx="141841" cy="141841"/>
            <a:chOff x="9313538" y="6135418"/>
            <a:chExt cx="189121" cy="189121"/>
          </a:xfrm>
        </p:grpSpPr>
        <p:sp>
          <p:nvSpPr>
            <p:cNvPr id="108" name="Oval 107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900">
                <a:solidFill>
                  <a:prstClr val="white"/>
                </a:solidFill>
              </a:endParaRPr>
            </a:p>
          </p:txBody>
        </p:sp>
        <p:sp>
          <p:nvSpPr>
            <p:cNvPr id="109" name="Oval 108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900">
                <a:solidFill>
                  <a:prstClr val="white"/>
                </a:solidFill>
              </a:endParaRPr>
            </a:p>
          </p:txBody>
        </p:sp>
      </p:grpSp>
      <p:sp>
        <p:nvSpPr>
          <p:cNvPr id="150" name="TextBox 149"/>
          <p:cNvSpPr txBox="1"/>
          <p:nvPr/>
        </p:nvSpPr>
        <p:spPr>
          <a:xfrm>
            <a:off x="4432639" y="884841"/>
            <a:ext cx="482127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100" dirty="0" err="1">
                <a:solidFill>
                  <a:prstClr val="black"/>
                </a:solidFill>
                <a:latin typeface="Calibri" panose="020F0502020204030204"/>
              </a:rPr>
              <a:t>ResSim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: Routing Table Names</a:t>
            </a:r>
          </a:p>
        </p:txBody>
      </p:sp>
      <p:grpSp>
        <p:nvGrpSpPr>
          <p:cNvPr id="128" name="Group 127"/>
          <p:cNvGrpSpPr/>
          <p:nvPr/>
        </p:nvGrpSpPr>
        <p:grpSpPr>
          <a:xfrm>
            <a:off x="5382171" y="3960819"/>
            <a:ext cx="141841" cy="141841"/>
            <a:chOff x="9313538" y="6135418"/>
            <a:chExt cx="189121" cy="189121"/>
          </a:xfrm>
        </p:grpSpPr>
        <p:sp>
          <p:nvSpPr>
            <p:cNvPr id="130" name="Oval 129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900">
                <a:solidFill>
                  <a:prstClr val="white"/>
                </a:solidFill>
              </a:endParaRPr>
            </a:p>
          </p:txBody>
        </p:sp>
        <p:sp>
          <p:nvSpPr>
            <p:cNvPr id="131" name="Oval 130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900">
                <a:solidFill>
                  <a:prstClr val="white"/>
                </a:solidFill>
              </a:endParaRPr>
            </a:p>
          </p:txBody>
        </p:sp>
      </p:grpSp>
      <p:grpSp>
        <p:nvGrpSpPr>
          <p:cNvPr id="132" name="Group 131"/>
          <p:cNvGrpSpPr/>
          <p:nvPr/>
        </p:nvGrpSpPr>
        <p:grpSpPr>
          <a:xfrm>
            <a:off x="5311203" y="3771948"/>
            <a:ext cx="141841" cy="141841"/>
            <a:chOff x="9313538" y="6135418"/>
            <a:chExt cx="189121" cy="189121"/>
          </a:xfrm>
        </p:grpSpPr>
        <p:sp>
          <p:nvSpPr>
            <p:cNvPr id="134" name="Oval 133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900">
                <a:solidFill>
                  <a:prstClr val="white"/>
                </a:solidFill>
              </a:endParaRPr>
            </a:p>
          </p:txBody>
        </p:sp>
        <p:sp>
          <p:nvSpPr>
            <p:cNvPr id="151" name="Oval 150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900">
                <a:solidFill>
                  <a:prstClr val="white"/>
                </a:solidFill>
              </a:endParaRPr>
            </a:p>
          </p:txBody>
        </p:sp>
      </p:grpSp>
      <p:sp>
        <p:nvSpPr>
          <p:cNvPr id="152" name="TextBox 151"/>
          <p:cNvSpPr txBox="1"/>
          <p:nvPr/>
        </p:nvSpPr>
        <p:spPr>
          <a:xfrm>
            <a:off x="5415161" y="3705720"/>
            <a:ext cx="1440830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 err="1">
                <a:solidFill>
                  <a:prstClr val="black"/>
                </a:solidFill>
                <a:latin typeface="Calibri" panose="020F0502020204030204"/>
              </a:rPr>
              <a:t>Snake+Salmon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5518741" y="3881954"/>
            <a:ext cx="1440830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 err="1">
                <a:solidFill>
                  <a:prstClr val="black"/>
                </a:solidFill>
                <a:latin typeface="Calibri" panose="020F0502020204030204"/>
              </a:rPr>
              <a:t>Snake+Imnaha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54" name="Group 153"/>
          <p:cNvGrpSpPr/>
          <p:nvPr/>
        </p:nvGrpSpPr>
        <p:grpSpPr>
          <a:xfrm>
            <a:off x="5304365" y="2850352"/>
            <a:ext cx="141841" cy="141841"/>
            <a:chOff x="9313538" y="6135418"/>
            <a:chExt cx="189121" cy="189121"/>
          </a:xfrm>
        </p:grpSpPr>
        <p:sp>
          <p:nvSpPr>
            <p:cNvPr id="155" name="Oval 154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900">
                <a:solidFill>
                  <a:prstClr val="white"/>
                </a:solidFill>
              </a:endParaRPr>
            </a:p>
          </p:txBody>
        </p:sp>
        <p:sp>
          <p:nvSpPr>
            <p:cNvPr id="156" name="Oval 155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900">
                <a:solidFill>
                  <a:prstClr val="white"/>
                </a:solidFill>
              </a:endParaRPr>
            </a:p>
          </p:txBody>
        </p:sp>
      </p:grpSp>
      <p:grpSp>
        <p:nvGrpSpPr>
          <p:cNvPr id="157" name="Group 156"/>
          <p:cNvGrpSpPr/>
          <p:nvPr/>
        </p:nvGrpSpPr>
        <p:grpSpPr>
          <a:xfrm>
            <a:off x="4350212" y="2948582"/>
            <a:ext cx="141841" cy="141841"/>
            <a:chOff x="9313538" y="6135418"/>
            <a:chExt cx="189121" cy="189121"/>
          </a:xfrm>
        </p:grpSpPr>
        <p:sp>
          <p:nvSpPr>
            <p:cNvPr id="158" name="Oval 157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900">
                <a:solidFill>
                  <a:prstClr val="white"/>
                </a:solidFill>
              </a:endParaRPr>
            </a:p>
          </p:txBody>
        </p:sp>
        <p:sp>
          <p:nvSpPr>
            <p:cNvPr id="159" name="Oval 158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900">
                <a:solidFill>
                  <a:prstClr val="white"/>
                </a:solidFill>
              </a:endParaRPr>
            </a:p>
          </p:txBody>
        </p:sp>
      </p:grpSp>
      <p:sp>
        <p:nvSpPr>
          <p:cNvPr id="160" name="TextBox 159"/>
          <p:cNvSpPr txBox="1"/>
          <p:nvPr/>
        </p:nvSpPr>
        <p:spPr>
          <a:xfrm>
            <a:off x="2924628" y="3331601"/>
            <a:ext cx="1353743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Asotin </a:t>
            </a:r>
            <a:r>
              <a:rPr lang="en-US" sz="900" dirty="0" err="1">
                <a:solidFill>
                  <a:prstClr val="black"/>
                </a:solidFill>
                <a:latin typeface="Calibri" panose="020F0502020204030204"/>
              </a:rPr>
              <a:t>Ck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1" name="Oval 160"/>
          <p:cNvSpPr/>
          <p:nvPr/>
        </p:nvSpPr>
        <p:spPr>
          <a:xfrm>
            <a:off x="5227258" y="3118108"/>
            <a:ext cx="80318" cy="8031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900">
              <a:solidFill>
                <a:prstClr val="white"/>
              </a:solidFill>
            </a:endParaRPr>
          </a:p>
        </p:txBody>
      </p:sp>
      <p:sp>
        <p:nvSpPr>
          <p:cNvPr id="162" name="TextBox 161"/>
          <p:cNvSpPr txBox="1"/>
          <p:nvPr/>
        </p:nvSpPr>
        <p:spPr>
          <a:xfrm>
            <a:off x="5248569" y="3226262"/>
            <a:ext cx="1704487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 err="1">
                <a:solidFill>
                  <a:prstClr val="black"/>
                </a:solidFill>
                <a:latin typeface="Calibri" panose="020F0502020204030204"/>
              </a:rPr>
              <a:t>Snake+Grande</a:t>
            </a: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Calibri" panose="020F0502020204030204"/>
              </a:rPr>
              <a:t>Ronde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63" name="Group 162"/>
          <p:cNvGrpSpPr/>
          <p:nvPr/>
        </p:nvGrpSpPr>
        <p:grpSpPr>
          <a:xfrm>
            <a:off x="5461500" y="2593671"/>
            <a:ext cx="141841" cy="141841"/>
            <a:chOff x="9313538" y="6135418"/>
            <a:chExt cx="189121" cy="189121"/>
          </a:xfrm>
        </p:grpSpPr>
        <p:sp>
          <p:nvSpPr>
            <p:cNvPr id="164" name="Oval 163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900">
                <a:solidFill>
                  <a:prstClr val="white"/>
                </a:solidFill>
              </a:endParaRPr>
            </a:p>
          </p:txBody>
        </p:sp>
        <p:sp>
          <p:nvSpPr>
            <p:cNvPr id="165" name="Oval 164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900">
                <a:solidFill>
                  <a:prstClr val="white"/>
                </a:solidFill>
              </a:endParaRPr>
            </a:p>
          </p:txBody>
        </p:sp>
      </p:grpSp>
      <p:sp>
        <p:nvSpPr>
          <p:cNvPr id="167" name="TextBox 166"/>
          <p:cNvSpPr txBox="1"/>
          <p:nvPr/>
        </p:nvSpPr>
        <p:spPr>
          <a:xfrm rot="16370156">
            <a:off x="4738569" y="1635593"/>
            <a:ext cx="1704487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 err="1">
                <a:solidFill>
                  <a:prstClr val="black"/>
                </a:solidFill>
                <a:latin typeface="Calibri" panose="020F0502020204030204"/>
              </a:rPr>
              <a:t>Snake+Clearwater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68" name="Group 167"/>
          <p:cNvGrpSpPr/>
          <p:nvPr/>
        </p:nvGrpSpPr>
        <p:grpSpPr>
          <a:xfrm>
            <a:off x="3071180" y="1483638"/>
            <a:ext cx="141841" cy="141841"/>
            <a:chOff x="9313538" y="6135418"/>
            <a:chExt cx="189121" cy="189121"/>
          </a:xfrm>
        </p:grpSpPr>
        <p:sp>
          <p:nvSpPr>
            <p:cNvPr id="169" name="Oval 168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900">
                <a:solidFill>
                  <a:prstClr val="white"/>
                </a:solidFill>
              </a:endParaRPr>
            </a:p>
          </p:txBody>
        </p:sp>
        <p:sp>
          <p:nvSpPr>
            <p:cNvPr id="170" name="Oval 169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900">
                <a:solidFill>
                  <a:prstClr val="white"/>
                </a:solidFill>
              </a:endParaRPr>
            </a:p>
          </p:txBody>
        </p:sp>
      </p:grpSp>
      <p:grpSp>
        <p:nvGrpSpPr>
          <p:cNvPr id="171" name="Group 170"/>
          <p:cNvGrpSpPr/>
          <p:nvPr/>
        </p:nvGrpSpPr>
        <p:grpSpPr>
          <a:xfrm>
            <a:off x="3029987" y="2111461"/>
            <a:ext cx="141841" cy="141841"/>
            <a:chOff x="9313538" y="6135418"/>
            <a:chExt cx="189121" cy="189121"/>
          </a:xfrm>
        </p:grpSpPr>
        <p:sp>
          <p:nvSpPr>
            <p:cNvPr id="172" name="Oval 171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900">
                <a:solidFill>
                  <a:prstClr val="white"/>
                </a:solidFill>
              </a:endParaRPr>
            </a:p>
          </p:txBody>
        </p:sp>
        <p:sp>
          <p:nvSpPr>
            <p:cNvPr id="173" name="Oval 172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900">
                <a:solidFill>
                  <a:prstClr val="white"/>
                </a:solidFill>
              </a:endParaRPr>
            </a:p>
          </p:txBody>
        </p:sp>
      </p:grpSp>
      <p:grpSp>
        <p:nvGrpSpPr>
          <p:cNvPr id="174" name="Group 173"/>
          <p:cNvGrpSpPr/>
          <p:nvPr/>
        </p:nvGrpSpPr>
        <p:grpSpPr>
          <a:xfrm>
            <a:off x="801355" y="1966497"/>
            <a:ext cx="141841" cy="141841"/>
            <a:chOff x="9313538" y="6135418"/>
            <a:chExt cx="189121" cy="189121"/>
          </a:xfrm>
        </p:grpSpPr>
        <p:sp>
          <p:nvSpPr>
            <p:cNvPr id="175" name="Oval 174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900">
                <a:solidFill>
                  <a:prstClr val="white"/>
                </a:solidFill>
              </a:endParaRPr>
            </a:p>
          </p:txBody>
        </p:sp>
        <p:sp>
          <p:nvSpPr>
            <p:cNvPr id="176" name="Oval 175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900">
                <a:solidFill>
                  <a:prstClr val="white"/>
                </a:solidFill>
              </a:endParaRPr>
            </a:p>
          </p:txBody>
        </p:sp>
      </p:grpSp>
      <p:sp>
        <p:nvSpPr>
          <p:cNvPr id="177" name="TextBox 176"/>
          <p:cNvSpPr txBox="1"/>
          <p:nvPr/>
        </p:nvSpPr>
        <p:spPr>
          <a:xfrm>
            <a:off x="76761" y="2092762"/>
            <a:ext cx="1423556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 err="1">
                <a:solidFill>
                  <a:prstClr val="black"/>
                </a:solidFill>
                <a:latin typeface="Calibri" panose="020F0502020204030204"/>
              </a:rPr>
              <a:t>Columbia+Snake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8" name="TextBox 177"/>
          <p:cNvSpPr txBox="1"/>
          <p:nvPr/>
        </p:nvSpPr>
        <p:spPr>
          <a:xfrm rot="18525325">
            <a:off x="2807092" y="809945"/>
            <a:ext cx="1330944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 err="1">
                <a:solidFill>
                  <a:prstClr val="black"/>
                </a:solidFill>
                <a:latin typeface="Calibri" panose="020F0502020204030204"/>
              </a:rPr>
              <a:t>Snake+Palouse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79" name="Group 178"/>
          <p:cNvGrpSpPr/>
          <p:nvPr/>
        </p:nvGrpSpPr>
        <p:grpSpPr>
          <a:xfrm>
            <a:off x="5204239" y="3465115"/>
            <a:ext cx="141841" cy="141841"/>
            <a:chOff x="9313538" y="6135418"/>
            <a:chExt cx="189121" cy="189121"/>
          </a:xfrm>
        </p:grpSpPr>
        <p:sp>
          <p:nvSpPr>
            <p:cNvPr id="180" name="Oval 179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900">
                <a:solidFill>
                  <a:prstClr val="white"/>
                </a:solidFill>
              </a:endParaRPr>
            </a:p>
          </p:txBody>
        </p:sp>
        <p:sp>
          <p:nvSpPr>
            <p:cNvPr id="181" name="Oval 180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900">
                <a:solidFill>
                  <a:prstClr val="white"/>
                </a:solidFill>
              </a:endParaRPr>
            </a:p>
          </p:txBody>
        </p:sp>
      </p:grpSp>
      <p:sp>
        <p:nvSpPr>
          <p:cNvPr id="182" name="TextBox 181"/>
          <p:cNvSpPr txBox="1"/>
          <p:nvPr/>
        </p:nvSpPr>
        <p:spPr>
          <a:xfrm>
            <a:off x="6423000" y="3509824"/>
            <a:ext cx="1704487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Snake </a:t>
            </a:r>
            <a:r>
              <a:rPr lang="en-US" sz="900" dirty="0" err="1">
                <a:solidFill>
                  <a:prstClr val="black"/>
                </a:solidFill>
                <a:latin typeface="Calibri" panose="020F0502020204030204"/>
              </a:rPr>
              <a:t>bl</a:t>
            </a: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Calibri" panose="020F0502020204030204"/>
              </a:rPr>
              <a:t>McDuff</a:t>
            </a: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 Rapids</a:t>
            </a:r>
          </a:p>
        </p:txBody>
      </p:sp>
      <p:sp>
        <p:nvSpPr>
          <p:cNvPr id="2" name="Freeform 1"/>
          <p:cNvSpPr/>
          <p:nvPr/>
        </p:nvSpPr>
        <p:spPr>
          <a:xfrm>
            <a:off x="5375189" y="3376857"/>
            <a:ext cx="1068860" cy="322447"/>
          </a:xfrm>
          <a:custGeom>
            <a:avLst/>
            <a:gdLst>
              <a:gd name="connsiteX0" fmla="*/ 1425146 w 1425146"/>
              <a:gd name="connsiteY0" fmla="*/ 429929 h 429929"/>
              <a:gd name="connsiteX1" fmla="*/ 1128584 w 1425146"/>
              <a:gd name="connsiteY1" fmla="*/ 9800 h 429929"/>
              <a:gd name="connsiteX2" fmla="*/ 0 w 1425146"/>
              <a:gd name="connsiteY2" fmla="*/ 174556 h 429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25146" h="429929">
                <a:moveTo>
                  <a:pt x="1425146" y="429929"/>
                </a:moveTo>
                <a:cubicBezTo>
                  <a:pt x="1395627" y="241145"/>
                  <a:pt x="1366108" y="52362"/>
                  <a:pt x="1128584" y="9800"/>
                </a:cubicBezTo>
                <a:cubicBezTo>
                  <a:pt x="891060" y="-32762"/>
                  <a:pt x="445530" y="70897"/>
                  <a:pt x="0" y="174556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900">
              <a:solidFill>
                <a:prstClr val="white"/>
              </a:solidFill>
            </a:endParaRPr>
          </a:p>
        </p:txBody>
      </p:sp>
      <p:grpSp>
        <p:nvGrpSpPr>
          <p:cNvPr id="183" name="Group 182"/>
          <p:cNvGrpSpPr/>
          <p:nvPr/>
        </p:nvGrpSpPr>
        <p:grpSpPr>
          <a:xfrm>
            <a:off x="6693779" y="2974552"/>
            <a:ext cx="141841" cy="141841"/>
            <a:chOff x="9313538" y="6135418"/>
            <a:chExt cx="189121" cy="189121"/>
          </a:xfrm>
        </p:grpSpPr>
        <p:sp>
          <p:nvSpPr>
            <p:cNvPr id="184" name="Oval 183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900">
                <a:solidFill>
                  <a:prstClr val="white"/>
                </a:solidFill>
              </a:endParaRPr>
            </a:p>
          </p:txBody>
        </p:sp>
        <p:sp>
          <p:nvSpPr>
            <p:cNvPr id="185" name="Oval 184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900">
                <a:solidFill>
                  <a:prstClr val="white"/>
                </a:solidFill>
              </a:endParaRPr>
            </a:p>
          </p:txBody>
        </p:sp>
      </p:grpSp>
      <p:grpSp>
        <p:nvGrpSpPr>
          <p:cNvPr id="186" name="Group 185"/>
          <p:cNvGrpSpPr/>
          <p:nvPr/>
        </p:nvGrpSpPr>
        <p:grpSpPr>
          <a:xfrm>
            <a:off x="7116828" y="2241912"/>
            <a:ext cx="141841" cy="141841"/>
            <a:chOff x="9313538" y="6135418"/>
            <a:chExt cx="189121" cy="189121"/>
          </a:xfrm>
        </p:grpSpPr>
        <p:sp>
          <p:nvSpPr>
            <p:cNvPr id="187" name="Oval 186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900">
                <a:solidFill>
                  <a:prstClr val="white"/>
                </a:solidFill>
              </a:endParaRPr>
            </a:p>
          </p:txBody>
        </p:sp>
        <p:sp>
          <p:nvSpPr>
            <p:cNvPr id="188" name="Oval 187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900">
                <a:solidFill>
                  <a:prstClr val="white"/>
                </a:solidFill>
              </a:endParaRPr>
            </a:p>
          </p:txBody>
        </p:sp>
      </p:grpSp>
      <p:sp>
        <p:nvSpPr>
          <p:cNvPr id="189" name="TextBox 188"/>
          <p:cNvSpPr txBox="1"/>
          <p:nvPr/>
        </p:nvSpPr>
        <p:spPr>
          <a:xfrm rot="16699280">
            <a:off x="6686052" y="1598095"/>
            <a:ext cx="97331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Clearwater at RM 29.68</a:t>
            </a:r>
          </a:p>
        </p:txBody>
      </p:sp>
      <p:sp>
        <p:nvSpPr>
          <p:cNvPr id="138" name="TextBox 137"/>
          <p:cNvSpPr txBox="1"/>
          <p:nvPr/>
        </p:nvSpPr>
        <p:spPr>
          <a:xfrm rot="16455647">
            <a:off x="5283738" y="1739490"/>
            <a:ext cx="1493177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Clearwater at Spalding</a:t>
            </a:r>
          </a:p>
        </p:txBody>
      </p:sp>
      <p:grpSp>
        <p:nvGrpSpPr>
          <p:cNvPr id="192" name="Group 191"/>
          <p:cNvGrpSpPr/>
          <p:nvPr/>
        </p:nvGrpSpPr>
        <p:grpSpPr>
          <a:xfrm>
            <a:off x="5891060" y="2583006"/>
            <a:ext cx="141841" cy="141841"/>
            <a:chOff x="9313538" y="6135418"/>
            <a:chExt cx="189121" cy="189121"/>
          </a:xfrm>
        </p:grpSpPr>
        <p:sp>
          <p:nvSpPr>
            <p:cNvPr id="193" name="Oval 192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900">
                <a:solidFill>
                  <a:prstClr val="white"/>
                </a:solidFill>
              </a:endParaRPr>
            </a:p>
          </p:txBody>
        </p:sp>
        <p:sp>
          <p:nvSpPr>
            <p:cNvPr id="194" name="Oval 193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900">
                <a:solidFill>
                  <a:prstClr val="white"/>
                </a:solidFill>
              </a:endParaRPr>
            </a:p>
          </p:txBody>
        </p:sp>
      </p:grpSp>
      <p:sp>
        <p:nvSpPr>
          <p:cNvPr id="6" name="Freeform 5"/>
          <p:cNvSpPr/>
          <p:nvPr/>
        </p:nvSpPr>
        <p:spPr>
          <a:xfrm>
            <a:off x="3441357" y="2981050"/>
            <a:ext cx="914400" cy="415514"/>
          </a:xfrm>
          <a:custGeom>
            <a:avLst/>
            <a:gdLst>
              <a:gd name="connsiteX0" fmla="*/ 0 w 1219200"/>
              <a:gd name="connsiteY0" fmla="*/ 554018 h 554018"/>
              <a:gd name="connsiteX1" fmla="*/ 691978 w 1219200"/>
              <a:gd name="connsiteY1" fmla="*/ 59748 h 554018"/>
              <a:gd name="connsiteX2" fmla="*/ 1219200 w 1219200"/>
              <a:gd name="connsiteY2" fmla="*/ 26797 h 554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19200" h="554018">
                <a:moveTo>
                  <a:pt x="0" y="554018"/>
                </a:moveTo>
                <a:cubicBezTo>
                  <a:pt x="244389" y="350818"/>
                  <a:pt x="488778" y="147618"/>
                  <a:pt x="691978" y="59748"/>
                </a:cubicBezTo>
                <a:cubicBezTo>
                  <a:pt x="895178" y="-28122"/>
                  <a:pt x="1057189" y="-663"/>
                  <a:pt x="1219200" y="26797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900">
              <a:solidFill>
                <a:prstClr val="white"/>
              </a:solidFill>
            </a:endParaRPr>
          </a:p>
        </p:txBody>
      </p:sp>
      <p:sp>
        <p:nvSpPr>
          <p:cNvPr id="195" name="TextBox 194"/>
          <p:cNvSpPr txBox="1"/>
          <p:nvPr/>
        </p:nvSpPr>
        <p:spPr>
          <a:xfrm>
            <a:off x="5690286" y="4965164"/>
            <a:ext cx="1330944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Oxbow</a:t>
            </a:r>
          </a:p>
        </p:txBody>
      </p:sp>
      <p:sp>
        <p:nvSpPr>
          <p:cNvPr id="166" name="Oval 165"/>
          <p:cNvSpPr/>
          <p:nvPr/>
        </p:nvSpPr>
        <p:spPr>
          <a:xfrm>
            <a:off x="3408158" y="1640464"/>
            <a:ext cx="80318" cy="8031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900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27560" y="4128959"/>
            <a:ext cx="8356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prstClr val="black"/>
                </a:solidFill>
                <a:latin typeface="Calibri" panose="020F0502020204030204"/>
              </a:rPr>
              <a:t>snk_to_189_89 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4837591" y="4400453"/>
            <a:ext cx="8356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prstClr val="black"/>
                </a:solidFill>
                <a:latin typeface="Calibri" panose="020F0502020204030204"/>
              </a:rPr>
              <a:t>snk_to_227_66 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5280369" y="3071936"/>
            <a:ext cx="1438392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Snake near </a:t>
            </a:r>
            <a:r>
              <a:rPr lang="en-US" sz="900" dirty="0" err="1">
                <a:solidFill>
                  <a:prstClr val="black"/>
                </a:solidFill>
                <a:latin typeface="Calibri" panose="020F0502020204030204"/>
              </a:rPr>
              <a:t>Anatone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7" name="Oval 196"/>
          <p:cNvSpPr/>
          <p:nvPr/>
        </p:nvSpPr>
        <p:spPr>
          <a:xfrm>
            <a:off x="5523023" y="4282831"/>
            <a:ext cx="80318" cy="8031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900">
              <a:solidFill>
                <a:prstClr val="white"/>
              </a:solidFill>
            </a:endParaRPr>
          </a:p>
        </p:txBody>
      </p:sp>
      <p:sp>
        <p:nvSpPr>
          <p:cNvPr id="198" name="TextBox 197"/>
          <p:cNvSpPr txBox="1"/>
          <p:nvPr/>
        </p:nvSpPr>
        <p:spPr>
          <a:xfrm>
            <a:off x="4699027" y="3867612"/>
            <a:ext cx="8356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prstClr val="black"/>
                </a:solidFill>
                <a:latin typeface="Calibri" panose="020F0502020204030204"/>
              </a:rPr>
              <a:t>snk_to_186_42 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4617422" y="3687417"/>
            <a:ext cx="8356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prstClr val="black"/>
                </a:solidFill>
                <a:latin typeface="Calibri" panose="020F0502020204030204"/>
              </a:rPr>
              <a:t>snk_to_177_48 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4586725" y="3540742"/>
            <a:ext cx="8356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prstClr val="black"/>
                </a:solidFill>
                <a:latin typeface="Calibri" panose="020F0502020204030204"/>
              </a:rPr>
              <a:t>snk_to_174_04 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4478593" y="3378923"/>
            <a:ext cx="8356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prstClr val="black"/>
                </a:solidFill>
                <a:latin typeface="Calibri" panose="020F0502020204030204"/>
              </a:rPr>
              <a:t>snk_to_167_03 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4507441" y="3146539"/>
            <a:ext cx="8356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prstClr val="black"/>
                </a:solidFill>
                <a:latin typeface="Calibri" panose="020F0502020204030204"/>
              </a:rPr>
              <a:t>snk_to_165_87 </a:t>
            </a:r>
          </a:p>
        </p:txBody>
      </p:sp>
      <p:sp>
        <p:nvSpPr>
          <p:cNvPr id="203" name="TextBox 202"/>
          <p:cNvSpPr txBox="1"/>
          <p:nvPr/>
        </p:nvSpPr>
        <p:spPr>
          <a:xfrm rot="19305527">
            <a:off x="3831192" y="2266095"/>
            <a:ext cx="8356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prstClr val="black"/>
                </a:solidFill>
                <a:latin typeface="Calibri" panose="020F0502020204030204"/>
              </a:rPr>
              <a:t>snk_to_92_02 </a:t>
            </a:r>
          </a:p>
        </p:txBody>
      </p:sp>
      <p:sp>
        <p:nvSpPr>
          <p:cNvPr id="204" name="Oval 203"/>
          <p:cNvSpPr/>
          <p:nvPr/>
        </p:nvSpPr>
        <p:spPr>
          <a:xfrm>
            <a:off x="5272492" y="3645547"/>
            <a:ext cx="80318" cy="8031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900">
              <a:solidFill>
                <a:prstClr val="white"/>
              </a:solidFill>
            </a:endParaRPr>
          </a:p>
        </p:txBody>
      </p:sp>
      <p:sp>
        <p:nvSpPr>
          <p:cNvPr id="205" name="TextBox 204"/>
          <p:cNvSpPr txBox="1"/>
          <p:nvPr/>
        </p:nvSpPr>
        <p:spPr>
          <a:xfrm>
            <a:off x="5328941" y="3562032"/>
            <a:ext cx="1440830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Snake RM178.27</a:t>
            </a:r>
          </a:p>
        </p:txBody>
      </p:sp>
      <p:sp>
        <p:nvSpPr>
          <p:cNvPr id="207" name="TextBox 206"/>
          <p:cNvSpPr txBox="1"/>
          <p:nvPr/>
        </p:nvSpPr>
        <p:spPr>
          <a:xfrm rot="18402958">
            <a:off x="3128206" y="1896156"/>
            <a:ext cx="8356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prstClr val="black"/>
                </a:solidFill>
                <a:latin typeface="Calibri" panose="020F0502020204030204"/>
              </a:rPr>
              <a:t>snk_to_61_82 </a:t>
            </a:r>
          </a:p>
        </p:txBody>
      </p:sp>
      <p:sp>
        <p:nvSpPr>
          <p:cNvPr id="208" name="TextBox 207"/>
          <p:cNvSpPr txBox="1"/>
          <p:nvPr/>
        </p:nvSpPr>
        <p:spPr>
          <a:xfrm rot="18549316">
            <a:off x="3447539" y="2058872"/>
            <a:ext cx="8356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prstClr val="black"/>
                </a:solidFill>
                <a:latin typeface="Calibri" panose="020F0502020204030204"/>
              </a:rPr>
              <a:t>snk_to_69_77 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4610309" y="2410713"/>
            <a:ext cx="8356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prstClr val="black"/>
                </a:solidFill>
                <a:latin typeface="Calibri" panose="020F0502020204030204"/>
              </a:rPr>
              <a:t>snk_to_106_15 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5031668" y="2687217"/>
            <a:ext cx="8356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prstClr val="black"/>
                </a:solidFill>
                <a:latin typeface="Calibri" panose="020F0502020204030204"/>
              </a:rPr>
              <a:t>snk_to_137_56 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4598566" y="2955549"/>
            <a:ext cx="8356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prstClr val="black"/>
                </a:solidFill>
                <a:latin typeface="Calibri" panose="020F0502020204030204"/>
              </a:rPr>
              <a:t>snk_to_143_67 </a:t>
            </a:r>
          </a:p>
        </p:txBody>
      </p:sp>
      <p:sp>
        <p:nvSpPr>
          <p:cNvPr id="212" name="Oval 211"/>
          <p:cNvSpPr/>
          <p:nvPr/>
        </p:nvSpPr>
        <p:spPr>
          <a:xfrm>
            <a:off x="4184512" y="2056978"/>
            <a:ext cx="80318" cy="8031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900">
              <a:solidFill>
                <a:prstClr val="white"/>
              </a:solidFill>
            </a:endParaRPr>
          </a:p>
        </p:txBody>
      </p:sp>
      <p:sp>
        <p:nvSpPr>
          <p:cNvPr id="213" name="TextBox 212"/>
          <p:cNvSpPr txBox="1"/>
          <p:nvPr/>
        </p:nvSpPr>
        <p:spPr>
          <a:xfrm rot="18581299">
            <a:off x="3973218" y="1443530"/>
            <a:ext cx="1404026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RM92.02</a:t>
            </a:r>
          </a:p>
        </p:txBody>
      </p:sp>
      <p:sp>
        <p:nvSpPr>
          <p:cNvPr id="214" name="TextBox 213"/>
          <p:cNvSpPr txBox="1"/>
          <p:nvPr/>
        </p:nvSpPr>
        <p:spPr>
          <a:xfrm rot="19714834">
            <a:off x="3365582" y="1145605"/>
            <a:ext cx="1330944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 err="1">
                <a:solidFill>
                  <a:prstClr val="black"/>
                </a:solidFill>
                <a:latin typeface="Calibri" panose="020F0502020204030204"/>
              </a:rPr>
              <a:t>Snake+Tucannon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5" name="TextBox 214"/>
          <p:cNvSpPr txBox="1"/>
          <p:nvPr/>
        </p:nvSpPr>
        <p:spPr>
          <a:xfrm rot="18402958">
            <a:off x="2773187" y="1688874"/>
            <a:ext cx="8356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prstClr val="black"/>
                </a:solidFill>
                <a:latin typeface="Calibri" panose="020F0502020204030204"/>
              </a:rPr>
              <a:t>snk_to_58_74 </a:t>
            </a:r>
          </a:p>
        </p:txBody>
      </p:sp>
      <p:sp>
        <p:nvSpPr>
          <p:cNvPr id="216" name="TextBox 215"/>
          <p:cNvSpPr txBox="1"/>
          <p:nvPr/>
        </p:nvSpPr>
        <p:spPr>
          <a:xfrm rot="16760820">
            <a:off x="7463830" y="1665329"/>
            <a:ext cx="8356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prstClr val="black"/>
                </a:solidFill>
                <a:latin typeface="Calibri" panose="020F0502020204030204"/>
              </a:rPr>
              <a:t>nf_cw_to_0_17 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7918669" y="2191589"/>
            <a:ext cx="8356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prstClr val="black"/>
                </a:solidFill>
                <a:latin typeface="Calibri" panose="020F0502020204030204"/>
              </a:rPr>
              <a:t>cw_to_40_71 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1447717" y="1459966"/>
            <a:ext cx="8356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prstClr val="black"/>
                </a:solidFill>
                <a:latin typeface="Calibri" panose="020F0502020204030204"/>
              </a:rPr>
              <a:t>snk_to_9_34 </a:t>
            </a:r>
          </a:p>
        </p:txBody>
      </p:sp>
      <p:sp>
        <p:nvSpPr>
          <p:cNvPr id="219" name="TextBox 218"/>
          <p:cNvSpPr txBox="1"/>
          <p:nvPr/>
        </p:nvSpPr>
        <p:spPr>
          <a:xfrm rot="18121066">
            <a:off x="2339645" y="1261282"/>
            <a:ext cx="8356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prstClr val="black"/>
                </a:solidFill>
                <a:latin typeface="Calibri" panose="020F0502020204030204"/>
              </a:rPr>
              <a:t>snk_to_40_96 </a:t>
            </a:r>
          </a:p>
        </p:txBody>
      </p:sp>
      <p:sp>
        <p:nvSpPr>
          <p:cNvPr id="220" name="Oval 219"/>
          <p:cNvSpPr/>
          <p:nvPr/>
        </p:nvSpPr>
        <p:spPr>
          <a:xfrm>
            <a:off x="7699979" y="2077918"/>
            <a:ext cx="80318" cy="8031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900">
              <a:solidFill>
                <a:prstClr val="white"/>
              </a:solidFill>
            </a:endParaRPr>
          </a:p>
        </p:txBody>
      </p:sp>
      <p:sp>
        <p:nvSpPr>
          <p:cNvPr id="221" name="TextBox 220"/>
          <p:cNvSpPr txBox="1"/>
          <p:nvPr/>
        </p:nvSpPr>
        <p:spPr>
          <a:xfrm rot="16993738">
            <a:off x="7109292" y="1326837"/>
            <a:ext cx="1331550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 err="1">
                <a:solidFill>
                  <a:prstClr val="black"/>
                </a:solidFill>
                <a:latin typeface="Calibri" panose="020F0502020204030204"/>
              </a:rPr>
              <a:t>Clearwater+NF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2" name="Oval 221"/>
          <p:cNvSpPr/>
          <p:nvPr/>
        </p:nvSpPr>
        <p:spPr>
          <a:xfrm>
            <a:off x="7450639" y="2156477"/>
            <a:ext cx="80318" cy="8031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900">
              <a:solidFill>
                <a:prstClr val="white"/>
              </a:solidFill>
            </a:endParaRPr>
          </a:p>
        </p:txBody>
      </p:sp>
      <p:sp>
        <p:nvSpPr>
          <p:cNvPr id="223" name="TextBox 222"/>
          <p:cNvSpPr txBox="1"/>
          <p:nvPr/>
        </p:nvSpPr>
        <p:spPr>
          <a:xfrm rot="16993738">
            <a:off x="6903104" y="1355490"/>
            <a:ext cx="1331550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Clearwater nr Peck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6240778" y="2832870"/>
            <a:ext cx="8356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prstClr val="black"/>
                </a:solidFill>
                <a:latin typeface="Calibri" panose="020F0502020204030204"/>
              </a:rPr>
              <a:t>lap_to_0_23 </a:t>
            </a:r>
          </a:p>
        </p:txBody>
      </p:sp>
      <p:sp>
        <p:nvSpPr>
          <p:cNvPr id="225" name="TextBox 224"/>
          <p:cNvSpPr txBox="1"/>
          <p:nvPr/>
        </p:nvSpPr>
        <p:spPr>
          <a:xfrm rot="18165201">
            <a:off x="6508711" y="2327812"/>
            <a:ext cx="8356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prstClr val="black"/>
                </a:solidFill>
                <a:latin typeface="Calibri" panose="020F0502020204030204"/>
              </a:rPr>
              <a:t>cw_to_15_19 </a:t>
            </a:r>
          </a:p>
        </p:txBody>
      </p:sp>
      <p:sp>
        <p:nvSpPr>
          <p:cNvPr id="226" name="TextBox 225"/>
          <p:cNvSpPr txBox="1"/>
          <p:nvPr/>
        </p:nvSpPr>
        <p:spPr>
          <a:xfrm rot="17276680">
            <a:off x="6896874" y="2339162"/>
            <a:ext cx="8356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prstClr val="black"/>
                </a:solidFill>
                <a:latin typeface="Calibri" panose="020F0502020204030204"/>
              </a:rPr>
              <a:t>cw_to_29_93 </a:t>
            </a:r>
          </a:p>
        </p:txBody>
      </p:sp>
      <p:sp>
        <p:nvSpPr>
          <p:cNvPr id="227" name="TextBox 226"/>
          <p:cNvSpPr txBox="1"/>
          <p:nvPr/>
        </p:nvSpPr>
        <p:spPr>
          <a:xfrm rot="17120821">
            <a:off x="7203451" y="2161833"/>
            <a:ext cx="8356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prstClr val="black"/>
                </a:solidFill>
                <a:latin typeface="Calibri" panose="020F0502020204030204"/>
              </a:rPr>
              <a:t>cw_to_37_45 </a:t>
            </a:r>
          </a:p>
        </p:txBody>
      </p:sp>
      <p:sp>
        <p:nvSpPr>
          <p:cNvPr id="228" name="Oval 227"/>
          <p:cNvSpPr/>
          <p:nvPr/>
        </p:nvSpPr>
        <p:spPr>
          <a:xfrm>
            <a:off x="6584233" y="2475794"/>
            <a:ext cx="80318" cy="8031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900">
              <a:solidFill>
                <a:prstClr val="white"/>
              </a:solidFill>
            </a:endParaRPr>
          </a:p>
        </p:txBody>
      </p:sp>
      <p:sp>
        <p:nvSpPr>
          <p:cNvPr id="229" name="Oval 228"/>
          <p:cNvSpPr/>
          <p:nvPr/>
        </p:nvSpPr>
        <p:spPr>
          <a:xfrm>
            <a:off x="6327442" y="2552657"/>
            <a:ext cx="80318" cy="8031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900">
              <a:solidFill>
                <a:prstClr val="white"/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 rot="16361234">
            <a:off x="5324139" y="2409747"/>
            <a:ext cx="8356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prstClr val="black"/>
                </a:solidFill>
                <a:latin typeface="Calibri" panose="020F0502020204030204"/>
              </a:rPr>
              <a:t>cw_to_0_24 </a:t>
            </a:r>
          </a:p>
        </p:txBody>
      </p:sp>
      <p:sp>
        <p:nvSpPr>
          <p:cNvPr id="232" name="TextBox 231"/>
          <p:cNvSpPr txBox="1"/>
          <p:nvPr/>
        </p:nvSpPr>
        <p:spPr>
          <a:xfrm rot="4042898">
            <a:off x="5821711" y="2597831"/>
            <a:ext cx="8356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prstClr val="black"/>
                </a:solidFill>
                <a:latin typeface="Calibri" panose="020F0502020204030204"/>
              </a:rPr>
              <a:t>cw_to_3_94 </a:t>
            </a:r>
          </a:p>
        </p:txBody>
      </p:sp>
      <p:sp>
        <p:nvSpPr>
          <p:cNvPr id="233" name="TextBox 232"/>
          <p:cNvSpPr txBox="1"/>
          <p:nvPr/>
        </p:nvSpPr>
        <p:spPr>
          <a:xfrm rot="3182661">
            <a:off x="6085717" y="2439407"/>
            <a:ext cx="8356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prstClr val="black"/>
                </a:solidFill>
                <a:latin typeface="Calibri" panose="020F0502020204030204"/>
              </a:rPr>
              <a:t>cw_to_11_84 </a:t>
            </a:r>
          </a:p>
        </p:txBody>
      </p:sp>
      <p:sp>
        <p:nvSpPr>
          <p:cNvPr id="234" name="TextBox 233"/>
          <p:cNvSpPr txBox="1"/>
          <p:nvPr/>
        </p:nvSpPr>
        <p:spPr>
          <a:xfrm rot="16909406">
            <a:off x="6020878" y="1658177"/>
            <a:ext cx="1493177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Clearwater + </a:t>
            </a:r>
            <a:r>
              <a:rPr lang="en-US" sz="900" dirty="0" err="1">
                <a:solidFill>
                  <a:prstClr val="black"/>
                </a:solidFill>
                <a:latin typeface="Calibri" panose="020F0502020204030204"/>
              </a:rPr>
              <a:t>Potatch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Right Brace 7"/>
          <p:cNvSpPr/>
          <p:nvPr/>
        </p:nvSpPr>
        <p:spPr>
          <a:xfrm rot="11013857">
            <a:off x="4391049" y="4596247"/>
            <a:ext cx="808508" cy="1079168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10060" y="4764758"/>
            <a:ext cx="141147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Brownlee Flows = Hells Canyon Flows (NULL routing in ESP traces)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4393642" y="2793948"/>
            <a:ext cx="8356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prstClr val="black"/>
                </a:solidFill>
                <a:latin typeface="Calibri" panose="020F0502020204030204"/>
              </a:rPr>
              <a:t>NULL routing</a:t>
            </a:r>
          </a:p>
        </p:txBody>
      </p:sp>
      <p:sp>
        <p:nvSpPr>
          <p:cNvPr id="191" name="Oval 190"/>
          <p:cNvSpPr/>
          <p:nvPr/>
        </p:nvSpPr>
        <p:spPr>
          <a:xfrm>
            <a:off x="7902399" y="2007712"/>
            <a:ext cx="80318" cy="8031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900">
              <a:solidFill>
                <a:prstClr val="white"/>
              </a:solidFill>
            </a:endParaRPr>
          </a:p>
        </p:txBody>
      </p:sp>
      <p:sp>
        <p:nvSpPr>
          <p:cNvPr id="206" name="TextBox 205"/>
          <p:cNvSpPr txBox="1"/>
          <p:nvPr/>
        </p:nvSpPr>
        <p:spPr>
          <a:xfrm>
            <a:off x="7968714" y="1771391"/>
            <a:ext cx="1331550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 err="1">
                <a:solidFill>
                  <a:prstClr val="black"/>
                </a:solidFill>
                <a:latin typeface="Calibri" panose="020F0502020204030204"/>
              </a:rPr>
              <a:t>Dworshak_OUT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496029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5753</TotalTime>
  <Words>866</Words>
  <Application>Microsoft Office PowerPoint</Application>
  <PresentationFormat>On-screen Show (4:3)</PresentationFormat>
  <Paragraphs>272</Paragraphs>
  <Slides>15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Calibri</vt:lpstr>
      <vt:lpstr>Calibri Light</vt:lpstr>
      <vt:lpstr>Wingdings</vt:lpstr>
      <vt:lpstr>Wingdings 3</vt:lpstr>
      <vt:lpstr>1_Custom Design</vt:lpstr>
      <vt:lpstr>Office Theme</vt:lpstr>
      <vt:lpstr>1_Office Theme</vt:lpstr>
      <vt:lpstr>2_Office Theme</vt:lpstr>
      <vt:lpstr>CWMS LOWER SNAKE  ESP Development</vt:lpstr>
      <vt:lpstr>Overview</vt:lpstr>
      <vt:lpstr>CWMS Lower Snake Watershed</vt:lpstr>
      <vt:lpstr>CWMS Goals for Lower Snake</vt:lpstr>
      <vt:lpstr>Vision for the ESP Ensemble</vt:lpstr>
      <vt:lpstr>Workflow ESP Ensemble Development</vt:lpstr>
      <vt:lpstr>ResSim: ESP Network Setup</vt:lpstr>
      <vt:lpstr>CAVI Setup and Initial Results</vt:lpstr>
      <vt:lpstr>CAVI Forecast and ResSim Alternative</vt:lpstr>
      <vt:lpstr>CAVI Results</vt:lpstr>
      <vt:lpstr>Future Improvements and Partnership</vt:lpstr>
      <vt:lpstr> Questions?</vt:lpstr>
      <vt:lpstr>PowerPoint Presentation</vt:lpstr>
      <vt:lpstr>PowerPoint Presentation</vt:lpstr>
      <vt:lpstr>PowerPoint Presentation</vt:lpstr>
    </vt:vector>
  </TitlesOfParts>
  <Company>US Army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G4PA9JBS</dc:creator>
  <cp:lastModifiedBy>Roberts, Jonathan M CIV USARMY CENWW (US)</cp:lastModifiedBy>
  <cp:revision>238</cp:revision>
  <cp:lastPrinted>2019-04-09T16:24:18Z</cp:lastPrinted>
  <dcterms:created xsi:type="dcterms:W3CDTF">2009-08-04T20:45:43Z</dcterms:created>
  <dcterms:modified xsi:type="dcterms:W3CDTF">2019-10-08T20:06:25Z</dcterms:modified>
</cp:coreProperties>
</file>