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  <p:sldId id="260" r:id="rId5"/>
    <p:sldId id="261" r:id="rId6"/>
    <p:sldId id="262" r:id="rId7"/>
    <p:sldId id="263" r:id="rId8"/>
    <p:sldId id="256" r:id="rId9"/>
    <p:sldId id="272" r:id="rId10"/>
    <p:sldId id="265" r:id="rId11"/>
    <p:sldId id="269" r:id="rId12"/>
    <p:sldId id="270" r:id="rId13"/>
    <p:sldId id="271" r:id="rId14"/>
    <p:sldId id="264" r:id="rId15"/>
    <p:sldId id="276" r:id="rId16"/>
    <p:sldId id="274" r:id="rId17"/>
    <p:sldId id="275" r:id="rId18"/>
    <p:sldId id="277" r:id="rId19"/>
    <p:sldId id="278" r:id="rId20"/>
    <p:sldId id="279" r:id="rId21"/>
    <p:sldId id="28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>
        <p:scale>
          <a:sx n="150" d="100"/>
          <a:sy n="150" d="100"/>
        </p:scale>
        <p:origin x="-24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2ED2B-360E-4740-AA5D-6C4471D73E4F}" type="datetimeFigureOut">
              <a:rPr lang="en-US" smtClean="0"/>
              <a:t>11/4/2019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FC9A5-12D4-428E-B8DA-505097726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399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2ED2B-360E-4740-AA5D-6C4471D73E4F}" type="datetimeFigureOut">
              <a:rPr lang="en-US" smtClean="0"/>
              <a:t>11/4/2019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FC9A5-12D4-428E-B8DA-505097726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725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2ED2B-360E-4740-AA5D-6C4471D73E4F}" type="datetimeFigureOut">
              <a:rPr lang="en-US" smtClean="0"/>
              <a:t>11/4/2019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FC9A5-12D4-428E-B8DA-505097726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837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2ED2B-360E-4740-AA5D-6C4471D73E4F}" type="datetimeFigureOut">
              <a:rPr lang="en-US" smtClean="0"/>
              <a:t>11/4/2019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FC9A5-12D4-428E-B8DA-505097726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96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2ED2B-360E-4740-AA5D-6C4471D73E4F}" type="datetimeFigureOut">
              <a:rPr lang="en-US" smtClean="0"/>
              <a:t>11/4/2019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FC9A5-12D4-428E-B8DA-505097726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299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2ED2B-360E-4740-AA5D-6C4471D73E4F}" type="datetimeFigureOut">
              <a:rPr lang="en-US" smtClean="0"/>
              <a:t>11/4/2019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FC9A5-12D4-428E-B8DA-505097726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279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2ED2B-360E-4740-AA5D-6C4471D73E4F}" type="datetimeFigureOut">
              <a:rPr lang="en-US" smtClean="0"/>
              <a:t>11/4/2019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FC9A5-12D4-428E-B8DA-505097726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11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2ED2B-360E-4740-AA5D-6C4471D73E4F}" type="datetimeFigureOut">
              <a:rPr lang="en-US" smtClean="0"/>
              <a:t>11/4/2019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FC9A5-12D4-428E-B8DA-505097726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857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2ED2B-360E-4740-AA5D-6C4471D73E4F}" type="datetimeFigureOut">
              <a:rPr lang="en-US" smtClean="0"/>
              <a:t>11/4/2019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FC9A5-12D4-428E-B8DA-505097726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193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2ED2B-360E-4740-AA5D-6C4471D73E4F}" type="datetimeFigureOut">
              <a:rPr lang="en-US" smtClean="0"/>
              <a:t>11/4/2019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FC9A5-12D4-428E-B8DA-505097726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277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2ED2B-360E-4740-AA5D-6C4471D73E4F}" type="datetimeFigureOut">
              <a:rPr lang="en-US" smtClean="0"/>
              <a:t>11/4/2019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FC9A5-12D4-428E-B8DA-505097726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55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F2ED2B-360E-4740-AA5D-6C4471D73E4F}" type="datetimeFigureOut">
              <a:rPr lang="en-US" smtClean="0"/>
              <a:t>11/4/2019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CFC9A5-12D4-428E-B8DA-505097726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767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nwrfc.noaa.gov/rfc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Downloading ESP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2784" y="1366716"/>
            <a:ext cx="10515600" cy="2812278"/>
          </a:xfrm>
        </p:spPr>
        <p:txBody>
          <a:bodyPr>
            <a:normAutofit/>
          </a:bodyPr>
          <a:lstStyle/>
          <a:p>
            <a:r>
              <a:rPr lang="en-US" sz="2000" dirty="0" smtClean="0"/>
              <a:t>Connects to NWFC website and saves ESP to DSS using R script</a:t>
            </a:r>
          </a:p>
          <a:p>
            <a:r>
              <a:rPr lang="en-US" sz="2000" dirty="0" smtClean="0">
                <a:solidFill>
                  <a:srgbClr val="00B050"/>
                </a:solidFill>
              </a:rPr>
              <a:t>scripts/Download_ESP_5mins.py</a:t>
            </a:r>
            <a:r>
              <a:rPr lang="en-US" sz="2000" dirty="0" smtClean="0"/>
              <a:t> launches</a:t>
            </a:r>
          </a:p>
          <a:p>
            <a:r>
              <a:rPr lang="en-US" sz="2000" dirty="0" smtClean="0">
                <a:solidFill>
                  <a:srgbClr val="00B050"/>
                </a:solidFill>
              </a:rPr>
              <a:t>scripts/</a:t>
            </a:r>
            <a:r>
              <a:rPr lang="en-US" sz="2000" dirty="0" err="1" smtClean="0">
                <a:solidFill>
                  <a:srgbClr val="00B050"/>
                </a:solidFill>
              </a:rPr>
              <a:t>esp_download</a:t>
            </a:r>
            <a:r>
              <a:rPr lang="en-US" sz="2000" dirty="0" smtClean="0">
                <a:solidFill>
                  <a:srgbClr val="00B050"/>
                </a:solidFill>
              </a:rPr>
              <a:t>/Download_ESP.bat</a:t>
            </a:r>
            <a:r>
              <a:rPr lang="en-US" sz="2000" dirty="0" smtClean="0"/>
              <a:t>, which then passes the output DSS file name ( to be saved in watershed shared</a:t>
            </a:r>
            <a:r>
              <a:rPr lang="en-US" sz="2000" dirty="0"/>
              <a:t>) </a:t>
            </a:r>
            <a:r>
              <a:rPr lang="en-US" sz="2000" dirty="0" smtClean="0"/>
              <a:t>to call of calls</a:t>
            </a:r>
          </a:p>
          <a:p>
            <a:r>
              <a:rPr lang="en-US" sz="2000" dirty="0" smtClean="0">
                <a:solidFill>
                  <a:srgbClr val="00B050"/>
                </a:solidFill>
              </a:rPr>
              <a:t>scripts/</a:t>
            </a:r>
            <a:r>
              <a:rPr lang="en-US" sz="2000" dirty="0" err="1" smtClean="0">
                <a:solidFill>
                  <a:srgbClr val="00B050"/>
                </a:solidFill>
              </a:rPr>
              <a:t>esp_download</a:t>
            </a:r>
            <a:r>
              <a:rPr lang="en-US" sz="2000" dirty="0" smtClean="0">
                <a:solidFill>
                  <a:srgbClr val="00B050"/>
                </a:solidFill>
              </a:rPr>
              <a:t>/ESP </a:t>
            </a:r>
            <a:r>
              <a:rPr lang="en-US" sz="2000" dirty="0" err="1" smtClean="0">
                <a:solidFill>
                  <a:srgbClr val="00B050"/>
                </a:solidFill>
              </a:rPr>
              <a:t>Download.R</a:t>
            </a:r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dirty="0" smtClean="0"/>
              <a:t>using R (w/ </a:t>
            </a:r>
            <a:r>
              <a:rPr lang="en-US" sz="2000" dirty="0" err="1" smtClean="0"/>
              <a:t>dssrip</a:t>
            </a:r>
            <a:r>
              <a:rPr lang="en-US" sz="2000" dirty="0" smtClean="0"/>
              <a:t> package)</a:t>
            </a:r>
          </a:p>
          <a:p>
            <a:r>
              <a:rPr lang="en-US" sz="2000" dirty="0" smtClean="0"/>
              <a:t>Configuration of RFC locations to download set in config.xlsx file in ‘</a:t>
            </a:r>
            <a:r>
              <a:rPr lang="en-US" sz="2000" dirty="0" err="1" smtClean="0"/>
              <a:t>download_sites</a:t>
            </a:r>
            <a:r>
              <a:rPr lang="en-US" sz="2000" dirty="0" smtClean="0"/>
              <a:t>’ tab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940" y="3742323"/>
            <a:ext cx="1530868" cy="14955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7573" y="3661464"/>
            <a:ext cx="2219708" cy="1576399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>
            <a:off x="2083045" y="4493076"/>
            <a:ext cx="9144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3940" y="5237863"/>
            <a:ext cx="17120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00B050"/>
                </a:solidFill>
              </a:rPr>
              <a:t>Download_ESP_5mins.py</a:t>
            </a:r>
            <a:endParaRPr lang="en-US" sz="11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0841" y="3835875"/>
            <a:ext cx="1574662" cy="130843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164454" y="5210108"/>
            <a:ext cx="14910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00B050"/>
                </a:solidFill>
              </a:rPr>
              <a:t>Download_ESP.bat</a:t>
            </a:r>
            <a:endParaRPr lang="en-US" sz="1100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4743866" y="4478870"/>
            <a:ext cx="9144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332096" y="5237863"/>
            <a:ext cx="14910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smtClean="0">
                <a:solidFill>
                  <a:srgbClr val="00B050"/>
                </a:solidFill>
              </a:rPr>
              <a:t>ESP Download.R </a:t>
            </a:r>
            <a:endParaRPr lang="en-US" sz="1100" dirty="0"/>
          </a:p>
        </p:txBody>
      </p:sp>
      <p:sp>
        <p:nvSpPr>
          <p:cNvPr id="13" name="Rectangle 12"/>
          <p:cNvSpPr/>
          <p:nvPr/>
        </p:nvSpPr>
        <p:spPr>
          <a:xfrm>
            <a:off x="2294009" y="5499473"/>
            <a:ext cx="3277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set </a:t>
            </a:r>
            <a:r>
              <a:rPr lang="en-US" dirty="0" err="1" smtClean="0"/>
              <a:t>dssfile</a:t>
            </a:r>
            <a:r>
              <a:rPr lang="en-US" dirty="0" smtClean="0"/>
              <a:t>="columbia10_6hr.dss"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056761" y="3553626"/>
            <a:ext cx="4206577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u="sng" dirty="0" smtClean="0"/>
              <a:t>R 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 smtClean="0"/>
              <a:t>saveLocation</a:t>
            </a:r>
            <a:r>
              <a:rPr lang="en-US" sz="1400" dirty="0" smtClean="0"/>
              <a:t> = </a:t>
            </a:r>
            <a:r>
              <a:rPr lang="en-US" sz="1400" dirty="0" err="1" smtClean="0"/>
              <a:t>commandArgs</a:t>
            </a:r>
            <a:r>
              <a:rPr lang="en-US" sz="1400" dirty="0" smtClean="0"/>
              <a:t>(</a:t>
            </a:r>
            <a:r>
              <a:rPr lang="en-US" sz="1400" dirty="0" err="1" smtClean="0"/>
              <a:t>trailingOnly</a:t>
            </a:r>
            <a:r>
              <a:rPr lang="en-US" sz="1400" dirty="0" smtClean="0"/>
              <a:t>=T) ["columbia10_6hr.dss“]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‘</a:t>
            </a:r>
            <a:r>
              <a:rPr lang="en-US" sz="1400" dirty="0" err="1" smtClean="0"/>
              <a:t>siteIDs</a:t>
            </a:r>
            <a:r>
              <a:rPr lang="en-US" sz="1400" dirty="0" smtClean="0"/>
              <a:t>’ strings define sites to downloaded ESP feeds, read in from config.xlsx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See rfc_esp_links.xlsm file for the </a:t>
            </a:r>
            <a:r>
              <a:rPr lang="en-US" sz="1400" dirty="0" err="1" smtClean="0"/>
              <a:t>urls</a:t>
            </a:r>
            <a:r>
              <a:rPr lang="en-US" sz="1400" dirty="0" smtClean="0"/>
              <a:t>.  Note: will only download </a:t>
            </a:r>
            <a:r>
              <a:rPr lang="en-US" sz="1400" b="1" i="1" dirty="0" smtClean="0"/>
              <a:t>natural</a:t>
            </a:r>
            <a:r>
              <a:rPr lang="en-US" sz="1400" dirty="0" smtClean="0"/>
              <a:t> ESP traces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See ‘ESP_Description_Webinar_20160518.pdf’ for more info on ESP “flavors” (</a:t>
            </a:r>
            <a:r>
              <a:rPr lang="en-US" sz="1400" dirty="0" err="1" smtClean="0"/>
              <a:t>pg</a:t>
            </a:r>
            <a:r>
              <a:rPr lang="en-US" sz="1400" dirty="0" smtClean="0"/>
              <a:t> 12) and general info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Natural </a:t>
            </a:r>
            <a:r>
              <a:rPr lang="en-US" sz="1400" dirty="0"/>
              <a:t>is the best option for ESP. </a:t>
            </a:r>
            <a:r>
              <a:rPr lang="en-US" sz="1400" dirty="0" smtClean="0"/>
              <a:t> Water supply </a:t>
            </a:r>
            <a:r>
              <a:rPr lang="en-US" sz="1400" dirty="0"/>
              <a:t>is </a:t>
            </a:r>
            <a:r>
              <a:rPr lang="en-US" sz="1400" dirty="0" smtClean="0"/>
              <a:t>legacy.  Unadjusted </a:t>
            </a:r>
            <a:r>
              <a:rPr lang="en-US" sz="1400" dirty="0"/>
              <a:t>has no routing.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6085" y="4078896"/>
            <a:ext cx="14910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 smtClean="0"/>
              <a:t>saveLocation</a:t>
            </a:r>
            <a:r>
              <a:rPr lang="en-US" sz="1100" dirty="0" smtClean="0"/>
              <a:t> argument</a:t>
            </a:r>
            <a:endParaRPr lang="en-US" sz="11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2540" y="5837492"/>
            <a:ext cx="4813368" cy="892705"/>
          </a:xfrm>
          <a:prstGeom prst="rect">
            <a:avLst/>
          </a:prstGeom>
        </p:spPr>
      </p:pic>
      <p:cxnSp>
        <p:nvCxnSpPr>
          <p:cNvPr id="20" name="Elbow Connector 19"/>
          <p:cNvCxnSpPr/>
          <p:nvPr/>
        </p:nvCxnSpPr>
        <p:spPr>
          <a:xfrm rot="5400000">
            <a:off x="5194226" y="5440032"/>
            <a:ext cx="1177832" cy="586389"/>
          </a:xfrm>
          <a:prstGeom prst="bentConnector3">
            <a:avLst>
              <a:gd name="adj1" fmla="val 98417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7888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Finding NWRFC IDs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35250"/>
            <a:ext cx="3871784" cy="4351338"/>
          </a:xfrm>
        </p:spPr>
        <p:txBody>
          <a:bodyPr>
            <a:normAutofit/>
          </a:bodyPr>
          <a:lstStyle/>
          <a:p>
            <a:r>
              <a:rPr lang="en-US" sz="1600" dirty="0" smtClean="0"/>
              <a:t>Navigate to NWRFC site: </a:t>
            </a:r>
            <a:r>
              <a:rPr lang="en-US" sz="1600" dirty="0" smtClean="0">
                <a:hlinkClick r:id="rId2"/>
              </a:rPr>
              <a:t>https://www.nwrfc.noaa.gov/rfc/</a:t>
            </a:r>
            <a:endParaRPr lang="en-US" sz="1600" dirty="0" smtClean="0"/>
          </a:p>
          <a:p>
            <a:r>
              <a:rPr lang="en-US" sz="1600" dirty="0" smtClean="0"/>
              <a:t>Click on a specific location</a:t>
            </a:r>
          </a:p>
          <a:p>
            <a:r>
              <a:rPr lang="en-US" sz="1600" dirty="0" smtClean="0"/>
              <a:t>NWRFC ID is in parentheses next to full site name (only first four characters are needed for R script)</a:t>
            </a:r>
          </a:p>
          <a:p>
            <a:r>
              <a:rPr lang="en-US" sz="1600" dirty="0" smtClean="0"/>
              <a:t>Tool matches site IDs against csv </a:t>
            </a:r>
            <a:r>
              <a:rPr lang="en-US" sz="1600" dirty="0"/>
              <a:t>file names in </a:t>
            </a:r>
            <a:r>
              <a:rPr lang="en-US" sz="1600" dirty="0" smtClean="0"/>
              <a:t>scripts/</a:t>
            </a:r>
            <a:r>
              <a:rPr lang="en-US" sz="1600" dirty="0" err="1" smtClean="0"/>
              <a:t>esp_download</a:t>
            </a:r>
            <a:r>
              <a:rPr lang="en-US" sz="1600" dirty="0" smtClean="0"/>
              <a:t>/rfc_esp_links.xlsm using regular expressions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16201" t="22470" r="4865" b="7502"/>
          <a:stretch/>
        </p:blipFill>
        <p:spPr>
          <a:xfrm>
            <a:off x="3998542" y="1690688"/>
            <a:ext cx="8019287" cy="427468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969909" y="2526890"/>
            <a:ext cx="481781" cy="24580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3755923" y="2772698"/>
            <a:ext cx="6184490" cy="40312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0479" y="6488668"/>
            <a:ext cx="44859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Uses: </a:t>
            </a:r>
            <a:r>
              <a:rPr lang="en-US" dirty="0" smtClean="0">
                <a:solidFill>
                  <a:srgbClr val="00B050"/>
                </a:solidFill>
              </a:rPr>
              <a:t>scripts/</a:t>
            </a:r>
            <a:r>
              <a:rPr lang="en-US" dirty="0" err="1" smtClean="0">
                <a:solidFill>
                  <a:srgbClr val="00B050"/>
                </a:solidFill>
              </a:rPr>
              <a:t>esp_download</a:t>
            </a:r>
            <a:r>
              <a:rPr lang="en-US" dirty="0" smtClean="0">
                <a:solidFill>
                  <a:srgbClr val="00B050"/>
                </a:solidFill>
              </a:rPr>
              <a:t>/ESP </a:t>
            </a:r>
            <a:r>
              <a:rPr lang="en-US" dirty="0" err="1" smtClean="0">
                <a:solidFill>
                  <a:srgbClr val="00B050"/>
                </a:solidFill>
              </a:rPr>
              <a:t>Download.R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l="-5349" t="-1075" r="59707" b="1075"/>
          <a:stretch/>
        </p:blipFill>
        <p:spPr>
          <a:xfrm>
            <a:off x="2197611" y="4046019"/>
            <a:ext cx="1558312" cy="2516436"/>
          </a:xfrm>
          <a:prstGeom prst="rect">
            <a:avLst/>
          </a:prstGeom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70479" y="4025461"/>
            <a:ext cx="2127132" cy="14677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smtClean="0"/>
              <a:t>Example config.xlsx ‘</a:t>
            </a:r>
            <a:r>
              <a:rPr lang="en-US" sz="1600" dirty="0" err="1" smtClean="0"/>
              <a:t>download_sites</a:t>
            </a:r>
            <a:r>
              <a:rPr lang="en-US" sz="1600" dirty="0" smtClean="0"/>
              <a:t>’ tab: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15497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Route ESP Flows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50995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Needs to be done if you want to preserve similar routing as HMS would do for flows</a:t>
            </a:r>
          </a:p>
          <a:p>
            <a:r>
              <a:rPr lang="en-US" dirty="0" smtClean="0"/>
              <a:t>Get Mod </a:t>
            </a:r>
            <a:r>
              <a:rPr lang="en-US" dirty="0" err="1" smtClean="0"/>
              <a:t>Puls</a:t>
            </a:r>
            <a:r>
              <a:rPr lang="en-US" dirty="0" smtClean="0"/>
              <a:t> (or other routing) from (RAS) analysis</a:t>
            </a:r>
          </a:p>
          <a:p>
            <a:r>
              <a:rPr lang="en-US" dirty="0"/>
              <a:t>See </a:t>
            </a:r>
            <a:r>
              <a:rPr lang="en-US" dirty="0" smtClean="0"/>
              <a:t>documentation on how to set up configuration</a:t>
            </a:r>
          </a:p>
          <a:p>
            <a:r>
              <a:rPr lang="en-US" dirty="0" smtClean="0"/>
              <a:t>CAVI runs the </a:t>
            </a:r>
            <a:r>
              <a:rPr lang="en-US" dirty="0" smtClean="0">
                <a:solidFill>
                  <a:srgbClr val="00B050"/>
                </a:solidFill>
              </a:rPr>
              <a:t>scripts/Flow_Modifier.py </a:t>
            </a:r>
            <a:r>
              <a:rPr lang="en-US" dirty="0" smtClean="0"/>
              <a:t>script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59950" y="5498020"/>
            <a:ext cx="17120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B050"/>
                </a:solidFill>
              </a:rPr>
              <a:t>Flow_Modifier.py</a:t>
            </a:r>
            <a:endParaRPr lang="en-US" sz="11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50" y="4002480"/>
            <a:ext cx="1530868" cy="14955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r="45659"/>
          <a:stretch/>
        </p:blipFill>
        <p:spPr>
          <a:xfrm>
            <a:off x="1872049" y="4211557"/>
            <a:ext cx="5607908" cy="237205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l="19791" t="3326" r="27910" b="-3326"/>
          <a:stretch/>
        </p:blipFill>
        <p:spPr>
          <a:xfrm>
            <a:off x="7817709" y="4499881"/>
            <a:ext cx="3904734" cy="16953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72047" y="3842225"/>
            <a:ext cx="10262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Flow_Modifier.py </a:t>
            </a:r>
            <a:r>
              <a:rPr lang="en-US" dirty="0" smtClean="0"/>
              <a:t>Configuration (references files shared/</a:t>
            </a:r>
            <a:r>
              <a:rPr lang="en-US" dirty="0" err="1" smtClean="0"/>
              <a:t>flow_modifier</a:t>
            </a:r>
            <a:r>
              <a:rPr lang="en-US" dirty="0" smtClean="0"/>
              <a:t> and shared directories) 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6853881" y="4794422"/>
            <a:ext cx="1153297" cy="477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7274011" y="5239265"/>
            <a:ext cx="716692" cy="189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7150443" y="5667632"/>
            <a:ext cx="856735" cy="255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4011" y="5958217"/>
            <a:ext cx="4813368" cy="892705"/>
          </a:xfrm>
          <a:prstGeom prst="rect">
            <a:avLst/>
          </a:prstGeom>
        </p:spPr>
      </p:pic>
      <p:cxnSp>
        <p:nvCxnSpPr>
          <p:cNvPr id="17" name="Straight Arrow Connector 16"/>
          <p:cNvCxnSpPr/>
          <p:nvPr/>
        </p:nvCxnSpPr>
        <p:spPr>
          <a:xfrm flipV="1">
            <a:off x="4893276" y="6434121"/>
            <a:ext cx="3772929" cy="33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471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 ESP </a:t>
            </a:r>
            <a:r>
              <a:rPr lang="en-US" dirty="0" err="1" smtClean="0"/>
              <a:t>ResSim</a:t>
            </a:r>
            <a:r>
              <a:rPr lang="en-US" dirty="0" smtClean="0"/>
              <a:t> Alternative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571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Save ESP Data to SQLite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68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5. Run GUI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585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8353" y="0"/>
            <a:ext cx="2890562" cy="6858000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H="1">
            <a:off x="4036541" y="403654"/>
            <a:ext cx="2265406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4373833" y="4469027"/>
            <a:ext cx="2265406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4456212" y="6256638"/>
            <a:ext cx="2265406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07893" y="247135"/>
            <a:ext cx="3196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Main ESP Tool directory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792098" y="4284361"/>
            <a:ext cx="3196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ESP Download Tool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792097" y="6071972"/>
            <a:ext cx="3196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ESP Local Flow Tool</a:t>
            </a:r>
            <a:endParaRPr lang="en-US" dirty="0"/>
          </a:p>
        </p:txBody>
      </p:sp>
      <p:sp>
        <p:nvSpPr>
          <p:cNvPr id="15" name="Left Brace 14"/>
          <p:cNvSpPr/>
          <p:nvPr/>
        </p:nvSpPr>
        <p:spPr>
          <a:xfrm>
            <a:off x="2883244" y="583042"/>
            <a:ext cx="135926" cy="646331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495170" y="583042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CAVI Folders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3212757" y="0"/>
            <a:ext cx="219844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&lt;Base CWMS Directory&gt;</a:t>
            </a:r>
            <a:endParaRPr lang="en-US" sz="1200" b="1" dirty="0"/>
          </a:p>
        </p:txBody>
      </p:sp>
      <p:cxnSp>
        <p:nvCxnSpPr>
          <p:cNvPr id="14" name="Straight Arrow Connector 13"/>
          <p:cNvCxnSpPr/>
          <p:nvPr/>
        </p:nvCxnSpPr>
        <p:spPr>
          <a:xfrm flipH="1" flipV="1">
            <a:off x="3945925" y="4020065"/>
            <a:ext cx="2693314" cy="823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792097" y="3843637"/>
            <a:ext cx="3777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Additional Python scripts for CAVI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4373833" y="4728518"/>
            <a:ext cx="2265406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792096" y="4540419"/>
            <a:ext cx="3196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jar file for SQLite script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559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858" y="4397896"/>
            <a:ext cx="1530868" cy="14955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8454" y="4630992"/>
            <a:ext cx="2219708" cy="157639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1500" y="4764973"/>
            <a:ext cx="1574662" cy="1308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396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Figures for config.xlsx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476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22780"/>
          <a:stretch/>
        </p:blipFill>
        <p:spPr>
          <a:xfrm>
            <a:off x="2357029" y="663852"/>
            <a:ext cx="7140934" cy="52451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520110" y="1470306"/>
            <a:ext cx="2835189" cy="2268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520110" y="1810527"/>
            <a:ext cx="2835189" cy="2457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520110" y="2226356"/>
            <a:ext cx="2835189" cy="1890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573665" y="2897351"/>
            <a:ext cx="1943679" cy="26776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187955" y="3839264"/>
            <a:ext cx="2098039" cy="5292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421454" y="941070"/>
            <a:ext cx="3480982" cy="49678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0" y="271568"/>
            <a:ext cx="2277363" cy="923330"/>
          </a:xfrm>
          <a:prstGeom prst="rect">
            <a:avLst/>
          </a:prstGeom>
          <a:solidFill>
            <a:schemeClr val="bg1">
              <a:lumMod val="85000"/>
              <a:alpha val="59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Forecasts with ‘</a:t>
            </a:r>
            <a:r>
              <a:rPr lang="en-US" dirty="0" err="1" smtClean="0"/>
              <a:t>forecast.db</a:t>
            </a:r>
            <a:r>
              <a:rPr lang="en-US" dirty="0" smtClean="0"/>
              <a:t>’ SQLite files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1492035"/>
            <a:ext cx="2277363" cy="1477328"/>
          </a:xfrm>
          <a:prstGeom prst="rect">
            <a:avLst/>
          </a:prstGeom>
          <a:solidFill>
            <a:schemeClr val="bg1">
              <a:lumMod val="85000"/>
              <a:alpha val="59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Established in </a:t>
            </a:r>
            <a:r>
              <a:rPr lang="en-US" dirty="0" err="1" smtClean="0"/>
              <a:t>webapp</a:t>
            </a:r>
            <a:r>
              <a:rPr lang="en-US" dirty="0" smtClean="0"/>
              <a:t>/</a:t>
            </a:r>
            <a:r>
              <a:rPr lang="en-US" dirty="0" err="1" smtClean="0"/>
              <a:t>global.R</a:t>
            </a:r>
            <a:r>
              <a:rPr lang="en-US" dirty="0" smtClean="0"/>
              <a:t> script via ‘</a:t>
            </a:r>
            <a:r>
              <a:rPr lang="en-US" dirty="0" err="1" smtClean="0"/>
              <a:t>metricsToCompute</a:t>
            </a:r>
            <a:r>
              <a:rPr lang="en-US" dirty="0" smtClean="0"/>
              <a:t>’ </a:t>
            </a:r>
            <a:r>
              <a:rPr lang="en-US" dirty="0" err="1" smtClean="0"/>
              <a:t>dataframe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0" y="3110491"/>
            <a:ext cx="2277363" cy="923330"/>
          </a:xfrm>
          <a:prstGeom prst="rect">
            <a:avLst/>
          </a:prstGeom>
          <a:solidFill>
            <a:schemeClr val="bg1">
              <a:lumMod val="85000"/>
              <a:alpha val="59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Interpreted from catalog IDs of time series output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0" y="5262423"/>
            <a:ext cx="2277363" cy="923330"/>
          </a:xfrm>
          <a:prstGeom prst="rect">
            <a:avLst/>
          </a:prstGeom>
          <a:solidFill>
            <a:schemeClr val="bg1">
              <a:lumMod val="85000"/>
              <a:alpha val="59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Established in </a:t>
            </a:r>
            <a:r>
              <a:rPr lang="en-US" dirty="0"/>
              <a:t>config.xlsx under ‘</a:t>
            </a:r>
            <a:r>
              <a:rPr lang="en-US" dirty="0" err="1" smtClean="0"/>
              <a:t>fcst_tbl</a:t>
            </a:r>
            <a:r>
              <a:rPr lang="en-US" dirty="0" smtClean="0"/>
              <a:t>’ tab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9537796" y="887197"/>
            <a:ext cx="2277363" cy="923330"/>
          </a:xfrm>
          <a:prstGeom prst="rect">
            <a:avLst/>
          </a:prstGeom>
          <a:solidFill>
            <a:schemeClr val="bg1">
              <a:lumMod val="85000"/>
              <a:alpha val="59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Established in config.xlsx </a:t>
            </a:r>
            <a:r>
              <a:rPr lang="en-US" dirty="0"/>
              <a:t>under ‘</a:t>
            </a:r>
            <a:r>
              <a:rPr lang="en-US" dirty="0" err="1"/>
              <a:t>plot_config</a:t>
            </a:r>
            <a:r>
              <a:rPr lang="en-US" dirty="0"/>
              <a:t>’ </a:t>
            </a:r>
            <a:r>
              <a:rPr lang="en-US" dirty="0" smtClean="0"/>
              <a:t>tab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0" y="4171335"/>
            <a:ext cx="2277363" cy="923330"/>
          </a:xfrm>
          <a:prstGeom prst="rect">
            <a:avLst/>
          </a:prstGeom>
          <a:solidFill>
            <a:schemeClr val="bg1">
              <a:lumMod val="85000"/>
              <a:alpha val="59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Established in </a:t>
            </a:r>
            <a:r>
              <a:rPr lang="en-US" dirty="0"/>
              <a:t>config.xlsx under ‘</a:t>
            </a:r>
            <a:r>
              <a:rPr lang="en-US" dirty="0" err="1"/>
              <a:t>current_data_tbl</a:t>
            </a:r>
            <a:r>
              <a:rPr lang="en-US" dirty="0"/>
              <a:t>’ </a:t>
            </a:r>
            <a:r>
              <a:rPr lang="en-US" dirty="0" smtClean="0"/>
              <a:t>tab</a:t>
            </a:r>
            <a:endParaRPr lang="en-US" dirty="0"/>
          </a:p>
        </p:txBody>
      </p:sp>
      <p:cxnSp>
        <p:nvCxnSpPr>
          <p:cNvPr id="21" name="Elbow Connector 20"/>
          <p:cNvCxnSpPr>
            <a:stCxn id="11" idx="3"/>
            <a:endCxn id="5" idx="0"/>
          </p:cNvCxnSpPr>
          <p:nvPr/>
        </p:nvCxnSpPr>
        <p:spPr>
          <a:xfrm>
            <a:off x="2277363" y="733233"/>
            <a:ext cx="1660342" cy="737073"/>
          </a:xfrm>
          <a:prstGeom prst="bentConnector2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/>
          <p:cNvCxnSpPr>
            <a:stCxn id="13" idx="3"/>
            <a:endCxn id="6" idx="1"/>
          </p:cNvCxnSpPr>
          <p:nvPr/>
        </p:nvCxnSpPr>
        <p:spPr>
          <a:xfrm flipV="1">
            <a:off x="2277363" y="1933385"/>
            <a:ext cx="242747" cy="297314"/>
          </a:xfrm>
          <a:prstGeom prst="bentConnector3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/>
          <p:cNvCxnSpPr>
            <a:stCxn id="14" idx="3"/>
            <a:endCxn id="7" idx="1"/>
          </p:cNvCxnSpPr>
          <p:nvPr/>
        </p:nvCxnSpPr>
        <p:spPr>
          <a:xfrm flipV="1">
            <a:off x="2277363" y="2320861"/>
            <a:ext cx="242747" cy="1251295"/>
          </a:xfrm>
          <a:prstGeom prst="bentConnector3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/>
          <p:cNvCxnSpPr>
            <a:stCxn id="19" idx="3"/>
          </p:cNvCxnSpPr>
          <p:nvPr/>
        </p:nvCxnSpPr>
        <p:spPr>
          <a:xfrm flipV="1">
            <a:off x="2277363" y="3161358"/>
            <a:ext cx="602986" cy="1471642"/>
          </a:xfrm>
          <a:prstGeom prst="bentConnector2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/>
          <p:cNvCxnSpPr>
            <a:stCxn id="15" idx="3"/>
            <a:endCxn id="9" idx="2"/>
          </p:cNvCxnSpPr>
          <p:nvPr/>
        </p:nvCxnSpPr>
        <p:spPr>
          <a:xfrm flipV="1">
            <a:off x="2277363" y="4368499"/>
            <a:ext cx="1959612" cy="1355589"/>
          </a:xfrm>
          <a:prstGeom prst="bentConnector2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/>
          <p:cNvCxnSpPr>
            <a:stCxn id="16" idx="2"/>
            <a:endCxn id="10" idx="3"/>
          </p:cNvCxnSpPr>
          <p:nvPr/>
        </p:nvCxnSpPr>
        <p:spPr>
          <a:xfrm rot="5400000">
            <a:off x="8982215" y="1730748"/>
            <a:ext cx="1614484" cy="1774042"/>
          </a:xfrm>
          <a:prstGeom prst="bentConnector2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4066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 </a:t>
            </a:r>
            <a:r>
              <a:rPr lang="en-US" dirty="0" err="1" smtClean="0"/>
              <a:t>Puls</a:t>
            </a:r>
            <a:r>
              <a:rPr lang="en-US" dirty="0" smtClean="0"/>
              <a:t> Table Extract from RAS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566" y="2629442"/>
            <a:ext cx="5201376" cy="329611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206" y="2530143"/>
            <a:ext cx="3742019" cy="3104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157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Printf</a:t>
            </a:r>
            <a:r>
              <a:rPr lang="en-US" dirty="0" smtClean="0"/>
              <a:t> formatting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998" y="2443025"/>
            <a:ext cx="1810003" cy="1971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33500" y="2527300"/>
            <a:ext cx="39751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Respects html formatting.  For example:</a:t>
            </a:r>
          </a:p>
          <a:p>
            <a:r>
              <a:rPr lang="en-US" dirty="0" smtClean="0"/>
              <a:t>“Lower </a:t>
            </a:r>
            <a:r>
              <a:rPr lang="en-US" dirty="0"/>
              <a:t>Granite&lt;</a:t>
            </a:r>
            <a:r>
              <a:rPr lang="en-US" dirty="0" err="1"/>
              <a:t>br</a:t>
            </a:r>
            <a:r>
              <a:rPr lang="en-US" dirty="0"/>
              <a:t>&gt;Elevation (</a:t>
            </a:r>
            <a:r>
              <a:rPr lang="en-US" dirty="0" err="1"/>
              <a:t>ft</a:t>
            </a:r>
            <a:r>
              <a:rPr lang="en-US" dirty="0"/>
              <a:t>, NGVD29</a:t>
            </a:r>
            <a:r>
              <a:rPr lang="en-US" dirty="0" smtClean="0"/>
              <a:t>)” will be interpreted similar to figure on the right.  Not the ‘&lt;</a:t>
            </a:r>
            <a:r>
              <a:rPr lang="en-US" dirty="0" err="1" smtClean="0"/>
              <a:t>br</a:t>
            </a:r>
            <a:r>
              <a:rPr lang="en-US" dirty="0" smtClean="0"/>
              <a:t>&gt;’ syntax to indicate new 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316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Current </a:t>
            </a:r>
            <a:r>
              <a:rPr lang="en-US" sz="2000" dirty="0" err="1" smtClean="0"/>
              <a:t>tbl</a:t>
            </a:r>
            <a:r>
              <a:rPr lang="en-US" sz="2000" dirty="0" smtClean="0"/>
              <a:t> formatting</a:t>
            </a:r>
            <a:endParaRPr lang="en-US" sz="2000" dirty="0"/>
          </a:p>
        </p:txBody>
      </p:sp>
      <p:grpSp>
        <p:nvGrpSpPr>
          <p:cNvPr id="4" name="Group 3"/>
          <p:cNvGrpSpPr/>
          <p:nvPr/>
        </p:nvGrpSpPr>
        <p:grpSpPr>
          <a:xfrm>
            <a:off x="2366878" y="-948195"/>
            <a:ext cx="9692604" cy="6625217"/>
            <a:chOff x="2366878" y="-948195"/>
            <a:chExt cx="9692604" cy="6625217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0" y="2225572"/>
              <a:ext cx="5963482" cy="1467055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3"/>
            <a:srcRect l="63858" r="4584" b="25007"/>
            <a:stretch/>
          </p:blipFill>
          <p:spPr>
            <a:xfrm>
              <a:off x="2366878" y="2883002"/>
              <a:ext cx="3162300" cy="790575"/>
            </a:xfrm>
            <a:prstGeom prst="rect">
              <a:avLst/>
            </a:prstGeom>
          </p:spPr>
        </p:pic>
        <p:sp>
          <p:nvSpPr>
            <p:cNvPr id="7" name="Rectangle 6"/>
            <p:cNvSpPr/>
            <p:nvPr/>
          </p:nvSpPr>
          <p:spPr>
            <a:xfrm>
              <a:off x="6358685" y="2959098"/>
              <a:ext cx="4871290" cy="64135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4"/>
            <a:srcRect r="6579"/>
            <a:stretch/>
          </p:blipFill>
          <p:spPr>
            <a:xfrm>
              <a:off x="2486025" y="4772024"/>
              <a:ext cx="3045644" cy="788931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00056" y="3924177"/>
              <a:ext cx="5153744" cy="1752845"/>
            </a:xfrm>
            <a:prstGeom prst="rect">
              <a:avLst/>
            </a:prstGeom>
          </p:spPr>
        </p:pic>
        <p:sp>
          <p:nvSpPr>
            <p:cNvPr id="10" name="Rectangle 9"/>
            <p:cNvSpPr/>
            <p:nvPr/>
          </p:nvSpPr>
          <p:spPr>
            <a:xfrm>
              <a:off x="6341283" y="4850781"/>
              <a:ext cx="4871290" cy="64135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/>
            <p:cNvCxnSpPr>
              <a:stCxn id="6" idx="3"/>
              <a:endCxn id="7" idx="1"/>
            </p:cNvCxnSpPr>
            <p:nvPr/>
          </p:nvCxnSpPr>
          <p:spPr>
            <a:xfrm>
              <a:off x="5529178" y="3278290"/>
              <a:ext cx="829507" cy="1484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8" idx="3"/>
              <a:endCxn id="10" idx="1"/>
            </p:cNvCxnSpPr>
            <p:nvPr/>
          </p:nvCxnSpPr>
          <p:spPr>
            <a:xfrm>
              <a:off x="5531669" y="5166490"/>
              <a:ext cx="809614" cy="4967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4231501" y="-948195"/>
              <a:ext cx="4410075" cy="3416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Respects ‘</a:t>
              </a:r>
              <a:r>
                <a:rPr lang="en-US" dirty="0" err="1" smtClean="0"/>
                <a:t>printf</a:t>
              </a:r>
              <a:r>
                <a:rPr lang="en-US" dirty="0" smtClean="0"/>
                <a:t>’ formatting.  For example, “%.1f” indicates a floating point value with one decimal space.  “%s” indicates a string.  </a:t>
              </a:r>
              <a:endParaRPr lang="en-US" dirty="0"/>
            </a:p>
            <a:p>
              <a:endParaRPr lang="en-US" dirty="0" smtClean="0"/>
            </a:p>
            <a:p>
              <a:r>
                <a:rPr lang="en-US" dirty="0" smtClean="0"/>
                <a:t>The inclusion of “%s” to indicate the most recent date-time of available CWMS data is optional, but the floating point value is required. If specified, the “%s” must be placed after the floating point </a:t>
              </a:r>
              <a:r>
                <a:rPr lang="en-US" dirty="0" err="1" smtClean="0"/>
                <a:t>specifier</a:t>
              </a:r>
              <a:r>
                <a:rPr lang="en-US" dirty="0" smtClean="0"/>
                <a:t>.</a:t>
              </a:r>
            </a:p>
            <a:p>
              <a:endParaRPr lang="en-US" dirty="0"/>
            </a:p>
            <a:p>
              <a:r>
                <a:rPr lang="en-US" dirty="0" smtClean="0"/>
                <a:t>Example inputs, and resulting ‘Current CWMS Data’ text:</a:t>
              </a:r>
              <a:endParaRPr lang="en-US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366878" y="2466786"/>
              <a:ext cx="44100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With “%s” syntax:</a:t>
              </a:r>
              <a:endParaRPr lang="en-US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366878" y="4329564"/>
              <a:ext cx="44100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Without “%s” syntax: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47101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Forecast Table Configuration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36" y="2027352"/>
            <a:ext cx="8202170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6530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10049" y="1859722"/>
            <a:ext cx="2656917" cy="187836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 rot="17886279">
            <a:off x="2173473" y="717754"/>
            <a:ext cx="1634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CCP in </a:t>
            </a:r>
            <a:r>
              <a:rPr lang="en-US" dirty="0" err="1" smtClean="0"/>
              <a:t>ResSIm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 rot="17886279">
            <a:off x="3252362" y="670624"/>
            <a:ext cx="2080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Not a CCP in </a:t>
            </a:r>
            <a:r>
              <a:rPr lang="en-US" dirty="0" err="1" smtClean="0"/>
              <a:t>ResSim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40574" y="1859722"/>
            <a:ext cx="1691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RFC Forecast Location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32419" y="2814755"/>
            <a:ext cx="16911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Not an RFC Forecast Location</a:t>
            </a:r>
            <a:endParaRPr lang="en-US" dirty="0"/>
          </a:p>
        </p:txBody>
      </p:sp>
      <p:cxnSp>
        <p:nvCxnSpPr>
          <p:cNvPr id="10" name="Straight Connector 9"/>
          <p:cNvCxnSpPr>
            <a:stCxn id="4" idx="0"/>
            <a:endCxn id="4" idx="2"/>
          </p:cNvCxnSpPr>
          <p:nvPr/>
        </p:nvCxnSpPr>
        <p:spPr>
          <a:xfrm>
            <a:off x="3538508" y="1859722"/>
            <a:ext cx="0" cy="18783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4" idx="1"/>
            <a:endCxn id="4" idx="3"/>
          </p:cNvCxnSpPr>
          <p:nvPr/>
        </p:nvCxnSpPr>
        <p:spPr>
          <a:xfrm>
            <a:off x="2210049" y="2798904"/>
            <a:ext cx="265691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726171" y="2193738"/>
            <a:ext cx="189121" cy="18912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2770157" y="2235503"/>
            <a:ext cx="107091" cy="10709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4111000" y="2251878"/>
            <a:ext cx="183478" cy="183478"/>
            <a:chOff x="4164415" y="1549344"/>
            <a:chExt cx="183478" cy="183478"/>
          </a:xfrm>
        </p:grpSpPr>
        <p:sp>
          <p:nvSpPr>
            <p:cNvPr id="18" name="Oval 17"/>
            <p:cNvSpPr/>
            <p:nvPr/>
          </p:nvSpPr>
          <p:spPr>
            <a:xfrm>
              <a:off x="4164415" y="1549344"/>
              <a:ext cx="183478" cy="183478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4200355" y="1581440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/>
          <p:cNvSpPr/>
          <p:nvPr/>
        </p:nvSpPr>
        <p:spPr>
          <a:xfrm>
            <a:off x="8330784" y="1875573"/>
            <a:ext cx="2656917" cy="187836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 rot="17886279">
            <a:off x="8294208" y="733605"/>
            <a:ext cx="1634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CCP in </a:t>
            </a:r>
            <a:r>
              <a:rPr lang="en-US" dirty="0" err="1" smtClean="0"/>
              <a:t>ResSIm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 rot="17886279">
            <a:off x="9373097" y="686475"/>
            <a:ext cx="2080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Not a CCP in </a:t>
            </a:r>
            <a:r>
              <a:rPr lang="en-US" dirty="0" err="1" smtClean="0"/>
              <a:t>ResSim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6561309" y="1875573"/>
            <a:ext cx="1691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RFC Forecast Location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6453154" y="2830606"/>
            <a:ext cx="16911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Not am RFC Forecast Location</a:t>
            </a:r>
            <a:endParaRPr lang="en-US" dirty="0"/>
          </a:p>
        </p:txBody>
      </p:sp>
      <p:cxnSp>
        <p:nvCxnSpPr>
          <p:cNvPr id="28" name="Straight Connector 27"/>
          <p:cNvCxnSpPr>
            <a:stCxn id="23" idx="0"/>
            <a:endCxn id="23" idx="2"/>
          </p:cNvCxnSpPr>
          <p:nvPr/>
        </p:nvCxnSpPr>
        <p:spPr>
          <a:xfrm>
            <a:off x="9659243" y="1875573"/>
            <a:ext cx="0" cy="18783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23" idx="1"/>
            <a:endCxn id="23" idx="3"/>
          </p:cNvCxnSpPr>
          <p:nvPr/>
        </p:nvCxnSpPr>
        <p:spPr>
          <a:xfrm>
            <a:off x="8330784" y="2814755"/>
            <a:ext cx="265691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330784" y="2922939"/>
            <a:ext cx="13284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Develop relationship between another ESP forecast location to estimate flows</a:t>
            </a:r>
            <a:endParaRPr lang="en-US" sz="1050" dirty="0"/>
          </a:p>
        </p:txBody>
      </p:sp>
      <p:sp>
        <p:nvSpPr>
          <p:cNvPr id="39" name="TextBox 38"/>
          <p:cNvSpPr txBox="1"/>
          <p:nvPr/>
        </p:nvSpPr>
        <p:spPr>
          <a:xfrm>
            <a:off x="9659243" y="1914508"/>
            <a:ext cx="1328458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Neglect and account for net local flow contribution downstream as difference</a:t>
            </a:r>
            <a:endParaRPr lang="en-US" sz="1050" dirty="0"/>
          </a:p>
        </p:txBody>
      </p:sp>
      <p:grpSp>
        <p:nvGrpSpPr>
          <p:cNvPr id="40" name="Group 39"/>
          <p:cNvGrpSpPr/>
          <p:nvPr/>
        </p:nvGrpSpPr>
        <p:grpSpPr>
          <a:xfrm>
            <a:off x="2763386" y="3181859"/>
            <a:ext cx="189121" cy="189121"/>
            <a:chOff x="9313538" y="6135418"/>
            <a:chExt cx="189121" cy="189121"/>
          </a:xfrm>
        </p:grpSpPr>
        <p:sp>
          <p:nvSpPr>
            <p:cNvPr id="41" name="Oval 40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107634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Freeform 43"/>
          <p:cNvSpPr/>
          <p:nvPr/>
        </p:nvSpPr>
        <p:spPr>
          <a:xfrm>
            <a:off x="3365555" y="2356007"/>
            <a:ext cx="2524363" cy="814347"/>
          </a:xfrm>
          <a:custGeom>
            <a:avLst/>
            <a:gdLst>
              <a:gd name="connsiteX0" fmla="*/ 2314833 w 2314833"/>
              <a:gd name="connsiteY0" fmla="*/ 0 h 832022"/>
              <a:gd name="connsiteX1" fmla="*/ 0 w 2314833"/>
              <a:gd name="connsiteY1" fmla="*/ 832022 h 832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14833" h="832022">
                <a:moveTo>
                  <a:pt x="2314833" y="0"/>
                </a:moveTo>
                <a:lnTo>
                  <a:pt x="0" y="832022"/>
                </a:lnTo>
              </a:path>
            </a:pathLst>
          </a:cu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reeform 52"/>
          <p:cNvSpPr/>
          <p:nvPr/>
        </p:nvSpPr>
        <p:spPr>
          <a:xfrm>
            <a:off x="3470216" y="2036989"/>
            <a:ext cx="274280" cy="1021491"/>
          </a:xfrm>
          <a:custGeom>
            <a:avLst/>
            <a:gdLst>
              <a:gd name="connsiteX0" fmla="*/ 274280 w 274280"/>
              <a:gd name="connsiteY0" fmla="*/ 1021491 h 1021491"/>
              <a:gd name="connsiteX1" fmla="*/ 10669 w 274280"/>
              <a:gd name="connsiteY1" fmla="*/ 436605 h 1021491"/>
              <a:gd name="connsiteX2" fmla="*/ 76572 w 274280"/>
              <a:gd name="connsiteY2" fmla="*/ 0 h 1021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4280" h="1021491">
                <a:moveTo>
                  <a:pt x="274280" y="1021491"/>
                </a:moveTo>
                <a:cubicBezTo>
                  <a:pt x="158950" y="814172"/>
                  <a:pt x="43620" y="606853"/>
                  <a:pt x="10669" y="436605"/>
                </a:cubicBezTo>
                <a:cubicBezTo>
                  <a:pt x="-22282" y="266357"/>
                  <a:pt x="27145" y="133178"/>
                  <a:pt x="76572" y="0"/>
                </a:cubicBezTo>
              </a:path>
            </a:pathLst>
          </a:cu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3553810" y="1866432"/>
            <a:ext cx="1211469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PRII1</a:t>
            </a:r>
          </a:p>
          <a:p>
            <a:r>
              <a:rPr lang="en-US" sz="1200" dirty="0" smtClean="0"/>
              <a:t>Potlatch below Little Potlatch</a:t>
            </a:r>
          </a:p>
        </p:txBody>
      </p:sp>
      <p:sp>
        <p:nvSpPr>
          <p:cNvPr id="69" name="Freeform 68"/>
          <p:cNvSpPr/>
          <p:nvPr/>
        </p:nvSpPr>
        <p:spPr>
          <a:xfrm>
            <a:off x="5523869" y="2494852"/>
            <a:ext cx="700216" cy="411892"/>
          </a:xfrm>
          <a:custGeom>
            <a:avLst/>
            <a:gdLst>
              <a:gd name="connsiteX0" fmla="*/ 0 w 700216"/>
              <a:gd name="connsiteY0" fmla="*/ 0 h 411892"/>
              <a:gd name="connsiteX1" fmla="*/ 411892 w 700216"/>
              <a:gd name="connsiteY1" fmla="*/ 271849 h 411892"/>
              <a:gd name="connsiteX2" fmla="*/ 700216 w 700216"/>
              <a:gd name="connsiteY2" fmla="*/ 411892 h 41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216" h="411892">
                <a:moveTo>
                  <a:pt x="0" y="0"/>
                </a:moveTo>
                <a:cubicBezTo>
                  <a:pt x="147594" y="101600"/>
                  <a:pt x="295189" y="203200"/>
                  <a:pt x="411892" y="271849"/>
                </a:cubicBezTo>
                <a:cubicBezTo>
                  <a:pt x="528595" y="340498"/>
                  <a:pt x="614405" y="376195"/>
                  <a:pt x="700216" y="411892"/>
                </a:cubicBezTo>
              </a:path>
            </a:pathLst>
          </a:cu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/>
          <p:cNvSpPr txBox="1"/>
          <p:nvPr/>
        </p:nvSpPr>
        <p:spPr>
          <a:xfrm>
            <a:off x="5772192" y="1646090"/>
            <a:ext cx="1211469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DWRI1</a:t>
            </a:r>
          </a:p>
          <a:p>
            <a:r>
              <a:rPr lang="en-US" sz="1200" dirty="0" err="1" smtClean="0"/>
              <a:t>Dworshak</a:t>
            </a:r>
            <a:endParaRPr lang="en-US" sz="1200" dirty="0" smtClean="0"/>
          </a:p>
        </p:txBody>
      </p:sp>
      <p:sp>
        <p:nvSpPr>
          <p:cNvPr id="85" name="TextBox 84"/>
          <p:cNvSpPr txBox="1"/>
          <p:nvPr/>
        </p:nvSpPr>
        <p:spPr>
          <a:xfrm>
            <a:off x="5975005" y="2988996"/>
            <a:ext cx="1211469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ORFI1</a:t>
            </a:r>
          </a:p>
          <a:p>
            <a:r>
              <a:rPr lang="en-US" sz="1200" dirty="0" smtClean="0"/>
              <a:t>Clearwater at Orofino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455277" y="2968577"/>
            <a:ext cx="2467211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CCP not associated with RFC </a:t>
            </a:r>
            <a:r>
              <a:rPr lang="en-US" dirty="0" smtClean="0"/>
              <a:t>Forecast </a:t>
            </a:r>
            <a:r>
              <a:rPr lang="en-US" dirty="0" smtClean="0"/>
              <a:t>Location</a:t>
            </a:r>
            <a:endParaRPr lang="en-US" sz="1200" dirty="0"/>
          </a:p>
        </p:txBody>
      </p:sp>
      <p:sp>
        <p:nvSpPr>
          <p:cNvPr id="96" name="TextBox 95"/>
          <p:cNvSpPr txBox="1"/>
          <p:nvPr/>
        </p:nvSpPr>
        <p:spPr>
          <a:xfrm>
            <a:off x="7466061" y="2370786"/>
            <a:ext cx="2467211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CCP Inflow </a:t>
            </a:r>
            <a:r>
              <a:rPr lang="en-US" dirty="0" smtClean="0"/>
              <a:t>Location and RFC Forecast Location</a:t>
            </a:r>
            <a:endParaRPr lang="en-US" sz="1200" dirty="0"/>
          </a:p>
        </p:txBody>
      </p:sp>
      <p:grpSp>
        <p:nvGrpSpPr>
          <p:cNvPr id="101" name="Group 100"/>
          <p:cNvGrpSpPr/>
          <p:nvPr/>
        </p:nvGrpSpPr>
        <p:grpSpPr>
          <a:xfrm>
            <a:off x="7165832" y="2483408"/>
            <a:ext cx="189121" cy="189121"/>
            <a:chOff x="9313538" y="6135418"/>
            <a:chExt cx="189121" cy="189121"/>
          </a:xfrm>
        </p:grpSpPr>
        <p:sp>
          <p:nvSpPr>
            <p:cNvPr id="102" name="Oval 101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4" name="Group 103"/>
          <p:cNvGrpSpPr/>
          <p:nvPr/>
        </p:nvGrpSpPr>
        <p:grpSpPr>
          <a:xfrm>
            <a:off x="6070000" y="2816019"/>
            <a:ext cx="189121" cy="189121"/>
            <a:chOff x="9313538" y="6135418"/>
            <a:chExt cx="189121" cy="189121"/>
          </a:xfrm>
        </p:grpSpPr>
        <p:sp>
          <p:nvSpPr>
            <p:cNvPr id="105" name="Oval 104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0" name="Group 109"/>
          <p:cNvGrpSpPr/>
          <p:nvPr/>
        </p:nvGrpSpPr>
        <p:grpSpPr>
          <a:xfrm>
            <a:off x="3399544" y="2370786"/>
            <a:ext cx="189121" cy="189121"/>
            <a:chOff x="9313538" y="6135418"/>
            <a:chExt cx="189121" cy="189121"/>
          </a:xfrm>
        </p:grpSpPr>
        <p:sp>
          <p:nvSpPr>
            <p:cNvPr id="111" name="Oval 110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Oval 111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9" name="Straight Connector 128"/>
          <p:cNvCxnSpPr/>
          <p:nvPr/>
        </p:nvCxnSpPr>
        <p:spPr>
          <a:xfrm>
            <a:off x="6961065" y="2130378"/>
            <a:ext cx="607560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7668210" y="1945712"/>
            <a:ext cx="2273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ResSim</a:t>
            </a:r>
            <a:r>
              <a:rPr lang="en-US" dirty="0" smtClean="0"/>
              <a:t> Model Reach</a:t>
            </a:r>
            <a:endParaRPr lang="en-US" dirty="0"/>
          </a:p>
        </p:txBody>
      </p:sp>
      <p:sp>
        <p:nvSpPr>
          <p:cNvPr id="138" name="TextBox 137"/>
          <p:cNvSpPr txBox="1"/>
          <p:nvPr/>
        </p:nvSpPr>
        <p:spPr>
          <a:xfrm>
            <a:off x="2414830" y="2431380"/>
            <a:ext cx="1211469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SPDI1</a:t>
            </a:r>
          </a:p>
          <a:p>
            <a:r>
              <a:rPr lang="en-US" sz="1200" dirty="0" smtClean="0"/>
              <a:t>Clearwater at Spalding (local)</a:t>
            </a:r>
          </a:p>
        </p:txBody>
      </p:sp>
      <p:sp>
        <p:nvSpPr>
          <p:cNvPr id="143" name="Freeform 142"/>
          <p:cNvSpPr/>
          <p:nvPr/>
        </p:nvSpPr>
        <p:spPr>
          <a:xfrm rot="19540660">
            <a:off x="3884394" y="2968053"/>
            <a:ext cx="274280" cy="1021491"/>
          </a:xfrm>
          <a:custGeom>
            <a:avLst/>
            <a:gdLst>
              <a:gd name="connsiteX0" fmla="*/ 274280 w 274280"/>
              <a:gd name="connsiteY0" fmla="*/ 1021491 h 1021491"/>
              <a:gd name="connsiteX1" fmla="*/ 10669 w 274280"/>
              <a:gd name="connsiteY1" fmla="*/ 436605 h 1021491"/>
              <a:gd name="connsiteX2" fmla="*/ 76572 w 274280"/>
              <a:gd name="connsiteY2" fmla="*/ 0 h 1021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4280" h="1021491">
                <a:moveTo>
                  <a:pt x="274280" y="1021491"/>
                </a:moveTo>
                <a:cubicBezTo>
                  <a:pt x="158950" y="814172"/>
                  <a:pt x="43620" y="606853"/>
                  <a:pt x="10669" y="436605"/>
                </a:cubicBezTo>
                <a:cubicBezTo>
                  <a:pt x="-22282" y="266357"/>
                  <a:pt x="27145" y="133178"/>
                  <a:pt x="76572" y="0"/>
                </a:cubicBezTo>
              </a:path>
            </a:pathLst>
          </a:cu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TextBox 144"/>
          <p:cNvSpPr txBox="1"/>
          <p:nvPr/>
        </p:nvSpPr>
        <p:spPr>
          <a:xfrm>
            <a:off x="4097224" y="3767768"/>
            <a:ext cx="1774592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err="1" smtClean="0"/>
              <a:t>Lapwai</a:t>
            </a:r>
            <a:r>
              <a:rPr lang="en-US" dirty="0" smtClean="0"/>
              <a:t> </a:t>
            </a:r>
            <a:r>
              <a:rPr lang="en-US" dirty="0" err="1" smtClean="0"/>
              <a:t>Ck</a:t>
            </a:r>
            <a:r>
              <a:rPr lang="en-US" dirty="0" smtClean="0"/>
              <a:t> near </a:t>
            </a:r>
            <a:r>
              <a:rPr lang="en-US" dirty="0" err="1" smtClean="0"/>
              <a:t>Lapwai</a:t>
            </a:r>
            <a:endParaRPr lang="en-US" dirty="0" smtClean="0"/>
          </a:p>
          <a:p>
            <a:r>
              <a:rPr lang="en-US" sz="1200" dirty="0" smtClean="0"/>
              <a:t>USGS 13342450</a:t>
            </a:r>
          </a:p>
        </p:txBody>
      </p:sp>
      <p:grpSp>
        <p:nvGrpSpPr>
          <p:cNvPr id="146" name="Group 145"/>
          <p:cNvGrpSpPr/>
          <p:nvPr/>
        </p:nvGrpSpPr>
        <p:grpSpPr>
          <a:xfrm rot="14423549">
            <a:off x="5520409" y="2325538"/>
            <a:ext cx="605997" cy="74913"/>
            <a:chOff x="1932416" y="2981325"/>
            <a:chExt cx="605997" cy="74913"/>
          </a:xfrm>
          <a:solidFill>
            <a:schemeClr val="bg1"/>
          </a:solidFill>
        </p:grpSpPr>
        <p:cxnSp>
          <p:nvCxnSpPr>
            <p:cNvPr id="147" name="Straight Connector 146"/>
            <p:cNvCxnSpPr/>
            <p:nvPr/>
          </p:nvCxnSpPr>
          <p:spPr>
            <a:xfrm flipV="1">
              <a:off x="1932416" y="2982097"/>
              <a:ext cx="115330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/>
            <p:cNvCxnSpPr/>
            <p:nvPr/>
          </p:nvCxnSpPr>
          <p:spPr>
            <a:xfrm>
              <a:off x="2050256" y="2981325"/>
              <a:ext cx="354807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/>
            <p:cNvCxnSpPr/>
            <p:nvPr/>
          </p:nvCxnSpPr>
          <p:spPr>
            <a:xfrm>
              <a:off x="2405064" y="2982097"/>
              <a:ext cx="133349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5924954" y="2273279"/>
            <a:ext cx="189121" cy="189121"/>
            <a:chOff x="9313538" y="6135418"/>
            <a:chExt cx="189121" cy="189121"/>
          </a:xfrm>
        </p:grpSpPr>
        <p:sp>
          <p:nvSpPr>
            <p:cNvPr id="108" name="Oval 107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Oval 108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0" name="TextBox 149"/>
          <p:cNvSpPr txBox="1"/>
          <p:nvPr/>
        </p:nvSpPr>
        <p:spPr>
          <a:xfrm>
            <a:off x="3163758" y="237825"/>
            <a:ext cx="46477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ESP Example Routing</a:t>
            </a:r>
            <a:endParaRPr lang="en-US" sz="2800" dirty="0"/>
          </a:p>
        </p:txBody>
      </p:sp>
      <p:grpSp>
        <p:nvGrpSpPr>
          <p:cNvPr id="156" name="Group 155"/>
          <p:cNvGrpSpPr/>
          <p:nvPr/>
        </p:nvGrpSpPr>
        <p:grpSpPr>
          <a:xfrm>
            <a:off x="4156496" y="3654573"/>
            <a:ext cx="183478" cy="183478"/>
            <a:chOff x="4164415" y="1549344"/>
            <a:chExt cx="183478" cy="183478"/>
          </a:xfrm>
        </p:grpSpPr>
        <p:sp>
          <p:nvSpPr>
            <p:cNvPr id="157" name="Oval 156"/>
            <p:cNvSpPr/>
            <p:nvPr/>
          </p:nvSpPr>
          <p:spPr>
            <a:xfrm>
              <a:off x="4164415" y="1549344"/>
              <a:ext cx="183478" cy="183478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Oval 157"/>
            <p:cNvSpPr/>
            <p:nvPr/>
          </p:nvSpPr>
          <p:spPr>
            <a:xfrm>
              <a:off x="4200355" y="1581440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9" name="Group 158"/>
          <p:cNvGrpSpPr/>
          <p:nvPr/>
        </p:nvGrpSpPr>
        <p:grpSpPr>
          <a:xfrm>
            <a:off x="7167109" y="3015719"/>
            <a:ext cx="183478" cy="183478"/>
            <a:chOff x="4164415" y="1549344"/>
            <a:chExt cx="183478" cy="183478"/>
          </a:xfrm>
        </p:grpSpPr>
        <p:sp>
          <p:nvSpPr>
            <p:cNvPr id="160" name="Oval 159"/>
            <p:cNvSpPr/>
            <p:nvPr/>
          </p:nvSpPr>
          <p:spPr>
            <a:xfrm>
              <a:off x="4164415" y="1549344"/>
              <a:ext cx="183478" cy="183478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Oval 160"/>
            <p:cNvSpPr/>
            <p:nvPr/>
          </p:nvSpPr>
          <p:spPr>
            <a:xfrm>
              <a:off x="4200355" y="1581440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4" name="Group 143"/>
          <p:cNvGrpSpPr/>
          <p:nvPr/>
        </p:nvGrpSpPr>
        <p:grpSpPr>
          <a:xfrm>
            <a:off x="3163758" y="3127314"/>
            <a:ext cx="189121" cy="189121"/>
            <a:chOff x="9313538" y="6135418"/>
            <a:chExt cx="189121" cy="189121"/>
          </a:xfrm>
        </p:grpSpPr>
        <p:sp>
          <p:nvSpPr>
            <p:cNvPr id="163" name="Oval 162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Oval 163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7" name="Rectangle 46"/>
          <p:cNvSpPr/>
          <p:nvPr/>
        </p:nvSpPr>
        <p:spPr>
          <a:xfrm>
            <a:off x="636397" y="4765316"/>
            <a:ext cx="10010833" cy="369332"/>
          </a:xfrm>
          <a:prstGeom prst="rect">
            <a:avLst/>
          </a:prstGeom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SPDI1</a:t>
            </a:r>
            <a:r>
              <a:rPr lang="en-US" b="1" baseline="-25000" dirty="0"/>
              <a:t>local </a:t>
            </a:r>
            <a:r>
              <a:rPr lang="en-US" b="1" dirty="0"/>
              <a:t>= SPDI1</a:t>
            </a:r>
            <a:r>
              <a:rPr lang="en-US" b="1" baseline="-25000" dirty="0"/>
              <a:t>total </a:t>
            </a:r>
            <a:r>
              <a:rPr lang="en-US" b="1" dirty="0"/>
              <a:t>–PRII1</a:t>
            </a:r>
            <a:r>
              <a:rPr lang="en-US" b="1" baseline="-25000" dirty="0"/>
              <a:t>total,routed</a:t>
            </a:r>
            <a:r>
              <a:rPr lang="en-US" b="1" dirty="0"/>
              <a:t>– </a:t>
            </a:r>
            <a:r>
              <a:rPr lang="en-US" b="1" dirty="0" smtClean="0"/>
              <a:t>0.14*PRII1</a:t>
            </a:r>
            <a:r>
              <a:rPr lang="en-US" b="1" baseline="-25000" dirty="0" smtClean="0"/>
              <a:t>total,routed</a:t>
            </a:r>
            <a:r>
              <a:rPr lang="en-US" b="1" dirty="0" smtClean="0"/>
              <a:t>– </a:t>
            </a:r>
            <a:r>
              <a:rPr lang="en-US" b="1" dirty="0"/>
              <a:t>ORFI1</a:t>
            </a:r>
            <a:r>
              <a:rPr lang="en-US" b="1" baseline="-25000" dirty="0"/>
              <a:t>total,routed</a:t>
            </a:r>
            <a:r>
              <a:rPr lang="en-US" b="1" dirty="0"/>
              <a:t> – DWRI1</a:t>
            </a:r>
            <a:r>
              <a:rPr lang="en-US" b="1" baseline="-25000" dirty="0"/>
              <a:t>total,routed</a:t>
            </a:r>
            <a:endParaRPr lang="en-US" b="1" dirty="0"/>
          </a:p>
        </p:txBody>
      </p:sp>
      <p:sp>
        <p:nvSpPr>
          <p:cNvPr id="48" name="Right Brace 47"/>
          <p:cNvSpPr/>
          <p:nvPr/>
        </p:nvSpPr>
        <p:spPr>
          <a:xfrm rot="5400000">
            <a:off x="4959042" y="4495331"/>
            <a:ext cx="301926" cy="1791332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TextBox 161"/>
          <p:cNvSpPr txBox="1"/>
          <p:nvPr/>
        </p:nvSpPr>
        <p:spPr>
          <a:xfrm>
            <a:off x="4127342" y="5635781"/>
            <a:ext cx="232750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err="1" smtClean="0"/>
              <a:t>Lapwai</a:t>
            </a:r>
            <a:r>
              <a:rPr lang="en-US" dirty="0" smtClean="0"/>
              <a:t> </a:t>
            </a:r>
            <a:r>
              <a:rPr lang="en-US" dirty="0" err="1" smtClean="0"/>
              <a:t>Ck</a:t>
            </a:r>
            <a:r>
              <a:rPr lang="en-US" dirty="0" smtClean="0"/>
              <a:t> near </a:t>
            </a:r>
            <a:r>
              <a:rPr lang="en-US" dirty="0" err="1" smtClean="0"/>
              <a:t>Lapwai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4004464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/>
        </p:nvSpPr>
        <p:spPr>
          <a:xfrm rot="20817945">
            <a:off x="4084297" y="1258030"/>
            <a:ext cx="254842" cy="2909048"/>
          </a:xfrm>
          <a:custGeom>
            <a:avLst/>
            <a:gdLst>
              <a:gd name="connsiteX0" fmla="*/ 543823 w 588646"/>
              <a:gd name="connsiteY0" fmla="*/ 0 h 3855308"/>
              <a:gd name="connsiteX1" fmla="*/ 125 w 588646"/>
              <a:gd name="connsiteY1" fmla="*/ 881448 h 3855308"/>
              <a:gd name="connsiteX2" fmla="*/ 585012 w 588646"/>
              <a:gd name="connsiteY2" fmla="*/ 2125362 h 3855308"/>
              <a:gd name="connsiteX3" fmla="*/ 247260 w 588646"/>
              <a:gd name="connsiteY3" fmla="*/ 3855308 h 3855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8646" h="3855308">
                <a:moveTo>
                  <a:pt x="543823" y="0"/>
                </a:moveTo>
                <a:cubicBezTo>
                  <a:pt x="268541" y="263610"/>
                  <a:pt x="-6740" y="527221"/>
                  <a:pt x="125" y="881448"/>
                </a:cubicBezTo>
                <a:cubicBezTo>
                  <a:pt x="6990" y="1235675"/>
                  <a:pt x="543823" y="1629719"/>
                  <a:pt x="585012" y="2125362"/>
                </a:cubicBezTo>
                <a:cubicBezTo>
                  <a:pt x="626201" y="2621005"/>
                  <a:pt x="304925" y="3568357"/>
                  <a:pt x="247260" y="3855308"/>
                </a:cubicBezTo>
              </a:path>
            </a:pathLst>
          </a:cu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/>
          <p:cNvGrpSpPr/>
          <p:nvPr/>
        </p:nvGrpSpPr>
        <p:grpSpPr>
          <a:xfrm rot="322589">
            <a:off x="4179448" y="3964285"/>
            <a:ext cx="605997" cy="74913"/>
            <a:chOff x="1932416" y="2981325"/>
            <a:chExt cx="605997" cy="74913"/>
          </a:xfrm>
          <a:solidFill>
            <a:schemeClr val="bg1"/>
          </a:solidFill>
        </p:grpSpPr>
        <p:cxnSp>
          <p:nvCxnSpPr>
            <p:cNvPr id="24" name="Straight Connector 23"/>
            <p:cNvCxnSpPr/>
            <p:nvPr/>
          </p:nvCxnSpPr>
          <p:spPr>
            <a:xfrm flipV="1">
              <a:off x="1932416" y="2982097"/>
              <a:ext cx="115330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2050256" y="2981325"/>
              <a:ext cx="354807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2405064" y="2982097"/>
              <a:ext cx="133349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Freeform 55"/>
          <p:cNvSpPr/>
          <p:nvPr/>
        </p:nvSpPr>
        <p:spPr>
          <a:xfrm>
            <a:off x="3098490" y="2549478"/>
            <a:ext cx="1109738" cy="238898"/>
          </a:xfrm>
          <a:custGeom>
            <a:avLst/>
            <a:gdLst>
              <a:gd name="connsiteX0" fmla="*/ 0 w 988541"/>
              <a:gd name="connsiteY0" fmla="*/ 238898 h 238898"/>
              <a:gd name="connsiteX1" fmla="*/ 560173 w 988541"/>
              <a:gd name="connsiteY1" fmla="*/ 74141 h 238898"/>
              <a:gd name="connsiteX2" fmla="*/ 988541 w 988541"/>
              <a:gd name="connsiteY2" fmla="*/ 0 h 238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88541" h="238898">
                <a:moveTo>
                  <a:pt x="0" y="238898"/>
                </a:moveTo>
                <a:cubicBezTo>
                  <a:pt x="197708" y="176427"/>
                  <a:pt x="395416" y="113957"/>
                  <a:pt x="560173" y="74141"/>
                </a:cubicBezTo>
                <a:cubicBezTo>
                  <a:pt x="724930" y="34325"/>
                  <a:pt x="856735" y="17162"/>
                  <a:pt x="988541" y="0"/>
                </a:cubicBezTo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 56"/>
          <p:cNvSpPr/>
          <p:nvPr/>
        </p:nvSpPr>
        <p:spPr>
          <a:xfrm>
            <a:off x="4400432" y="2412611"/>
            <a:ext cx="1095269" cy="713516"/>
          </a:xfrm>
          <a:custGeom>
            <a:avLst/>
            <a:gdLst>
              <a:gd name="connsiteX0" fmla="*/ 0 w 1252151"/>
              <a:gd name="connsiteY0" fmla="*/ 515808 h 713516"/>
              <a:gd name="connsiteX1" fmla="*/ 436605 w 1252151"/>
              <a:gd name="connsiteY1" fmla="*/ 474619 h 713516"/>
              <a:gd name="connsiteX2" fmla="*/ 617838 w 1252151"/>
              <a:gd name="connsiteY2" fmla="*/ 145105 h 713516"/>
              <a:gd name="connsiteX3" fmla="*/ 1013254 w 1252151"/>
              <a:gd name="connsiteY3" fmla="*/ 13300 h 713516"/>
              <a:gd name="connsiteX4" fmla="*/ 1095632 w 1252151"/>
              <a:gd name="connsiteY4" fmla="*/ 449905 h 713516"/>
              <a:gd name="connsiteX5" fmla="*/ 1252151 w 1252151"/>
              <a:gd name="connsiteY5" fmla="*/ 713516 h 713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52151" h="713516">
                <a:moveTo>
                  <a:pt x="0" y="515808"/>
                </a:moveTo>
                <a:cubicBezTo>
                  <a:pt x="166816" y="526105"/>
                  <a:pt x="333632" y="536403"/>
                  <a:pt x="436605" y="474619"/>
                </a:cubicBezTo>
                <a:cubicBezTo>
                  <a:pt x="539578" y="412835"/>
                  <a:pt x="521730" y="221991"/>
                  <a:pt x="617838" y="145105"/>
                </a:cubicBezTo>
                <a:cubicBezTo>
                  <a:pt x="713946" y="68218"/>
                  <a:pt x="933622" y="-37500"/>
                  <a:pt x="1013254" y="13300"/>
                </a:cubicBezTo>
                <a:cubicBezTo>
                  <a:pt x="1092886" y="64100"/>
                  <a:pt x="1055816" y="333202"/>
                  <a:pt x="1095632" y="449905"/>
                </a:cubicBezTo>
                <a:cubicBezTo>
                  <a:pt x="1135448" y="566608"/>
                  <a:pt x="1193799" y="640062"/>
                  <a:pt x="1252151" y="713516"/>
                </a:cubicBezTo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 57"/>
          <p:cNvSpPr/>
          <p:nvPr/>
        </p:nvSpPr>
        <p:spPr>
          <a:xfrm>
            <a:off x="3024349" y="3118182"/>
            <a:ext cx="1395563" cy="625783"/>
          </a:xfrm>
          <a:custGeom>
            <a:avLst/>
            <a:gdLst>
              <a:gd name="connsiteX0" fmla="*/ 1301578 w 1301578"/>
              <a:gd name="connsiteY0" fmla="*/ 0 h 568411"/>
              <a:gd name="connsiteX1" fmla="*/ 823783 w 1301578"/>
              <a:gd name="connsiteY1" fmla="*/ 362465 h 568411"/>
              <a:gd name="connsiteX2" fmla="*/ 0 w 1301578"/>
              <a:gd name="connsiteY2" fmla="*/ 568411 h 568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01578" h="568411">
                <a:moveTo>
                  <a:pt x="1301578" y="0"/>
                </a:moveTo>
                <a:cubicBezTo>
                  <a:pt x="1171145" y="133865"/>
                  <a:pt x="1040713" y="267730"/>
                  <a:pt x="823783" y="362465"/>
                </a:cubicBezTo>
                <a:cubicBezTo>
                  <a:pt x="606853" y="457200"/>
                  <a:pt x="303426" y="512805"/>
                  <a:pt x="0" y="568411"/>
                </a:cubicBezTo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5358562" y="2986119"/>
            <a:ext cx="107091" cy="10709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3290694" y="2659009"/>
            <a:ext cx="107091" cy="10709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3227027" y="3620398"/>
            <a:ext cx="107091" cy="10709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/>
          <p:cNvSpPr txBox="1"/>
          <p:nvPr/>
        </p:nvSpPr>
        <p:spPr>
          <a:xfrm>
            <a:off x="4750178" y="3721734"/>
            <a:ext cx="1774592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HCDI1</a:t>
            </a:r>
          </a:p>
          <a:p>
            <a:r>
              <a:rPr lang="en-US" sz="1200" dirty="0" smtClean="0"/>
              <a:t>Hells Canyon (</a:t>
            </a:r>
            <a:r>
              <a:rPr lang="en-US" sz="1200" dirty="0" err="1" smtClean="0"/>
              <a:t>unreg</a:t>
            </a:r>
            <a:r>
              <a:rPr lang="en-US" sz="1200" dirty="0" smtClean="0"/>
              <a:t>)</a:t>
            </a:r>
            <a:endParaRPr lang="en-US" sz="1200" dirty="0"/>
          </a:p>
        </p:txBody>
      </p:sp>
      <p:sp>
        <p:nvSpPr>
          <p:cNvPr id="76" name="Oval 75"/>
          <p:cNvSpPr/>
          <p:nvPr/>
        </p:nvSpPr>
        <p:spPr>
          <a:xfrm>
            <a:off x="4438708" y="3914359"/>
            <a:ext cx="107091" cy="10709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/>
          <p:cNvSpPr txBox="1"/>
          <p:nvPr/>
        </p:nvSpPr>
        <p:spPr>
          <a:xfrm>
            <a:off x="5423951" y="2675789"/>
            <a:ext cx="1774592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WHBI1</a:t>
            </a:r>
          </a:p>
          <a:p>
            <a:r>
              <a:rPr lang="en-US" sz="1200" dirty="0" smtClean="0"/>
              <a:t>Salmon at </a:t>
            </a:r>
            <a:r>
              <a:rPr lang="en-US" sz="1200" dirty="0" err="1" smtClean="0"/>
              <a:t>Whitebird</a:t>
            </a:r>
            <a:endParaRPr lang="en-US" sz="1200" dirty="0"/>
          </a:p>
        </p:txBody>
      </p:sp>
      <p:sp>
        <p:nvSpPr>
          <p:cNvPr id="82" name="TextBox 81"/>
          <p:cNvSpPr txBox="1"/>
          <p:nvPr/>
        </p:nvSpPr>
        <p:spPr>
          <a:xfrm>
            <a:off x="2127348" y="3498856"/>
            <a:ext cx="1774592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IMNO3</a:t>
            </a:r>
          </a:p>
          <a:p>
            <a:r>
              <a:rPr lang="en-US" sz="1200" dirty="0" err="1" smtClean="0"/>
              <a:t>Imnaha</a:t>
            </a:r>
            <a:r>
              <a:rPr lang="en-US" sz="1200" dirty="0" smtClean="0"/>
              <a:t> at </a:t>
            </a:r>
            <a:r>
              <a:rPr lang="en-US" sz="1200" dirty="0" err="1" smtClean="0"/>
              <a:t>Imnaha</a:t>
            </a:r>
            <a:endParaRPr lang="en-US" sz="1200" dirty="0"/>
          </a:p>
        </p:txBody>
      </p:sp>
      <p:sp>
        <p:nvSpPr>
          <p:cNvPr id="83" name="TextBox 82"/>
          <p:cNvSpPr txBox="1"/>
          <p:nvPr/>
        </p:nvSpPr>
        <p:spPr>
          <a:xfrm>
            <a:off x="1642035" y="2347032"/>
            <a:ext cx="1774592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TRYO3</a:t>
            </a:r>
          </a:p>
          <a:p>
            <a:r>
              <a:rPr lang="en-US" sz="1200" dirty="0" smtClean="0"/>
              <a:t>Grande </a:t>
            </a:r>
            <a:r>
              <a:rPr lang="en-US" sz="1200" dirty="0" err="1" smtClean="0"/>
              <a:t>Ronde</a:t>
            </a:r>
            <a:r>
              <a:rPr lang="en-US" sz="1200" dirty="0" smtClean="0"/>
              <a:t> at Troy</a:t>
            </a:r>
            <a:endParaRPr lang="en-US" sz="1200" dirty="0"/>
          </a:p>
        </p:txBody>
      </p:sp>
      <p:sp>
        <p:nvSpPr>
          <p:cNvPr id="88" name="Oval 87"/>
          <p:cNvSpPr/>
          <p:nvPr/>
        </p:nvSpPr>
        <p:spPr>
          <a:xfrm>
            <a:off x="7510136" y="2910324"/>
            <a:ext cx="107091" cy="10709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/>
          <p:cNvSpPr txBox="1"/>
          <p:nvPr/>
        </p:nvSpPr>
        <p:spPr>
          <a:xfrm>
            <a:off x="7743589" y="2779203"/>
            <a:ext cx="286726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RFC Forecast </a:t>
            </a:r>
            <a:r>
              <a:rPr lang="en-US" dirty="0" smtClean="0"/>
              <a:t>Location Only</a:t>
            </a:r>
            <a:endParaRPr lang="en-US" sz="1200" dirty="0"/>
          </a:p>
        </p:txBody>
      </p:sp>
      <p:sp>
        <p:nvSpPr>
          <p:cNvPr id="91" name="TextBox 90"/>
          <p:cNvSpPr txBox="1"/>
          <p:nvPr/>
        </p:nvSpPr>
        <p:spPr>
          <a:xfrm>
            <a:off x="4092109" y="1691108"/>
            <a:ext cx="1774592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ANAW1</a:t>
            </a:r>
          </a:p>
          <a:p>
            <a:r>
              <a:rPr lang="en-US" sz="1200" dirty="0" smtClean="0"/>
              <a:t>Snake near </a:t>
            </a:r>
            <a:r>
              <a:rPr lang="en-US" sz="1200" dirty="0" err="1" smtClean="0"/>
              <a:t>Anatone</a:t>
            </a:r>
            <a:r>
              <a:rPr lang="en-US" sz="1200" dirty="0" smtClean="0"/>
              <a:t> (local</a:t>
            </a:r>
            <a:endParaRPr lang="en-US" sz="1200" dirty="0"/>
          </a:p>
        </p:txBody>
      </p:sp>
      <p:sp>
        <p:nvSpPr>
          <p:cNvPr id="96" name="TextBox 95"/>
          <p:cNvSpPr txBox="1"/>
          <p:nvPr/>
        </p:nvSpPr>
        <p:spPr>
          <a:xfrm>
            <a:off x="7778911" y="3099019"/>
            <a:ext cx="2467211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CCP Inflow </a:t>
            </a:r>
            <a:r>
              <a:rPr lang="en-US" dirty="0" smtClean="0"/>
              <a:t>Location and </a:t>
            </a:r>
            <a:r>
              <a:rPr lang="en-US" dirty="0"/>
              <a:t>RFC Forecast Location</a:t>
            </a:r>
          </a:p>
          <a:p>
            <a:endParaRPr lang="en-US" sz="1200" dirty="0"/>
          </a:p>
        </p:txBody>
      </p:sp>
      <p:grpSp>
        <p:nvGrpSpPr>
          <p:cNvPr id="98" name="Group 97"/>
          <p:cNvGrpSpPr/>
          <p:nvPr/>
        </p:nvGrpSpPr>
        <p:grpSpPr>
          <a:xfrm>
            <a:off x="3943724" y="2097914"/>
            <a:ext cx="189121" cy="189121"/>
            <a:chOff x="9313538" y="6135418"/>
            <a:chExt cx="189121" cy="189121"/>
          </a:xfrm>
        </p:grpSpPr>
        <p:sp>
          <p:nvSpPr>
            <p:cNvPr id="99" name="Oval 98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Oval 99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1" name="Group 100"/>
          <p:cNvGrpSpPr/>
          <p:nvPr/>
        </p:nvGrpSpPr>
        <p:grpSpPr>
          <a:xfrm>
            <a:off x="7478682" y="3211641"/>
            <a:ext cx="189121" cy="189121"/>
            <a:chOff x="9313538" y="6135418"/>
            <a:chExt cx="189121" cy="189121"/>
          </a:xfrm>
        </p:grpSpPr>
        <p:sp>
          <p:nvSpPr>
            <p:cNvPr id="102" name="Oval 101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9" name="Straight Connector 128"/>
          <p:cNvCxnSpPr/>
          <p:nvPr/>
        </p:nvCxnSpPr>
        <p:spPr>
          <a:xfrm>
            <a:off x="7069503" y="2308031"/>
            <a:ext cx="607560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/>
          <p:nvPr/>
        </p:nvCxnSpPr>
        <p:spPr>
          <a:xfrm>
            <a:off x="7077450" y="2569089"/>
            <a:ext cx="597999" cy="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7776648" y="2123365"/>
            <a:ext cx="2273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ResSim</a:t>
            </a:r>
            <a:r>
              <a:rPr lang="en-US" dirty="0" smtClean="0"/>
              <a:t> Model Reach</a:t>
            </a:r>
            <a:endParaRPr lang="en-US" dirty="0"/>
          </a:p>
        </p:txBody>
      </p:sp>
      <p:sp>
        <p:nvSpPr>
          <p:cNvPr id="136" name="TextBox 135"/>
          <p:cNvSpPr txBox="1"/>
          <p:nvPr/>
        </p:nvSpPr>
        <p:spPr>
          <a:xfrm>
            <a:off x="7734839" y="2481264"/>
            <a:ext cx="3055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Reach Not </a:t>
            </a:r>
            <a:r>
              <a:rPr lang="en-US" dirty="0" smtClean="0"/>
              <a:t>Modeled in </a:t>
            </a:r>
            <a:r>
              <a:rPr lang="en-US" dirty="0" err="1" smtClean="0"/>
              <a:t>ResSim</a:t>
            </a:r>
            <a:endParaRPr lang="en-US" dirty="0"/>
          </a:p>
        </p:txBody>
      </p:sp>
      <p:sp>
        <p:nvSpPr>
          <p:cNvPr id="150" name="TextBox 149"/>
          <p:cNvSpPr txBox="1"/>
          <p:nvPr/>
        </p:nvSpPr>
        <p:spPr>
          <a:xfrm>
            <a:off x="3080074" y="172864"/>
            <a:ext cx="46477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 smtClean="0"/>
              <a:t>ResSim</a:t>
            </a:r>
            <a:r>
              <a:rPr lang="en-US" sz="2800" dirty="0" smtClean="0"/>
              <a:t>: ESP Network Setup</a:t>
            </a:r>
            <a:endParaRPr lang="en-US" sz="2800" dirty="0"/>
          </a:p>
        </p:txBody>
      </p:sp>
      <p:sp>
        <p:nvSpPr>
          <p:cNvPr id="165" name="Oval 164"/>
          <p:cNvSpPr/>
          <p:nvPr/>
        </p:nvSpPr>
        <p:spPr>
          <a:xfrm>
            <a:off x="4333286" y="3099019"/>
            <a:ext cx="189121" cy="189121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Oval 165"/>
          <p:cNvSpPr/>
          <p:nvPr/>
        </p:nvSpPr>
        <p:spPr>
          <a:xfrm>
            <a:off x="4377272" y="3140784"/>
            <a:ext cx="107091" cy="10709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Oval 167"/>
          <p:cNvSpPr/>
          <p:nvPr/>
        </p:nvSpPr>
        <p:spPr>
          <a:xfrm>
            <a:off x="4282711" y="2808330"/>
            <a:ext cx="189121" cy="189121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Oval 168"/>
          <p:cNvSpPr/>
          <p:nvPr/>
        </p:nvSpPr>
        <p:spPr>
          <a:xfrm>
            <a:off x="4326697" y="2850095"/>
            <a:ext cx="107091" cy="10709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Oval 170"/>
          <p:cNvSpPr/>
          <p:nvPr/>
        </p:nvSpPr>
        <p:spPr>
          <a:xfrm>
            <a:off x="4112519" y="2454556"/>
            <a:ext cx="189121" cy="189121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Oval 171"/>
          <p:cNvSpPr/>
          <p:nvPr/>
        </p:nvSpPr>
        <p:spPr>
          <a:xfrm>
            <a:off x="4156505" y="2496321"/>
            <a:ext cx="107091" cy="10709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3961330" y="2391915"/>
            <a:ext cx="788848" cy="115182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690301" y="1555782"/>
            <a:ext cx="3017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 ESP Inflows for these CCPs</a:t>
            </a:r>
            <a:endParaRPr lang="en-US" dirty="0"/>
          </a:p>
        </p:txBody>
      </p:sp>
      <p:cxnSp>
        <p:nvCxnSpPr>
          <p:cNvPr id="54" name="Straight Connector 53"/>
          <p:cNvCxnSpPr>
            <a:stCxn id="50" idx="2"/>
            <a:endCxn id="48" idx="1"/>
          </p:cNvCxnSpPr>
          <p:nvPr/>
        </p:nvCxnSpPr>
        <p:spPr>
          <a:xfrm>
            <a:off x="2198819" y="1925114"/>
            <a:ext cx="1762511" cy="1042713"/>
          </a:xfrm>
          <a:prstGeom prst="line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 rot="17076689">
            <a:off x="3194201" y="1129802"/>
            <a:ext cx="13969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00B0F0"/>
                </a:solidFill>
              </a:rPr>
              <a:t>Snake River</a:t>
            </a:r>
            <a:endParaRPr lang="en-US" sz="1200" dirty="0">
              <a:solidFill>
                <a:srgbClr val="00B0F0"/>
              </a:solidFill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2578073" y="4561139"/>
            <a:ext cx="4139531" cy="369332"/>
          </a:xfrm>
          <a:prstGeom prst="rect">
            <a:avLst/>
          </a:prstGeom>
          <a:ln w="254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b="1" dirty="0"/>
              <a:t>ANAW1</a:t>
            </a:r>
            <a:r>
              <a:rPr lang="en-US" b="1" baseline="-25000" dirty="0"/>
              <a:t>local</a:t>
            </a:r>
            <a:r>
              <a:rPr lang="en-US" b="1" dirty="0"/>
              <a:t> = ANAW1</a:t>
            </a:r>
            <a:r>
              <a:rPr lang="en-US" b="1" baseline="-25000" dirty="0"/>
              <a:t>total</a:t>
            </a:r>
            <a:r>
              <a:rPr lang="en-US" b="1" dirty="0"/>
              <a:t> – HCDI1</a:t>
            </a:r>
            <a:r>
              <a:rPr lang="en-US" b="1" baseline="-25000" dirty="0"/>
              <a:t>total,routed</a:t>
            </a:r>
            <a:r>
              <a:rPr lang="en-US" b="1" dirty="0"/>
              <a:t> </a:t>
            </a:r>
          </a:p>
        </p:txBody>
      </p:sp>
      <p:sp>
        <p:nvSpPr>
          <p:cNvPr id="173" name="Oval 172"/>
          <p:cNvSpPr/>
          <p:nvPr/>
        </p:nvSpPr>
        <p:spPr>
          <a:xfrm>
            <a:off x="7487902" y="3819048"/>
            <a:ext cx="189121" cy="189121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Oval 173"/>
          <p:cNvSpPr/>
          <p:nvPr/>
        </p:nvSpPr>
        <p:spPr>
          <a:xfrm>
            <a:off x="7531888" y="3860813"/>
            <a:ext cx="107091" cy="10709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TextBox 174"/>
          <p:cNvSpPr txBox="1"/>
          <p:nvPr/>
        </p:nvSpPr>
        <p:spPr>
          <a:xfrm>
            <a:off x="7750087" y="3721734"/>
            <a:ext cx="292743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CCP Inflow </a:t>
            </a:r>
            <a:r>
              <a:rPr lang="en-US" dirty="0" smtClean="0"/>
              <a:t>Location only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696090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1219200" y="721617"/>
            <a:ext cx="9615766" cy="1696122"/>
          </a:xfrm>
          <a:custGeom>
            <a:avLst/>
            <a:gdLst>
              <a:gd name="connsiteX0" fmla="*/ 0 w 9615766"/>
              <a:gd name="connsiteY0" fmla="*/ 794145 h 1696122"/>
              <a:gd name="connsiteX1" fmla="*/ 2496065 w 9615766"/>
              <a:gd name="connsiteY1" fmla="*/ 28026 h 1696122"/>
              <a:gd name="connsiteX2" fmla="*/ 6096000 w 9615766"/>
              <a:gd name="connsiteY2" fmla="*/ 1675594 h 1696122"/>
              <a:gd name="connsiteX3" fmla="*/ 9127524 w 9615766"/>
              <a:gd name="connsiteY3" fmla="*/ 942426 h 1696122"/>
              <a:gd name="connsiteX4" fmla="*/ 9572368 w 9615766"/>
              <a:gd name="connsiteY4" fmla="*/ 810621 h 1696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15766" h="1696122">
                <a:moveTo>
                  <a:pt x="0" y="794145"/>
                </a:moveTo>
                <a:cubicBezTo>
                  <a:pt x="740032" y="337631"/>
                  <a:pt x="1480065" y="-118882"/>
                  <a:pt x="2496065" y="28026"/>
                </a:cubicBezTo>
                <a:cubicBezTo>
                  <a:pt x="3512065" y="174934"/>
                  <a:pt x="4990757" y="1523194"/>
                  <a:pt x="6096000" y="1675594"/>
                </a:cubicBezTo>
                <a:cubicBezTo>
                  <a:pt x="7201243" y="1827994"/>
                  <a:pt x="8548129" y="1086588"/>
                  <a:pt x="9127524" y="942426"/>
                </a:cubicBezTo>
                <a:cubicBezTo>
                  <a:pt x="9706919" y="798264"/>
                  <a:pt x="9639643" y="804442"/>
                  <a:pt x="9572368" y="810621"/>
                </a:cubicBezTo>
              </a:path>
            </a:pathLst>
          </a:cu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6993799" y="2417739"/>
            <a:ext cx="428493" cy="4246672"/>
          </a:xfrm>
          <a:custGeom>
            <a:avLst/>
            <a:gdLst>
              <a:gd name="connsiteX0" fmla="*/ 543823 w 588646"/>
              <a:gd name="connsiteY0" fmla="*/ 0 h 3855308"/>
              <a:gd name="connsiteX1" fmla="*/ 125 w 588646"/>
              <a:gd name="connsiteY1" fmla="*/ 881448 h 3855308"/>
              <a:gd name="connsiteX2" fmla="*/ 585012 w 588646"/>
              <a:gd name="connsiteY2" fmla="*/ 2125362 h 3855308"/>
              <a:gd name="connsiteX3" fmla="*/ 247260 w 588646"/>
              <a:gd name="connsiteY3" fmla="*/ 3855308 h 3855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8646" h="3855308">
                <a:moveTo>
                  <a:pt x="543823" y="0"/>
                </a:moveTo>
                <a:cubicBezTo>
                  <a:pt x="268541" y="263610"/>
                  <a:pt x="-6740" y="527221"/>
                  <a:pt x="125" y="881448"/>
                </a:cubicBezTo>
                <a:cubicBezTo>
                  <a:pt x="6990" y="1235675"/>
                  <a:pt x="543823" y="1629719"/>
                  <a:pt x="585012" y="2125362"/>
                </a:cubicBezTo>
                <a:cubicBezTo>
                  <a:pt x="626201" y="2621005"/>
                  <a:pt x="304925" y="3568357"/>
                  <a:pt x="247260" y="3855308"/>
                </a:cubicBezTo>
              </a:path>
            </a:pathLst>
          </a:cu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 rot="484849">
            <a:off x="6905046" y="6456045"/>
            <a:ext cx="605997" cy="74913"/>
            <a:chOff x="1932416" y="2981325"/>
            <a:chExt cx="605997" cy="74913"/>
          </a:xfrm>
          <a:solidFill>
            <a:schemeClr val="bg1"/>
          </a:solidFill>
        </p:grpSpPr>
        <p:cxnSp>
          <p:nvCxnSpPr>
            <p:cNvPr id="16" name="Straight Connector 15"/>
            <p:cNvCxnSpPr/>
            <p:nvPr/>
          </p:nvCxnSpPr>
          <p:spPr>
            <a:xfrm flipV="1">
              <a:off x="1932416" y="2982097"/>
              <a:ext cx="115330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2050256" y="2981325"/>
              <a:ext cx="354807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2405064" y="2982097"/>
              <a:ext cx="133349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 rot="560028">
            <a:off x="7029461" y="5595511"/>
            <a:ext cx="605997" cy="74913"/>
            <a:chOff x="1932416" y="2981325"/>
            <a:chExt cx="605997" cy="74913"/>
          </a:xfrm>
          <a:solidFill>
            <a:schemeClr val="bg1"/>
          </a:solidFill>
        </p:grpSpPr>
        <p:cxnSp>
          <p:nvCxnSpPr>
            <p:cNvPr id="20" name="Straight Connector 19"/>
            <p:cNvCxnSpPr/>
            <p:nvPr/>
          </p:nvCxnSpPr>
          <p:spPr>
            <a:xfrm flipV="1">
              <a:off x="1932416" y="2982097"/>
              <a:ext cx="115330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2050256" y="2981325"/>
              <a:ext cx="354807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2405064" y="2982097"/>
              <a:ext cx="133349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 rot="322589">
            <a:off x="7119293" y="5006504"/>
            <a:ext cx="605997" cy="74913"/>
            <a:chOff x="1932416" y="2981325"/>
            <a:chExt cx="605997" cy="74913"/>
          </a:xfrm>
          <a:solidFill>
            <a:schemeClr val="bg1"/>
          </a:solidFill>
        </p:grpSpPr>
        <p:cxnSp>
          <p:nvCxnSpPr>
            <p:cNvPr id="24" name="Straight Connector 23"/>
            <p:cNvCxnSpPr/>
            <p:nvPr/>
          </p:nvCxnSpPr>
          <p:spPr>
            <a:xfrm flipV="1">
              <a:off x="1932416" y="2982097"/>
              <a:ext cx="115330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2050256" y="2981325"/>
              <a:ext cx="354807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2405064" y="2982097"/>
              <a:ext cx="133349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 rot="18671544">
            <a:off x="5897543" y="1960245"/>
            <a:ext cx="605997" cy="74913"/>
            <a:chOff x="1932416" y="2981325"/>
            <a:chExt cx="605997" cy="74913"/>
          </a:xfrm>
          <a:solidFill>
            <a:schemeClr val="bg1"/>
          </a:solidFill>
        </p:grpSpPr>
        <p:cxnSp>
          <p:nvCxnSpPr>
            <p:cNvPr id="28" name="Straight Connector 27"/>
            <p:cNvCxnSpPr/>
            <p:nvPr/>
          </p:nvCxnSpPr>
          <p:spPr>
            <a:xfrm flipV="1">
              <a:off x="1932416" y="2982097"/>
              <a:ext cx="115330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050256" y="2981325"/>
              <a:ext cx="354807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2405064" y="2982097"/>
              <a:ext cx="133349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/>
          <p:cNvGrpSpPr/>
          <p:nvPr/>
        </p:nvGrpSpPr>
        <p:grpSpPr>
          <a:xfrm rot="18493238">
            <a:off x="4850876" y="1350644"/>
            <a:ext cx="605997" cy="74913"/>
            <a:chOff x="1932416" y="2981325"/>
            <a:chExt cx="605997" cy="74913"/>
          </a:xfrm>
          <a:solidFill>
            <a:schemeClr val="bg1"/>
          </a:solidFill>
        </p:grpSpPr>
        <p:cxnSp>
          <p:nvCxnSpPr>
            <p:cNvPr id="32" name="Straight Connector 31"/>
            <p:cNvCxnSpPr/>
            <p:nvPr/>
          </p:nvCxnSpPr>
          <p:spPr>
            <a:xfrm flipV="1">
              <a:off x="1932416" y="2982097"/>
              <a:ext cx="115330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2050256" y="2981325"/>
              <a:ext cx="354807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2405064" y="2982097"/>
              <a:ext cx="133349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/>
          <p:cNvGrpSpPr/>
          <p:nvPr/>
        </p:nvGrpSpPr>
        <p:grpSpPr>
          <a:xfrm rot="16200000">
            <a:off x="2954302" y="700636"/>
            <a:ext cx="605997" cy="74913"/>
            <a:chOff x="1932416" y="2981325"/>
            <a:chExt cx="605997" cy="74913"/>
          </a:xfrm>
          <a:solidFill>
            <a:schemeClr val="bg1"/>
          </a:solidFill>
        </p:grpSpPr>
        <p:cxnSp>
          <p:nvCxnSpPr>
            <p:cNvPr id="36" name="Straight Connector 35"/>
            <p:cNvCxnSpPr/>
            <p:nvPr/>
          </p:nvCxnSpPr>
          <p:spPr>
            <a:xfrm flipV="1">
              <a:off x="1932416" y="2982097"/>
              <a:ext cx="115330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2050256" y="2981325"/>
              <a:ext cx="354807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2405064" y="2982097"/>
              <a:ext cx="133349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/>
          <p:cNvGrpSpPr/>
          <p:nvPr/>
        </p:nvGrpSpPr>
        <p:grpSpPr>
          <a:xfrm rot="14423549">
            <a:off x="1170416" y="1293409"/>
            <a:ext cx="605997" cy="74913"/>
            <a:chOff x="1932416" y="2981325"/>
            <a:chExt cx="605997" cy="74913"/>
          </a:xfrm>
          <a:solidFill>
            <a:schemeClr val="bg1"/>
          </a:solidFill>
        </p:grpSpPr>
        <p:cxnSp>
          <p:nvCxnSpPr>
            <p:cNvPr id="40" name="Straight Connector 39"/>
            <p:cNvCxnSpPr/>
            <p:nvPr/>
          </p:nvCxnSpPr>
          <p:spPr>
            <a:xfrm flipV="1">
              <a:off x="1932416" y="2982097"/>
              <a:ext cx="115330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2050256" y="2981325"/>
              <a:ext cx="354807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2405064" y="2982097"/>
              <a:ext cx="133349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Freeform 42"/>
          <p:cNvSpPr/>
          <p:nvPr/>
        </p:nvSpPr>
        <p:spPr>
          <a:xfrm>
            <a:off x="4415481" y="221726"/>
            <a:ext cx="669503" cy="758577"/>
          </a:xfrm>
          <a:custGeom>
            <a:avLst/>
            <a:gdLst>
              <a:gd name="connsiteX0" fmla="*/ 0 w 669503"/>
              <a:gd name="connsiteY0" fmla="*/ 758577 h 758577"/>
              <a:gd name="connsiteX1" fmla="*/ 164757 w 669503"/>
              <a:gd name="connsiteY1" fmla="*/ 420825 h 758577"/>
              <a:gd name="connsiteX2" fmla="*/ 593124 w 669503"/>
              <a:gd name="connsiteY2" fmla="*/ 66598 h 758577"/>
              <a:gd name="connsiteX3" fmla="*/ 667265 w 669503"/>
              <a:gd name="connsiteY3" fmla="*/ 696 h 758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9503" h="758577">
                <a:moveTo>
                  <a:pt x="0" y="758577"/>
                </a:moveTo>
                <a:cubicBezTo>
                  <a:pt x="32951" y="647366"/>
                  <a:pt x="65903" y="536155"/>
                  <a:pt x="164757" y="420825"/>
                </a:cubicBezTo>
                <a:cubicBezTo>
                  <a:pt x="263611" y="305495"/>
                  <a:pt x="509373" y="136619"/>
                  <a:pt x="593124" y="66598"/>
                </a:cubicBezTo>
                <a:cubicBezTo>
                  <a:pt x="676875" y="-3423"/>
                  <a:pt x="672070" y="-1364"/>
                  <a:pt x="667265" y="696"/>
                </a:cubicBezTo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 51"/>
          <p:cNvSpPr/>
          <p:nvPr/>
        </p:nvSpPr>
        <p:spPr>
          <a:xfrm>
            <a:off x="5906530" y="2842924"/>
            <a:ext cx="1194486" cy="196838"/>
          </a:xfrm>
          <a:custGeom>
            <a:avLst/>
            <a:gdLst>
              <a:gd name="connsiteX0" fmla="*/ 0 w 1194486"/>
              <a:gd name="connsiteY0" fmla="*/ 196838 h 196838"/>
              <a:gd name="connsiteX1" fmla="*/ 634313 w 1194486"/>
              <a:gd name="connsiteY1" fmla="*/ 7368 h 196838"/>
              <a:gd name="connsiteX2" fmla="*/ 1194486 w 1194486"/>
              <a:gd name="connsiteY2" fmla="*/ 56795 h 196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94486" h="196838">
                <a:moveTo>
                  <a:pt x="0" y="196838"/>
                </a:moveTo>
                <a:cubicBezTo>
                  <a:pt x="217616" y="113773"/>
                  <a:pt x="435232" y="30708"/>
                  <a:pt x="634313" y="7368"/>
                </a:cubicBezTo>
                <a:cubicBezTo>
                  <a:pt x="833394" y="-15972"/>
                  <a:pt x="1013940" y="20411"/>
                  <a:pt x="1194486" y="56795"/>
                </a:cubicBezTo>
              </a:path>
            </a:pathLst>
          </a:custGeom>
          <a:solidFill>
            <a:schemeClr val="bg1"/>
          </a:solidFill>
          <a:ln w="25400">
            <a:solidFill>
              <a:srgbClr val="00B0F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reeform 52"/>
          <p:cNvSpPr/>
          <p:nvPr/>
        </p:nvSpPr>
        <p:spPr>
          <a:xfrm>
            <a:off x="8268358" y="1243914"/>
            <a:ext cx="274280" cy="1021491"/>
          </a:xfrm>
          <a:custGeom>
            <a:avLst/>
            <a:gdLst>
              <a:gd name="connsiteX0" fmla="*/ 274280 w 274280"/>
              <a:gd name="connsiteY0" fmla="*/ 1021491 h 1021491"/>
              <a:gd name="connsiteX1" fmla="*/ 10669 w 274280"/>
              <a:gd name="connsiteY1" fmla="*/ 436605 h 1021491"/>
              <a:gd name="connsiteX2" fmla="*/ 76572 w 274280"/>
              <a:gd name="connsiteY2" fmla="*/ 0 h 1021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4280" h="1021491">
                <a:moveTo>
                  <a:pt x="274280" y="1021491"/>
                </a:moveTo>
                <a:cubicBezTo>
                  <a:pt x="158950" y="814172"/>
                  <a:pt x="43620" y="606853"/>
                  <a:pt x="10669" y="436605"/>
                </a:cubicBezTo>
                <a:cubicBezTo>
                  <a:pt x="-22282" y="266357"/>
                  <a:pt x="27145" y="133178"/>
                  <a:pt x="76572" y="0"/>
                </a:cubicBezTo>
              </a:path>
            </a:pathLst>
          </a:cu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 55"/>
          <p:cNvSpPr/>
          <p:nvPr/>
        </p:nvSpPr>
        <p:spPr>
          <a:xfrm>
            <a:off x="6038335" y="3591697"/>
            <a:ext cx="988541" cy="238898"/>
          </a:xfrm>
          <a:custGeom>
            <a:avLst/>
            <a:gdLst>
              <a:gd name="connsiteX0" fmla="*/ 0 w 988541"/>
              <a:gd name="connsiteY0" fmla="*/ 238898 h 238898"/>
              <a:gd name="connsiteX1" fmla="*/ 560173 w 988541"/>
              <a:gd name="connsiteY1" fmla="*/ 74141 h 238898"/>
              <a:gd name="connsiteX2" fmla="*/ 988541 w 988541"/>
              <a:gd name="connsiteY2" fmla="*/ 0 h 238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88541" h="238898">
                <a:moveTo>
                  <a:pt x="0" y="238898"/>
                </a:moveTo>
                <a:cubicBezTo>
                  <a:pt x="197708" y="176427"/>
                  <a:pt x="395416" y="113957"/>
                  <a:pt x="560173" y="74141"/>
                </a:cubicBezTo>
                <a:cubicBezTo>
                  <a:pt x="724930" y="34325"/>
                  <a:pt x="856735" y="17162"/>
                  <a:pt x="988541" y="0"/>
                </a:cubicBezTo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 56"/>
          <p:cNvSpPr/>
          <p:nvPr/>
        </p:nvSpPr>
        <p:spPr>
          <a:xfrm>
            <a:off x="7183395" y="3454830"/>
            <a:ext cx="1252151" cy="713516"/>
          </a:xfrm>
          <a:custGeom>
            <a:avLst/>
            <a:gdLst>
              <a:gd name="connsiteX0" fmla="*/ 0 w 1252151"/>
              <a:gd name="connsiteY0" fmla="*/ 515808 h 713516"/>
              <a:gd name="connsiteX1" fmla="*/ 436605 w 1252151"/>
              <a:gd name="connsiteY1" fmla="*/ 474619 h 713516"/>
              <a:gd name="connsiteX2" fmla="*/ 617838 w 1252151"/>
              <a:gd name="connsiteY2" fmla="*/ 145105 h 713516"/>
              <a:gd name="connsiteX3" fmla="*/ 1013254 w 1252151"/>
              <a:gd name="connsiteY3" fmla="*/ 13300 h 713516"/>
              <a:gd name="connsiteX4" fmla="*/ 1095632 w 1252151"/>
              <a:gd name="connsiteY4" fmla="*/ 449905 h 713516"/>
              <a:gd name="connsiteX5" fmla="*/ 1252151 w 1252151"/>
              <a:gd name="connsiteY5" fmla="*/ 713516 h 713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52151" h="713516">
                <a:moveTo>
                  <a:pt x="0" y="515808"/>
                </a:moveTo>
                <a:cubicBezTo>
                  <a:pt x="166816" y="526105"/>
                  <a:pt x="333632" y="536403"/>
                  <a:pt x="436605" y="474619"/>
                </a:cubicBezTo>
                <a:cubicBezTo>
                  <a:pt x="539578" y="412835"/>
                  <a:pt x="521730" y="221991"/>
                  <a:pt x="617838" y="145105"/>
                </a:cubicBezTo>
                <a:cubicBezTo>
                  <a:pt x="713946" y="68218"/>
                  <a:pt x="933622" y="-37500"/>
                  <a:pt x="1013254" y="13300"/>
                </a:cubicBezTo>
                <a:cubicBezTo>
                  <a:pt x="1092886" y="64100"/>
                  <a:pt x="1055816" y="333202"/>
                  <a:pt x="1095632" y="449905"/>
                </a:cubicBezTo>
                <a:cubicBezTo>
                  <a:pt x="1135448" y="566608"/>
                  <a:pt x="1193799" y="640062"/>
                  <a:pt x="1252151" y="713516"/>
                </a:cubicBezTo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 57"/>
          <p:cNvSpPr/>
          <p:nvPr/>
        </p:nvSpPr>
        <p:spPr>
          <a:xfrm>
            <a:off x="5964195" y="4217773"/>
            <a:ext cx="1301578" cy="568411"/>
          </a:xfrm>
          <a:custGeom>
            <a:avLst/>
            <a:gdLst>
              <a:gd name="connsiteX0" fmla="*/ 1301578 w 1301578"/>
              <a:gd name="connsiteY0" fmla="*/ 0 h 568411"/>
              <a:gd name="connsiteX1" fmla="*/ 823783 w 1301578"/>
              <a:gd name="connsiteY1" fmla="*/ 362465 h 568411"/>
              <a:gd name="connsiteX2" fmla="*/ 0 w 1301578"/>
              <a:gd name="connsiteY2" fmla="*/ 568411 h 568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01578" h="568411">
                <a:moveTo>
                  <a:pt x="1301578" y="0"/>
                </a:moveTo>
                <a:cubicBezTo>
                  <a:pt x="1171145" y="133865"/>
                  <a:pt x="1040713" y="267730"/>
                  <a:pt x="823783" y="362465"/>
                </a:cubicBezTo>
                <a:cubicBezTo>
                  <a:pt x="606853" y="457200"/>
                  <a:pt x="303426" y="512805"/>
                  <a:pt x="0" y="568411"/>
                </a:cubicBezTo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8298407" y="4028338"/>
            <a:ext cx="107091" cy="10709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6230539" y="3701228"/>
            <a:ext cx="107091" cy="10709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6166872" y="4662617"/>
            <a:ext cx="107091" cy="10709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/>
          <p:cNvSpPr txBox="1"/>
          <p:nvPr/>
        </p:nvSpPr>
        <p:spPr>
          <a:xfrm>
            <a:off x="564646" y="770250"/>
            <a:ext cx="1054443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IHDW1</a:t>
            </a:r>
          </a:p>
          <a:p>
            <a:r>
              <a:rPr lang="en-US" sz="1200" dirty="0" smtClean="0"/>
              <a:t>Ice Harbor (local)</a:t>
            </a:r>
            <a:endParaRPr lang="en-US" sz="1200" dirty="0"/>
          </a:p>
        </p:txBody>
      </p:sp>
      <p:sp>
        <p:nvSpPr>
          <p:cNvPr id="64" name="TextBox 63"/>
          <p:cNvSpPr txBox="1"/>
          <p:nvPr/>
        </p:nvSpPr>
        <p:spPr>
          <a:xfrm>
            <a:off x="2801250" y="1012073"/>
            <a:ext cx="1054443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LMNW1</a:t>
            </a:r>
          </a:p>
          <a:p>
            <a:r>
              <a:rPr lang="en-US" sz="1200" dirty="0" smtClean="0"/>
              <a:t>Lower Monumental (local)</a:t>
            </a:r>
            <a:endParaRPr lang="en-US" sz="1200" dirty="0"/>
          </a:p>
        </p:txBody>
      </p:sp>
      <p:sp>
        <p:nvSpPr>
          <p:cNvPr id="65" name="TextBox 64"/>
          <p:cNvSpPr txBox="1"/>
          <p:nvPr/>
        </p:nvSpPr>
        <p:spPr>
          <a:xfrm>
            <a:off x="5039570" y="179052"/>
            <a:ext cx="1388710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HOPW1</a:t>
            </a:r>
          </a:p>
          <a:p>
            <a:r>
              <a:rPr lang="en-US" sz="1200" dirty="0" smtClean="0"/>
              <a:t>Palouse at Hooper (</a:t>
            </a:r>
            <a:r>
              <a:rPr lang="en-US" sz="1200" dirty="0" err="1" smtClean="0"/>
              <a:t>unreg</a:t>
            </a:r>
            <a:r>
              <a:rPr lang="en-US" sz="1200" dirty="0" smtClean="0"/>
              <a:t>)</a:t>
            </a:r>
            <a:endParaRPr lang="en-US" sz="1200" dirty="0"/>
          </a:p>
        </p:txBody>
      </p:sp>
      <p:sp>
        <p:nvSpPr>
          <p:cNvPr id="66" name="TextBox 65"/>
          <p:cNvSpPr txBox="1"/>
          <p:nvPr/>
        </p:nvSpPr>
        <p:spPr>
          <a:xfrm>
            <a:off x="4614283" y="1597033"/>
            <a:ext cx="1054443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LGSW1</a:t>
            </a:r>
          </a:p>
          <a:p>
            <a:r>
              <a:rPr lang="en-US" sz="1200" dirty="0" smtClean="0"/>
              <a:t>Little Goose (local)</a:t>
            </a:r>
            <a:endParaRPr lang="en-US" sz="1200" dirty="0"/>
          </a:p>
        </p:txBody>
      </p:sp>
      <p:sp>
        <p:nvSpPr>
          <p:cNvPr id="67" name="TextBox 66"/>
          <p:cNvSpPr txBox="1"/>
          <p:nvPr/>
        </p:nvSpPr>
        <p:spPr>
          <a:xfrm>
            <a:off x="5861017" y="1115615"/>
            <a:ext cx="1211469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LGDW1</a:t>
            </a:r>
          </a:p>
          <a:p>
            <a:r>
              <a:rPr lang="en-US" sz="1200" dirty="0" smtClean="0"/>
              <a:t>Lower Granite (local)</a:t>
            </a:r>
            <a:endParaRPr lang="en-US" sz="1200" dirty="0"/>
          </a:p>
        </p:txBody>
      </p:sp>
      <p:sp>
        <p:nvSpPr>
          <p:cNvPr id="68" name="TextBox 67"/>
          <p:cNvSpPr txBox="1"/>
          <p:nvPr/>
        </p:nvSpPr>
        <p:spPr>
          <a:xfrm>
            <a:off x="8351952" y="1043861"/>
            <a:ext cx="1211469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PRII1</a:t>
            </a:r>
          </a:p>
          <a:p>
            <a:r>
              <a:rPr lang="en-US" sz="1200" dirty="0" smtClean="0"/>
              <a:t>Potlatch below Little Potlatch</a:t>
            </a:r>
          </a:p>
        </p:txBody>
      </p:sp>
      <p:sp>
        <p:nvSpPr>
          <p:cNvPr id="69" name="Freeform 68"/>
          <p:cNvSpPr/>
          <p:nvPr/>
        </p:nvSpPr>
        <p:spPr>
          <a:xfrm>
            <a:off x="10322011" y="1672281"/>
            <a:ext cx="700216" cy="411892"/>
          </a:xfrm>
          <a:custGeom>
            <a:avLst/>
            <a:gdLst>
              <a:gd name="connsiteX0" fmla="*/ 0 w 700216"/>
              <a:gd name="connsiteY0" fmla="*/ 0 h 411892"/>
              <a:gd name="connsiteX1" fmla="*/ 411892 w 700216"/>
              <a:gd name="connsiteY1" fmla="*/ 271849 h 411892"/>
              <a:gd name="connsiteX2" fmla="*/ 700216 w 700216"/>
              <a:gd name="connsiteY2" fmla="*/ 411892 h 41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216" h="411892">
                <a:moveTo>
                  <a:pt x="0" y="0"/>
                </a:moveTo>
                <a:cubicBezTo>
                  <a:pt x="147594" y="101600"/>
                  <a:pt x="295189" y="203200"/>
                  <a:pt x="411892" y="271849"/>
                </a:cubicBezTo>
                <a:cubicBezTo>
                  <a:pt x="528595" y="340498"/>
                  <a:pt x="614405" y="376195"/>
                  <a:pt x="700216" y="411892"/>
                </a:cubicBezTo>
              </a:path>
            </a:pathLst>
          </a:cu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/>
          <p:cNvSpPr txBox="1"/>
          <p:nvPr/>
        </p:nvSpPr>
        <p:spPr>
          <a:xfrm>
            <a:off x="10482288" y="635822"/>
            <a:ext cx="1211469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DWRI1</a:t>
            </a:r>
          </a:p>
          <a:p>
            <a:r>
              <a:rPr lang="en-US" sz="1200" dirty="0" err="1" smtClean="0"/>
              <a:t>Dworshak</a:t>
            </a:r>
            <a:r>
              <a:rPr lang="en-US" sz="1200" dirty="0" smtClean="0"/>
              <a:t> (</a:t>
            </a:r>
            <a:r>
              <a:rPr lang="en-US" sz="1200" dirty="0" err="1" smtClean="0"/>
              <a:t>unreg</a:t>
            </a:r>
            <a:r>
              <a:rPr lang="en-US" sz="1200" dirty="0" smtClean="0"/>
              <a:t>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26591" y="5973105"/>
            <a:ext cx="1973346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BRNI1</a:t>
            </a:r>
          </a:p>
          <a:p>
            <a:r>
              <a:rPr lang="en-US" sz="1200" dirty="0" smtClean="0"/>
              <a:t>Brownlee (</a:t>
            </a:r>
            <a:r>
              <a:rPr lang="en-US" sz="1200" dirty="0" err="1" smtClean="0"/>
              <a:t>unreg</a:t>
            </a:r>
            <a:r>
              <a:rPr lang="en-US" sz="1200" dirty="0" smtClean="0"/>
              <a:t>)</a:t>
            </a:r>
          </a:p>
          <a:p>
            <a:r>
              <a:rPr lang="en-US" sz="1200" dirty="0" smtClean="0"/>
              <a:t>*BRNI1 = HCDI1 RFC flows</a:t>
            </a:r>
            <a:endParaRPr lang="en-US" sz="1200" dirty="0"/>
          </a:p>
        </p:txBody>
      </p:sp>
      <p:sp>
        <p:nvSpPr>
          <p:cNvPr id="74" name="TextBox 73"/>
          <p:cNvSpPr txBox="1"/>
          <p:nvPr/>
        </p:nvSpPr>
        <p:spPr>
          <a:xfrm>
            <a:off x="7690023" y="4763953"/>
            <a:ext cx="1774592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HCDI1</a:t>
            </a:r>
          </a:p>
          <a:p>
            <a:r>
              <a:rPr lang="en-US" sz="1200" dirty="0" smtClean="0"/>
              <a:t>Hells Canyon (</a:t>
            </a:r>
            <a:r>
              <a:rPr lang="en-US" sz="1200" dirty="0" err="1" smtClean="0"/>
              <a:t>unreg</a:t>
            </a:r>
            <a:r>
              <a:rPr lang="en-US" sz="1200" dirty="0" smtClean="0"/>
              <a:t>)</a:t>
            </a:r>
            <a:endParaRPr lang="en-US" sz="1200" dirty="0"/>
          </a:p>
        </p:txBody>
      </p:sp>
      <p:sp>
        <p:nvSpPr>
          <p:cNvPr id="76" name="Oval 75"/>
          <p:cNvSpPr/>
          <p:nvPr/>
        </p:nvSpPr>
        <p:spPr>
          <a:xfrm>
            <a:off x="7378553" y="4956578"/>
            <a:ext cx="107091" cy="10709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/>
          <p:cNvSpPr txBox="1"/>
          <p:nvPr/>
        </p:nvSpPr>
        <p:spPr>
          <a:xfrm>
            <a:off x="8363796" y="3718008"/>
            <a:ext cx="1774592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WHBI1</a:t>
            </a:r>
          </a:p>
          <a:p>
            <a:r>
              <a:rPr lang="en-US" sz="1200" dirty="0" smtClean="0"/>
              <a:t>Salmon at </a:t>
            </a:r>
            <a:r>
              <a:rPr lang="en-US" sz="1200" dirty="0" err="1" smtClean="0"/>
              <a:t>Whitebird</a:t>
            </a:r>
            <a:endParaRPr lang="en-US" sz="1200" dirty="0"/>
          </a:p>
        </p:txBody>
      </p:sp>
      <p:sp>
        <p:nvSpPr>
          <p:cNvPr id="82" name="TextBox 81"/>
          <p:cNvSpPr txBox="1"/>
          <p:nvPr/>
        </p:nvSpPr>
        <p:spPr>
          <a:xfrm>
            <a:off x="5067193" y="4541075"/>
            <a:ext cx="1774592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IMNO3</a:t>
            </a:r>
          </a:p>
          <a:p>
            <a:r>
              <a:rPr lang="en-US" sz="1200" dirty="0" err="1" smtClean="0"/>
              <a:t>Imnaha</a:t>
            </a:r>
            <a:r>
              <a:rPr lang="en-US" sz="1200" dirty="0" smtClean="0"/>
              <a:t> at </a:t>
            </a:r>
            <a:r>
              <a:rPr lang="en-US" sz="1200" dirty="0" err="1" smtClean="0"/>
              <a:t>Imnaha</a:t>
            </a:r>
            <a:endParaRPr lang="en-US" sz="1200" dirty="0"/>
          </a:p>
        </p:txBody>
      </p:sp>
      <p:sp>
        <p:nvSpPr>
          <p:cNvPr id="83" name="TextBox 82"/>
          <p:cNvSpPr txBox="1"/>
          <p:nvPr/>
        </p:nvSpPr>
        <p:spPr>
          <a:xfrm>
            <a:off x="4581880" y="3389251"/>
            <a:ext cx="1774592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TRYO3</a:t>
            </a:r>
          </a:p>
          <a:p>
            <a:r>
              <a:rPr lang="en-US" sz="1200" dirty="0" smtClean="0"/>
              <a:t>Grande </a:t>
            </a:r>
            <a:r>
              <a:rPr lang="en-US" sz="1200" dirty="0" err="1" smtClean="0"/>
              <a:t>Ronde</a:t>
            </a:r>
            <a:r>
              <a:rPr lang="en-US" sz="1200" dirty="0" smtClean="0"/>
              <a:t> at Troy</a:t>
            </a:r>
            <a:endParaRPr lang="en-US" sz="1200" dirty="0"/>
          </a:p>
        </p:txBody>
      </p:sp>
      <p:sp>
        <p:nvSpPr>
          <p:cNvPr id="84" name="TextBox 83"/>
          <p:cNvSpPr txBox="1"/>
          <p:nvPr/>
        </p:nvSpPr>
        <p:spPr>
          <a:xfrm>
            <a:off x="5224988" y="2415676"/>
            <a:ext cx="2272649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Asotin </a:t>
            </a:r>
            <a:r>
              <a:rPr lang="en-US" dirty="0" err="1" smtClean="0"/>
              <a:t>Ck</a:t>
            </a:r>
            <a:r>
              <a:rPr lang="en-US" dirty="0" smtClean="0"/>
              <a:t> at Asotin</a:t>
            </a:r>
          </a:p>
          <a:p>
            <a:r>
              <a:rPr lang="en-US" sz="1200" dirty="0" smtClean="0"/>
              <a:t>USGS 13335050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773147" y="2166425"/>
            <a:ext cx="1211469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ORFI1</a:t>
            </a:r>
          </a:p>
          <a:p>
            <a:r>
              <a:rPr lang="en-US" sz="1200" dirty="0" smtClean="0"/>
              <a:t>Clearwater at Orofino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475468" y="5730319"/>
            <a:ext cx="2467211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Non-RFC Forecast Location; inflows to be computed in relation to RFC Location</a:t>
            </a:r>
            <a:endParaRPr lang="en-US" sz="1200" dirty="0"/>
          </a:p>
        </p:txBody>
      </p:sp>
      <p:sp>
        <p:nvSpPr>
          <p:cNvPr id="88" name="Oval 87"/>
          <p:cNvSpPr/>
          <p:nvPr/>
        </p:nvSpPr>
        <p:spPr>
          <a:xfrm>
            <a:off x="9231162" y="5187954"/>
            <a:ext cx="107091" cy="10709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/>
          <p:cNvSpPr txBox="1"/>
          <p:nvPr/>
        </p:nvSpPr>
        <p:spPr>
          <a:xfrm>
            <a:off x="9464615" y="5056833"/>
            <a:ext cx="246721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RFC Forecast Location</a:t>
            </a:r>
            <a:endParaRPr lang="en-US" sz="1200" dirty="0"/>
          </a:p>
        </p:txBody>
      </p:sp>
      <p:sp>
        <p:nvSpPr>
          <p:cNvPr id="91" name="TextBox 90"/>
          <p:cNvSpPr txBox="1"/>
          <p:nvPr/>
        </p:nvSpPr>
        <p:spPr>
          <a:xfrm>
            <a:off x="6991219" y="2939149"/>
            <a:ext cx="1774592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ANAW1</a:t>
            </a:r>
          </a:p>
          <a:p>
            <a:r>
              <a:rPr lang="en-US" sz="1200" dirty="0" smtClean="0"/>
              <a:t>Snake near </a:t>
            </a:r>
            <a:r>
              <a:rPr lang="en-US" sz="1200" dirty="0" err="1" smtClean="0"/>
              <a:t>Anatone</a:t>
            </a:r>
            <a:r>
              <a:rPr lang="en-US" sz="1200" dirty="0" smtClean="0"/>
              <a:t> (local)</a:t>
            </a:r>
            <a:endParaRPr lang="en-US" sz="1200" dirty="0"/>
          </a:p>
        </p:txBody>
      </p:sp>
      <p:sp>
        <p:nvSpPr>
          <p:cNvPr id="92" name="TextBox 91"/>
          <p:cNvSpPr txBox="1"/>
          <p:nvPr/>
        </p:nvSpPr>
        <p:spPr>
          <a:xfrm>
            <a:off x="-38318" y="2440516"/>
            <a:ext cx="541392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 smtClean="0"/>
              <a:t>Inflow Equations to Properly Account for Mass Balance:</a:t>
            </a:r>
          </a:p>
          <a:p>
            <a:endParaRPr lang="en-US" sz="1200" u="sng" dirty="0" smtClean="0"/>
          </a:p>
          <a:p>
            <a:r>
              <a:rPr lang="en-US" sz="1200" dirty="0"/>
              <a:t>*These are total flows, produced by </a:t>
            </a:r>
            <a:r>
              <a:rPr lang="en-US" sz="1200" dirty="0" smtClean="0"/>
              <a:t>RFC and used as boundary conditions</a:t>
            </a:r>
            <a:endParaRPr lang="en-US" sz="1200" u="sng" dirty="0" smtClean="0"/>
          </a:p>
          <a:p>
            <a:r>
              <a:rPr lang="en-US" sz="1200" dirty="0" smtClean="0"/>
              <a:t>BRNI1,  ORFI1, DWRI1, PRII1</a:t>
            </a:r>
            <a:r>
              <a:rPr lang="en-US" sz="1200" u="sng" dirty="0" smtClean="0"/>
              <a:t>, </a:t>
            </a:r>
            <a:r>
              <a:rPr lang="en-US" sz="1200" dirty="0" smtClean="0"/>
              <a:t>HOPW1</a:t>
            </a:r>
          </a:p>
          <a:p>
            <a:endParaRPr lang="en-US" sz="1200" dirty="0" smtClean="0"/>
          </a:p>
          <a:p>
            <a:r>
              <a:rPr lang="en-US" sz="1200" dirty="0" smtClean="0"/>
              <a:t>*These are routing </a:t>
            </a:r>
            <a:r>
              <a:rPr lang="en-US" sz="1200" dirty="0" err="1" smtClean="0"/>
              <a:t>calcs</a:t>
            </a:r>
            <a:r>
              <a:rPr lang="en-US" sz="1200" dirty="0" smtClean="0"/>
              <a:t> for local flows</a:t>
            </a:r>
          </a:p>
          <a:p>
            <a:r>
              <a:rPr lang="en-US" sz="1200" dirty="0" smtClean="0"/>
              <a:t>ANAW1</a:t>
            </a:r>
            <a:r>
              <a:rPr lang="en-US" sz="1200" baseline="-25000" dirty="0" smtClean="0"/>
              <a:t>local</a:t>
            </a:r>
            <a:r>
              <a:rPr lang="en-US" sz="1200" dirty="0" smtClean="0"/>
              <a:t> = ANAW1</a:t>
            </a:r>
            <a:r>
              <a:rPr lang="en-US" sz="1200" baseline="-25000" dirty="0"/>
              <a:t>total</a:t>
            </a:r>
            <a:r>
              <a:rPr lang="en-US" sz="1200" dirty="0" smtClean="0"/>
              <a:t> </a:t>
            </a:r>
            <a:r>
              <a:rPr lang="en-US" sz="1200" dirty="0"/>
              <a:t>– </a:t>
            </a:r>
            <a:r>
              <a:rPr lang="en-US" sz="1200" dirty="0" smtClean="0"/>
              <a:t>HCDI1</a:t>
            </a:r>
            <a:r>
              <a:rPr lang="en-US" sz="1200" baseline="-25000" dirty="0" smtClean="0"/>
              <a:t>total,routed</a:t>
            </a:r>
            <a:r>
              <a:rPr lang="en-US" sz="1200" dirty="0" smtClean="0"/>
              <a:t> (note: HCDI1</a:t>
            </a:r>
            <a:r>
              <a:rPr lang="en-US" sz="1200" baseline="-25000" dirty="0" smtClean="0"/>
              <a:t>total</a:t>
            </a:r>
            <a:r>
              <a:rPr lang="en-US" sz="1200" dirty="0"/>
              <a:t> </a:t>
            </a:r>
            <a:r>
              <a:rPr lang="en-US" sz="1200" dirty="0" smtClean="0"/>
              <a:t>=BRNII1</a:t>
            </a:r>
            <a:r>
              <a:rPr lang="en-US" sz="1200" baseline="-25000" dirty="0" smtClean="0"/>
              <a:t>total</a:t>
            </a:r>
            <a:r>
              <a:rPr lang="en-US" sz="1200" dirty="0" smtClean="0"/>
              <a:t>)</a:t>
            </a:r>
          </a:p>
          <a:p>
            <a:r>
              <a:rPr lang="en-US" sz="1200" dirty="0" smtClean="0"/>
              <a:t>LGDW1</a:t>
            </a:r>
            <a:r>
              <a:rPr lang="en-US" sz="1200" baseline="-25000" dirty="0" smtClean="0"/>
              <a:t>local</a:t>
            </a:r>
            <a:r>
              <a:rPr lang="en-US" sz="1200" dirty="0" smtClean="0"/>
              <a:t> = LGDW1</a:t>
            </a:r>
            <a:r>
              <a:rPr lang="en-US" sz="1200" baseline="-25000" dirty="0" smtClean="0"/>
              <a:t>total</a:t>
            </a:r>
            <a:r>
              <a:rPr lang="en-US" sz="1200" dirty="0" smtClean="0"/>
              <a:t> – ANAW1</a:t>
            </a:r>
            <a:r>
              <a:rPr lang="en-US" sz="1200" baseline="-25000" dirty="0" smtClean="0"/>
              <a:t>total,routed</a:t>
            </a:r>
            <a:r>
              <a:rPr lang="en-US" sz="1200" dirty="0" smtClean="0"/>
              <a:t> – SPDI1</a:t>
            </a:r>
            <a:r>
              <a:rPr lang="en-US" sz="1200" baseline="-25000" dirty="0" smtClean="0"/>
              <a:t>total,routed</a:t>
            </a:r>
            <a:r>
              <a:rPr lang="en-US" sz="1200" dirty="0"/>
              <a:t> </a:t>
            </a:r>
            <a:r>
              <a:rPr lang="en-US" sz="1200" dirty="0" smtClean="0"/>
              <a:t>-0.16*IMNO3</a:t>
            </a:r>
            <a:r>
              <a:rPr lang="en-US" sz="1200" baseline="-25000" dirty="0" smtClean="0"/>
              <a:t>total,routed,Asotin </a:t>
            </a:r>
            <a:r>
              <a:rPr lang="en-US" sz="1200" dirty="0" smtClean="0"/>
              <a:t>(Note: 0.16*IMNO3 = Asotin)</a:t>
            </a:r>
          </a:p>
          <a:p>
            <a:r>
              <a:rPr lang="en-US" sz="1200" dirty="0" smtClean="0"/>
              <a:t>SPDI1</a:t>
            </a:r>
            <a:r>
              <a:rPr lang="en-US" sz="1200" baseline="-25000" dirty="0" smtClean="0"/>
              <a:t>local </a:t>
            </a:r>
            <a:r>
              <a:rPr lang="en-US" sz="1200" dirty="0" smtClean="0"/>
              <a:t>= SPDI1</a:t>
            </a:r>
            <a:r>
              <a:rPr lang="en-US" sz="1200" baseline="-25000" dirty="0" smtClean="0"/>
              <a:t>total </a:t>
            </a:r>
            <a:r>
              <a:rPr lang="en-US" sz="1200" dirty="0" smtClean="0"/>
              <a:t>–PRII1</a:t>
            </a:r>
            <a:r>
              <a:rPr lang="en-US" sz="1200" baseline="-25000" dirty="0" smtClean="0"/>
              <a:t>total,routed</a:t>
            </a:r>
            <a:r>
              <a:rPr lang="en-US" sz="1200" dirty="0" smtClean="0"/>
              <a:t>– 0.14PRII1</a:t>
            </a:r>
            <a:r>
              <a:rPr lang="en-US" sz="1200" baseline="-25000" dirty="0" smtClean="0"/>
              <a:t>total,routed,Lapwai</a:t>
            </a:r>
            <a:r>
              <a:rPr lang="en-US" sz="1200" dirty="0" smtClean="0"/>
              <a:t>– ORFI1</a:t>
            </a:r>
            <a:r>
              <a:rPr lang="en-US" sz="1200" baseline="-25000" dirty="0" smtClean="0"/>
              <a:t>total,routed</a:t>
            </a:r>
            <a:r>
              <a:rPr lang="en-US" sz="1200" dirty="0"/>
              <a:t> – </a:t>
            </a:r>
            <a:r>
              <a:rPr lang="en-US" sz="1200" dirty="0" smtClean="0"/>
              <a:t>DWRI1</a:t>
            </a:r>
            <a:r>
              <a:rPr lang="en-US" sz="1200" baseline="-25000" dirty="0" smtClean="0"/>
              <a:t>total,routed</a:t>
            </a:r>
            <a:endParaRPr lang="en-US" sz="1200" dirty="0"/>
          </a:p>
          <a:p>
            <a:r>
              <a:rPr lang="en-US" sz="1200" dirty="0"/>
              <a:t>LGSW1</a:t>
            </a:r>
            <a:r>
              <a:rPr lang="en-US" sz="1200" baseline="-25000" dirty="0"/>
              <a:t>local</a:t>
            </a:r>
            <a:r>
              <a:rPr lang="en-US" sz="1200" dirty="0"/>
              <a:t> = </a:t>
            </a:r>
            <a:r>
              <a:rPr lang="en-US" sz="1200" dirty="0" smtClean="0"/>
              <a:t>LGSW1</a:t>
            </a:r>
            <a:r>
              <a:rPr lang="en-US" sz="1200" baseline="-25000" dirty="0" smtClean="0"/>
              <a:t>total</a:t>
            </a:r>
            <a:r>
              <a:rPr lang="en-US" sz="1200" dirty="0" smtClean="0"/>
              <a:t> </a:t>
            </a:r>
            <a:r>
              <a:rPr lang="en-US" sz="1200" dirty="0"/>
              <a:t>- </a:t>
            </a:r>
            <a:r>
              <a:rPr lang="en-US" sz="1200" dirty="0" smtClean="0"/>
              <a:t>LGDW1</a:t>
            </a:r>
            <a:r>
              <a:rPr lang="en-US" sz="1200" baseline="-25000" dirty="0"/>
              <a:t>total,routed</a:t>
            </a:r>
            <a:endParaRPr lang="en-US" sz="1200" dirty="0"/>
          </a:p>
          <a:p>
            <a:r>
              <a:rPr lang="en-US" sz="1200" dirty="0"/>
              <a:t>LMNW1</a:t>
            </a:r>
            <a:r>
              <a:rPr lang="en-US" sz="1200" baseline="-25000" dirty="0"/>
              <a:t>local</a:t>
            </a:r>
            <a:r>
              <a:rPr lang="en-US" sz="1200" dirty="0"/>
              <a:t> = </a:t>
            </a:r>
            <a:r>
              <a:rPr lang="en-US" sz="1200" dirty="0" smtClean="0"/>
              <a:t>LMNW1</a:t>
            </a:r>
            <a:r>
              <a:rPr lang="en-US" sz="1200" baseline="-25000" dirty="0"/>
              <a:t>total</a:t>
            </a:r>
            <a:r>
              <a:rPr lang="en-US" sz="1200" dirty="0" smtClean="0"/>
              <a:t> </a:t>
            </a:r>
            <a:r>
              <a:rPr lang="en-US" sz="1200" dirty="0"/>
              <a:t>– </a:t>
            </a:r>
            <a:r>
              <a:rPr lang="en-US" sz="1200" dirty="0" smtClean="0"/>
              <a:t>LGSW1</a:t>
            </a:r>
            <a:r>
              <a:rPr lang="en-US" sz="1200" baseline="-25000" dirty="0"/>
              <a:t>total,routed</a:t>
            </a:r>
            <a:r>
              <a:rPr lang="en-US" sz="1200" dirty="0" smtClean="0"/>
              <a:t> – HOPW1</a:t>
            </a:r>
            <a:r>
              <a:rPr lang="en-US" sz="1200" baseline="-25000" dirty="0" smtClean="0"/>
              <a:t>total,routed </a:t>
            </a:r>
            <a:r>
              <a:rPr lang="en-US" sz="1200" dirty="0"/>
              <a:t>– </a:t>
            </a:r>
            <a:r>
              <a:rPr lang="en-US" sz="1200" dirty="0" smtClean="0"/>
              <a:t>0.15*HOPW1</a:t>
            </a:r>
            <a:r>
              <a:rPr lang="en-US" sz="1200" baseline="-25000" dirty="0" smtClean="0"/>
              <a:t>total,routed,Tucannon</a:t>
            </a:r>
            <a:endParaRPr lang="en-US" sz="1200" dirty="0"/>
          </a:p>
          <a:p>
            <a:r>
              <a:rPr lang="en-US" sz="1200" dirty="0"/>
              <a:t>IHRW1</a:t>
            </a:r>
            <a:r>
              <a:rPr lang="en-US" sz="1200" baseline="-25000" dirty="0"/>
              <a:t>local</a:t>
            </a:r>
            <a:r>
              <a:rPr lang="en-US" sz="1200" dirty="0"/>
              <a:t> = </a:t>
            </a:r>
            <a:r>
              <a:rPr lang="en-US" sz="1200" dirty="0" smtClean="0"/>
              <a:t>IHRW1</a:t>
            </a:r>
            <a:r>
              <a:rPr lang="en-US" sz="1200" baseline="-25000" dirty="0"/>
              <a:t>total</a:t>
            </a:r>
            <a:r>
              <a:rPr lang="en-US" sz="1200" dirty="0" smtClean="0"/>
              <a:t> </a:t>
            </a:r>
            <a:r>
              <a:rPr lang="en-US" sz="1200" dirty="0"/>
              <a:t>– </a:t>
            </a:r>
            <a:r>
              <a:rPr lang="en-US" sz="1200" dirty="0" smtClean="0"/>
              <a:t>LMNW1</a:t>
            </a:r>
            <a:r>
              <a:rPr lang="en-US" sz="1200" baseline="-25000" dirty="0"/>
              <a:t>total,routed</a:t>
            </a:r>
            <a:endParaRPr lang="en-US" sz="1200" dirty="0"/>
          </a:p>
          <a:p>
            <a:endParaRPr lang="en-US" sz="1200" dirty="0" smtClean="0"/>
          </a:p>
          <a:p>
            <a:r>
              <a:rPr lang="en-US" sz="1200" dirty="0" smtClean="0"/>
              <a:t>*These are relationships of locations without ESP data to locations with ESP data</a:t>
            </a:r>
          </a:p>
          <a:p>
            <a:r>
              <a:rPr lang="en-US" sz="1200" dirty="0" smtClean="0"/>
              <a:t>**These are also routed in the local flow calculations</a:t>
            </a:r>
          </a:p>
          <a:p>
            <a:r>
              <a:rPr lang="en-US" sz="1200" dirty="0" err="1" smtClean="0"/>
              <a:t>Lapwai</a:t>
            </a:r>
            <a:r>
              <a:rPr lang="en-US" sz="1200" dirty="0" smtClean="0"/>
              <a:t> </a:t>
            </a:r>
            <a:r>
              <a:rPr lang="en-US" sz="1200" dirty="0" err="1" smtClean="0"/>
              <a:t>Ck</a:t>
            </a:r>
            <a:r>
              <a:rPr lang="en-US" sz="1200" dirty="0" smtClean="0"/>
              <a:t> near </a:t>
            </a:r>
            <a:r>
              <a:rPr lang="en-US" sz="1200" dirty="0" err="1" smtClean="0"/>
              <a:t>Lapwai</a:t>
            </a:r>
            <a:r>
              <a:rPr lang="en-US" sz="1200" dirty="0" smtClean="0"/>
              <a:t> = 0.14*PRII1</a:t>
            </a:r>
          </a:p>
          <a:p>
            <a:r>
              <a:rPr lang="en-US" sz="1200" dirty="0" err="1" smtClean="0"/>
              <a:t>Tucannon</a:t>
            </a:r>
            <a:r>
              <a:rPr lang="en-US" sz="1200" dirty="0" smtClean="0"/>
              <a:t> near Starbuck = 0.15*HOPW1</a:t>
            </a:r>
          </a:p>
          <a:p>
            <a:r>
              <a:rPr lang="en-US" sz="1200" dirty="0" smtClean="0"/>
              <a:t>Asotin </a:t>
            </a:r>
            <a:r>
              <a:rPr lang="en-US" sz="1200" dirty="0" err="1" smtClean="0"/>
              <a:t>Ck</a:t>
            </a:r>
            <a:r>
              <a:rPr lang="en-US" sz="1200" dirty="0" smtClean="0"/>
              <a:t> = 0.16*IMNO3</a:t>
            </a:r>
            <a:endParaRPr lang="en-US" sz="1200" dirty="0"/>
          </a:p>
        </p:txBody>
      </p:sp>
      <p:grpSp>
        <p:nvGrpSpPr>
          <p:cNvPr id="97" name="Group 96"/>
          <p:cNvGrpSpPr/>
          <p:nvPr/>
        </p:nvGrpSpPr>
        <p:grpSpPr>
          <a:xfrm>
            <a:off x="7081605" y="6518753"/>
            <a:ext cx="189121" cy="189121"/>
            <a:chOff x="9313538" y="6135418"/>
            <a:chExt cx="189121" cy="189121"/>
          </a:xfrm>
        </p:grpSpPr>
        <p:sp>
          <p:nvSpPr>
            <p:cNvPr id="95" name="Oval 94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6" name="TextBox 95"/>
          <p:cNvSpPr txBox="1"/>
          <p:nvPr/>
        </p:nvSpPr>
        <p:spPr>
          <a:xfrm>
            <a:off x="9499937" y="5376649"/>
            <a:ext cx="246721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CCP Inflow Location</a:t>
            </a:r>
            <a:endParaRPr lang="en-US" sz="1200" dirty="0"/>
          </a:p>
        </p:txBody>
      </p:sp>
      <p:grpSp>
        <p:nvGrpSpPr>
          <p:cNvPr id="98" name="Group 97"/>
          <p:cNvGrpSpPr/>
          <p:nvPr/>
        </p:nvGrpSpPr>
        <p:grpSpPr>
          <a:xfrm>
            <a:off x="6883569" y="3140133"/>
            <a:ext cx="189121" cy="189121"/>
            <a:chOff x="9313538" y="6135418"/>
            <a:chExt cx="189121" cy="189121"/>
          </a:xfrm>
        </p:grpSpPr>
        <p:sp>
          <p:nvSpPr>
            <p:cNvPr id="99" name="Oval 98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Oval 99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1" name="Group 100"/>
          <p:cNvGrpSpPr/>
          <p:nvPr/>
        </p:nvGrpSpPr>
        <p:grpSpPr>
          <a:xfrm>
            <a:off x="9199708" y="5489271"/>
            <a:ext cx="189121" cy="189121"/>
            <a:chOff x="9313538" y="6135418"/>
            <a:chExt cx="189121" cy="189121"/>
          </a:xfrm>
        </p:grpSpPr>
        <p:sp>
          <p:nvSpPr>
            <p:cNvPr id="102" name="Oval 101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4" name="Group 103"/>
          <p:cNvGrpSpPr/>
          <p:nvPr/>
        </p:nvGrpSpPr>
        <p:grpSpPr>
          <a:xfrm>
            <a:off x="10868142" y="1993448"/>
            <a:ext cx="189121" cy="189121"/>
            <a:chOff x="9313538" y="6135418"/>
            <a:chExt cx="189121" cy="189121"/>
          </a:xfrm>
        </p:grpSpPr>
        <p:sp>
          <p:nvSpPr>
            <p:cNvPr id="105" name="Oval 104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0" name="Group 109"/>
          <p:cNvGrpSpPr/>
          <p:nvPr/>
        </p:nvGrpSpPr>
        <p:grpSpPr>
          <a:xfrm>
            <a:off x="8197686" y="1548215"/>
            <a:ext cx="189121" cy="189121"/>
            <a:chOff x="9313538" y="6135418"/>
            <a:chExt cx="189121" cy="189121"/>
          </a:xfrm>
        </p:grpSpPr>
        <p:sp>
          <p:nvSpPr>
            <p:cNvPr id="111" name="Oval 110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Oval 111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3" name="Group 112"/>
          <p:cNvGrpSpPr/>
          <p:nvPr/>
        </p:nvGrpSpPr>
        <p:grpSpPr>
          <a:xfrm>
            <a:off x="6087903" y="1888980"/>
            <a:ext cx="189121" cy="189121"/>
            <a:chOff x="9313538" y="6135418"/>
            <a:chExt cx="189121" cy="189121"/>
          </a:xfrm>
        </p:grpSpPr>
        <p:sp>
          <p:nvSpPr>
            <p:cNvPr id="114" name="Oval 113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6" name="Group 115"/>
          <p:cNvGrpSpPr/>
          <p:nvPr/>
        </p:nvGrpSpPr>
        <p:grpSpPr>
          <a:xfrm>
            <a:off x="5039570" y="1285492"/>
            <a:ext cx="189121" cy="189121"/>
            <a:chOff x="9313538" y="6135418"/>
            <a:chExt cx="189121" cy="189121"/>
          </a:xfrm>
        </p:grpSpPr>
        <p:sp>
          <p:nvSpPr>
            <p:cNvPr id="117" name="Oval 116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Oval 117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9" name="Group 118"/>
          <p:cNvGrpSpPr/>
          <p:nvPr/>
        </p:nvGrpSpPr>
        <p:grpSpPr>
          <a:xfrm>
            <a:off x="4850449" y="270679"/>
            <a:ext cx="189121" cy="189121"/>
            <a:chOff x="9313538" y="6135418"/>
            <a:chExt cx="189121" cy="189121"/>
          </a:xfrm>
        </p:grpSpPr>
        <p:sp>
          <p:nvSpPr>
            <p:cNvPr id="120" name="Oval 119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Oval 120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2" name="Group 121"/>
          <p:cNvGrpSpPr/>
          <p:nvPr/>
        </p:nvGrpSpPr>
        <p:grpSpPr>
          <a:xfrm>
            <a:off x="3125283" y="632796"/>
            <a:ext cx="189121" cy="189121"/>
            <a:chOff x="9313538" y="6135418"/>
            <a:chExt cx="189121" cy="189121"/>
          </a:xfrm>
        </p:grpSpPr>
        <p:sp>
          <p:nvSpPr>
            <p:cNvPr id="123" name="Oval 122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Oval 123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5" name="Group 124"/>
          <p:cNvGrpSpPr/>
          <p:nvPr/>
        </p:nvGrpSpPr>
        <p:grpSpPr>
          <a:xfrm>
            <a:off x="1382418" y="1289369"/>
            <a:ext cx="189121" cy="189121"/>
            <a:chOff x="9313538" y="6135418"/>
            <a:chExt cx="189121" cy="189121"/>
          </a:xfrm>
        </p:grpSpPr>
        <p:sp>
          <p:nvSpPr>
            <p:cNvPr id="126" name="Oval 125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Oval 126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9" name="Straight Connector 128"/>
          <p:cNvCxnSpPr/>
          <p:nvPr/>
        </p:nvCxnSpPr>
        <p:spPr>
          <a:xfrm>
            <a:off x="9390299" y="4585661"/>
            <a:ext cx="607560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/>
          <p:nvPr/>
        </p:nvCxnSpPr>
        <p:spPr>
          <a:xfrm>
            <a:off x="9398246" y="4846719"/>
            <a:ext cx="597999" cy="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10097444" y="4400995"/>
            <a:ext cx="2273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ResSim</a:t>
            </a:r>
            <a:r>
              <a:rPr lang="en-US" dirty="0" smtClean="0"/>
              <a:t> Model Reach</a:t>
            </a:r>
            <a:endParaRPr lang="en-US" dirty="0"/>
          </a:p>
        </p:txBody>
      </p:sp>
      <p:sp>
        <p:nvSpPr>
          <p:cNvPr id="136" name="TextBox 135"/>
          <p:cNvSpPr txBox="1"/>
          <p:nvPr/>
        </p:nvSpPr>
        <p:spPr>
          <a:xfrm>
            <a:off x="10055635" y="4758894"/>
            <a:ext cx="2273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Reach Not Modeled</a:t>
            </a:r>
            <a:endParaRPr lang="en-US" dirty="0"/>
          </a:p>
        </p:txBody>
      </p:sp>
      <p:sp>
        <p:nvSpPr>
          <p:cNvPr id="138" name="TextBox 137"/>
          <p:cNvSpPr txBox="1"/>
          <p:nvPr/>
        </p:nvSpPr>
        <p:spPr>
          <a:xfrm>
            <a:off x="7212972" y="1608809"/>
            <a:ext cx="1211469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SPDI1</a:t>
            </a:r>
          </a:p>
          <a:p>
            <a:r>
              <a:rPr lang="en-US" sz="1200" dirty="0" smtClean="0"/>
              <a:t>Clearwater at Spalding (local)</a:t>
            </a:r>
          </a:p>
        </p:txBody>
      </p:sp>
      <p:sp>
        <p:nvSpPr>
          <p:cNvPr id="139" name="Freeform 138"/>
          <p:cNvSpPr/>
          <p:nvPr/>
        </p:nvSpPr>
        <p:spPr>
          <a:xfrm rot="10541373">
            <a:off x="3969157" y="1108307"/>
            <a:ext cx="669503" cy="758577"/>
          </a:xfrm>
          <a:custGeom>
            <a:avLst/>
            <a:gdLst>
              <a:gd name="connsiteX0" fmla="*/ 0 w 669503"/>
              <a:gd name="connsiteY0" fmla="*/ 758577 h 758577"/>
              <a:gd name="connsiteX1" fmla="*/ 164757 w 669503"/>
              <a:gd name="connsiteY1" fmla="*/ 420825 h 758577"/>
              <a:gd name="connsiteX2" fmla="*/ 593124 w 669503"/>
              <a:gd name="connsiteY2" fmla="*/ 66598 h 758577"/>
              <a:gd name="connsiteX3" fmla="*/ 667265 w 669503"/>
              <a:gd name="connsiteY3" fmla="*/ 696 h 758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9503" h="758577">
                <a:moveTo>
                  <a:pt x="0" y="758577"/>
                </a:moveTo>
                <a:cubicBezTo>
                  <a:pt x="32951" y="647366"/>
                  <a:pt x="65903" y="536155"/>
                  <a:pt x="164757" y="420825"/>
                </a:cubicBezTo>
                <a:cubicBezTo>
                  <a:pt x="263611" y="305495"/>
                  <a:pt x="509373" y="136619"/>
                  <a:pt x="593124" y="66598"/>
                </a:cubicBezTo>
                <a:cubicBezTo>
                  <a:pt x="676875" y="-3423"/>
                  <a:pt x="672070" y="-1364"/>
                  <a:pt x="667265" y="696"/>
                </a:cubicBezTo>
              </a:path>
            </a:pathLst>
          </a:cu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TextBox 140"/>
          <p:cNvSpPr txBox="1"/>
          <p:nvPr/>
        </p:nvSpPr>
        <p:spPr>
          <a:xfrm>
            <a:off x="1731600" y="-55675"/>
            <a:ext cx="1774592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err="1" smtClean="0"/>
              <a:t>Tucannon</a:t>
            </a:r>
            <a:r>
              <a:rPr lang="en-US" dirty="0" smtClean="0"/>
              <a:t> near Starbuck</a:t>
            </a:r>
          </a:p>
          <a:p>
            <a:r>
              <a:rPr lang="en-US" sz="1200" dirty="0" smtClean="0"/>
              <a:t>USGS 13344500</a:t>
            </a:r>
            <a:endParaRPr lang="en-US" sz="1200" dirty="0"/>
          </a:p>
        </p:txBody>
      </p:sp>
      <p:sp>
        <p:nvSpPr>
          <p:cNvPr id="142" name="Freeform 141"/>
          <p:cNvSpPr/>
          <p:nvPr/>
        </p:nvSpPr>
        <p:spPr>
          <a:xfrm>
            <a:off x="2850292" y="131897"/>
            <a:ext cx="1309816" cy="1449768"/>
          </a:xfrm>
          <a:custGeom>
            <a:avLst/>
            <a:gdLst>
              <a:gd name="connsiteX0" fmla="*/ 0 w 1309816"/>
              <a:gd name="connsiteY0" fmla="*/ 214092 h 1449768"/>
              <a:gd name="connsiteX1" fmla="*/ 74140 w 1309816"/>
              <a:gd name="connsiteY1" fmla="*/ 205854 h 1449768"/>
              <a:gd name="connsiteX2" fmla="*/ 1145059 w 1309816"/>
              <a:gd name="connsiteY2" fmla="*/ 49335 h 1449768"/>
              <a:gd name="connsiteX3" fmla="*/ 1136822 w 1309816"/>
              <a:gd name="connsiteY3" fmla="*/ 1186157 h 1449768"/>
              <a:gd name="connsiteX4" fmla="*/ 1309816 w 1309816"/>
              <a:gd name="connsiteY4" fmla="*/ 1449768 h 1449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9816" h="1449768">
                <a:moveTo>
                  <a:pt x="0" y="214092"/>
                </a:moveTo>
                <a:lnTo>
                  <a:pt x="74140" y="205854"/>
                </a:lnTo>
                <a:cubicBezTo>
                  <a:pt x="264983" y="178395"/>
                  <a:pt x="967945" y="-114049"/>
                  <a:pt x="1145059" y="49335"/>
                </a:cubicBezTo>
                <a:cubicBezTo>
                  <a:pt x="1322173" y="212719"/>
                  <a:pt x="1109363" y="952752"/>
                  <a:pt x="1136822" y="1186157"/>
                </a:cubicBezTo>
                <a:cubicBezTo>
                  <a:pt x="1164282" y="1419563"/>
                  <a:pt x="1237049" y="1434665"/>
                  <a:pt x="1309816" y="1449768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Freeform 142"/>
          <p:cNvSpPr/>
          <p:nvPr/>
        </p:nvSpPr>
        <p:spPr>
          <a:xfrm rot="19540660">
            <a:off x="8682536" y="2165146"/>
            <a:ext cx="274280" cy="1021491"/>
          </a:xfrm>
          <a:custGeom>
            <a:avLst/>
            <a:gdLst>
              <a:gd name="connsiteX0" fmla="*/ 274280 w 274280"/>
              <a:gd name="connsiteY0" fmla="*/ 1021491 h 1021491"/>
              <a:gd name="connsiteX1" fmla="*/ 10669 w 274280"/>
              <a:gd name="connsiteY1" fmla="*/ 436605 h 1021491"/>
              <a:gd name="connsiteX2" fmla="*/ 76572 w 274280"/>
              <a:gd name="connsiteY2" fmla="*/ 0 h 1021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4280" h="1021491">
                <a:moveTo>
                  <a:pt x="274280" y="1021491"/>
                </a:moveTo>
                <a:cubicBezTo>
                  <a:pt x="158950" y="814172"/>
                  <a:pt x="43620" y="606853"/>
                  <a:pt x="10669" y="436605"/>
                </a:cubicBezTo>
                <a:cubicBezTo>
                  <a:pt x="-22282" y="266357"/>
                  <a:pt x="27145" y="133178"/>
                  <a:pt x="76572" y="0"/>
                </a:cubicBezTo>
              </a:path>
            </a:pathLst>
          </a:cu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TextBox 144"/>
          <p:cNvSpPr txBox="1"/>
          <p:nvPr/>
        </p:nvSpPr>
        <p:spPr>
          <a:xfrm>
            <a:off x="8895366" y="2945197"/>
            <a:ext cx="1774592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err="1" smtClean="0"/>
              <a:t>Lapwai</a:t>
            </a:r>
            <a:r>
              <a:rPr lang="en-US" dirty="0" smtClean="0"/>
              <a:t> </a:t>
            </a:r>
            <a:r>
              <a:rPr lang="en-US" dirty="0" err="1" smtClean="0"/>
              <a:t>Ck</a:t>
            </a:r>
            <a:r>
              <a:rPr lang="en-US" dirty="0" smtClean="0"/>
              <a:t> near </a:t>
            </a:r>
            <a:r>
              <a:rPr lang="en-US" dirty="0" err="1" smtClean="0"/>
              <a:t>Lapwai</a:t>
            </a:r>
            <a:endParaRPr lang="en-US" dirty="0" smtClean="0"/>
          </a:p>
          <a:p>
            <a:r>
              <a:rPr lang="en-US" sz="1200" dirty="0" smtClean="0"/>
              <a:t>USGS 13342450</a:t>
            </a:r>
          </a:p>
        </p:txBody>
      </p:sp>
      <p:grpSp>
        <p:nvGrpSpPr>
          <p:cNvPr id="146" name="Group 145"/>
          <p:cNvGrpSpPr/>
          <p:nvPr/>
        </p:nvGrpSpPr>
        <p:grpSpPr>
          <a:xfrm rot="14423549">
            <a:off x="10318551" y="1502967"/>
            <a:ext cx="605997" cy="74913"/>
            <a:chOff x="1932416" y="2981325"/>
            <a:chExt cx="605997" cy="74913"/>
          </a:xfrm>
          <a:solidFill>
            <a:schemeClr val="bg1"/>
          </a:solidFill>
        </p:grpSpPr>
        <p:cxnSp>
          <p:nvCxnSpPr>
            <p:cNvPr id="147" name="Straight Connector 146"/>
            <p:cNvCxnSpPr/>
            <p:nvPr/>
          </p:nvCxnSpPr>
          <p:spPr>
            <a:xfrm flipV="1">
              <a:off x="1932416" y="2982097"/>
              <a:ext cx="115330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/>
            <p:cNvCxnSpPr/>
            <p:nvPr/>
          </p:nvCxnSpPr>
          <p:spPr>
            <a:xfrm>
              <a:off x="2050256" y="2981325"/>
              <a:ext cx="354807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/>
            <p:cNvCxnSpPr/>
            <p:nvPr/>
          </p:nvCxnSpPr>
          <p:spPr>
            <a:xfrm>
              <a:off x="2405064" y="2982097"/>
              <a:ext cx="133349" cy="7414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10723096" y="1450708"/>
            <a:ext cx="189121" cy="189121"/>
            <a:chOff x="9313538" y="6135418"/>
            <a:chExt cx="189121" cy="189121"/>
          </a:xfrm>
        </p:grpSpPr>
        <p:sp>
          <p:nvSpPr>
            <p:cNvPr id="108" name="Oval 107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Oval 108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0" name="TextBox 149"/>
          <p:cNvSpPr txBox="1"/>
          <p:nvPr/>
        </p:nvSpPr>
        <p:spPr>
          <a:xfrm>
            <a:off x="6841786" y="47054"/>
            <a:ext cx="46477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 smtClean="0"/>
              <a:t>ResSim</a:t>
            </a:r>
            <a:r>
              <a:rPr lang="en-US" sz="2800" dirty="0" smtClean="0"/>
              <a:t>: ESP Network Setup</a:t>
            </a:r>
            <a:endParaRPr lang="en-US" sz="2800" dirty="0"/>
          </a:p>
        </p:txBody>
      </p:sp>
      <p:grpSp>
        <p:nvGrpSpPr>
          <p:cNvPr id="152" name="Group 151"/>
          <p:cNvGrpSpPr/>
          <p:nvPr/>
        </p:nvGrpSpPr>
        <p:grpSpPr>
          <a:xfrm>
            <a:off x="4164415" y="1549344"/>
            <a:ext cx="183478" cy="183478"/>
            <a:chOff x="4164415" y="1549344"/>
            <a:chExt cx="183478" cy="183478"/>
          </a:xfrm>
        </p:grpSpPr>
        <p:sp>
          <p:nvSpPr>
            <p:cNvPr id="151" name="Oval 150"/>
            <p:cNvSpPr/>
            <p:nvPr/>
          </p:nvSpPr>
          <p:spPr>
            <a:xfrm>
              <a:off x="4164415" y="1549344"/>
              <a:ext cx="183478" cy="183478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/>
            <p:cNvSpPr/>
            <p:nvPr/>
          </p:nvSpPr>
          <p:spPr>
            <a:xfrm>
              <a:off x="4200355" y="1581440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3" name="Group 152"/>
          <p:cNvGrpSpPr/>
          <p:nvPr/>
        </p:nvGrpSpPr>
        <p:grpSpPr>
          <a:xfrm>
            <a:off x="6384678" y="2781698"/>
            <a:ext cx="183478" cy="183478"/>
            <a:chOff x="4164415" y="1549344"/>
            <a:chExt cx="183478" cy="183478"/>
          </a:xfrm>
        </p:grpSpPr>
        <p:sp>
          <p:nvSpPr>
            <p:cNvPr id="154" name="Oval 153"/>
            <p:cNvSpPr/>
            <p:nvPr/>
          </p:nvSpPr>
          <p:spPr>
            <a:xfrm>
              <a:off x="4164415" y="1549344"/>
              <a:ext cx="183478" cy="183478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Oval 154"/>
            <p:cNvSpPr/>
            <p:nvPr/>
          </p:nvSpPr>
          <p:spPr>
            <a:xfrm>
              <a:off x="4200355" y="1581440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6" name="Group 155"/>
          <p:cNvGrpSpPr/>
          <p:nvPr/>
        </p:nvGrpSpPr>
        <p:grpSpPr>
          <a:xfrm>
            <a:off x="8954638" y="2832002"/>
            <a:ext cx="183478" cy="183478"/>
            <a:chOff x="4164415" y="1549344"/>
            <a:chExt cx="183478" cy="183478"/>
          </a:xfrm>
        </p:grpSpPr>
        <p:sp>
          <p:nvSpPr>
            <p:cNvPr id="157" name="Oval 156"/>
            <p:cNvSpPr/>
            <p:nvPr/>
          </p:nvSpPr>
          <p:spPr>
            <a:xfrm>
              <a:off x="4164415" y="1549344"/>
              <a:ext cx="183478" cy="183478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Oval 157"/>
            <p:cNvSpPr/>
            <p:nvPr/>
          </p:nvSpPr>
          <p:spPr>
            <a:xfrm>
              <a:off x="4200355" y="1581440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9" name="Group 158"/>
          <p:cNvGrpSpPr/>
          <p:nvPr/>
        </p:nvGrpSpPr>
        <p:grpSpPr>
          <a:xfrm>
            <a:off x="9187300" y="5777461"/>
            <a:ext cx="183478" cy="183478"/>
            <a:chOff x="4164415" y="1549344"/>
            <a:chExt cx="183478" cy="183478"/>
          </a:xfrm>
        </p:grpSpPr>
        <p:sp>
          <p:nvSpPr>
            <p:cNvPr id="160" name="Oval 159"/>
            <p:cNvSpPr/>
            <p:nvPr/>
          </p:nvSpPr>
          <p:spPr>
            <a:xfrm>
              <a:off x="4164415" y="1549344"/>
              <a:ext cx="183478" cy="183478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Oval 160"/>
            <p:cNvSpPr/>
            <p:nvPr/>
          </p:nvSpPr>
          <p:spPr>
            <a:xfrm>
              <a:off x="4200355" y="1581440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8" name="Straight Connector 127"/>
          <p:cNvCxnSpPr/>
          <p:nvPr/>
        </p:nvCxnSpPr>
        <p:spPr>
          <a:xfrm>
            <a:off x="9388554" y="4333342"/>
            <a:ext cx="60756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10087689" y="4099840"/>
            <a:ext cx="2273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RFC Routing Reach</a:t>
            </a:r>
            <a:endParaRPr lang="en-US" dirty="0"/>
          </a:p>
        </p:txBody>
      </p:sp>
      <p:sp>
        <p:nvSpPr>
          <p:cNvPr id="8" name="Freeform 7"/>
          <p:cNvSpPr/>
          <p:nvPr/>
        </p:nvSpPr>
        <p:spPr>
          <a:xfrm>
            <a:off x="1524000" y="634314"/>
            <a:ext cx="1573427" cy="568410"/>
          </a:xfrm>
          <a:custGeom>
            <a:avLst/>
            <a:gdLst>
              <a:gd name="connsiteX0" fmla="*/ 1573427 w 1573427"/>
              <a:gd name="connsiteY0" fmla="*/ 0 h 568410"/>
              <a:gd name="connsiteX1" fmla="*/ 716692 w 1573427"/>
              <a:gd name="connsiteY1" fmla="*/ 189470 h 568410"/>
              <a:gd name="connsiteX2" fmla="*/ 0 w 1573427"/>
              <a:gd name="connsiteY2" fmla="*/ 568410 h 568410"/>
              <a:gd name="connsiteX3" fmla="*/ 0 w 1573427"/>
              <a:gd name="connsiteY3" fmla="*/ 568410 h 568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73427" h="568410">
                <a:moveTo>
                  <a:pt x="1573427" y="0"/>
                </a:moveTo>
                <a:cubicBezTo>
                  <a:pt x="1276178" y="47367"/>
                  <a:pt x="978930" y="94735"/>
                  <a:pt x="716692" y="189470"/>
                </a:cubicBezTo>
                <a:cubicBezTo>
                  <a:pt x="454454" y="284205"/>
                  <a:pt x="0" y="568410"/>
                  <a:pt x="0" y="568410"/>
                </a:cubicBezTo>
                <a:lnTo>
                  <a:pt x="0" y="568410"/>
                </a:lnTo>
              </a:path>
            </a:pathLst>
          </a:cu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3352448" y="781652"/>
            <a:ext cx="1181040" cy="724929"/>
          </a:xfrm>
          <a:custGeom>
            <a:avLst/>
            <a:gdLst>
              <a:gd name="connsiteX0" fmla="*/ 889687 w 1181040"/>
              <a:gd name="connsiteY0" fmla="*/ 724929 h 724929"/>
              <a:gd name="connsiteX1" fmla="*/ 1128584 w 1181040"/>
              <a:gd name="connsiteY1" fmla="*/ 337751 h 724929"/>
              <a:gd name="connsiteX2" fmla="*/ 0 w 1181040"/>
              <a:gd name="connsiteY2" fmla="*/ 0 h 724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81040" h="724929">
                <a:moveTo>
                  <a:pt x="889687" y="724929"/>
                </a:moveTo>
                <a:cubicBezTo>
                  <a:pt x="1083276" y="591750"/>
                  <a:pt x="1276865" y="458572"/>
                  <a:pt x="1128584" y="337751"/>
                </a:cubicBezTo>
                <a:cubicBezTo>
                  <a:pt x="980303" y="216930"/>
                  <a:pt x="490151" y="108465"/>
                  <a:pt x="0" y="0"/>
                </a:cubicBezTo>
              </a:path>
            </a:pathLst>
          </a:cu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3368296" y="511424"/>
            <a:ext cx="1037967" cy="246700"/>
          </a:xfrm>
          <a:custGeom>
            <a:avLst/>
            <a:gdLst>
              <a:gd name="connsiteX0" fmla="*/ 1037967 w 1037967"/>
              <a:gd name="connsiteY0" fmla="*/ 246700 h 246700"/>
              <a:gd name="connsiteX1" fmla="*/ 469556 w 1037967"/>
              <a:gd name="connsiteY1" fmla="*/ 24279 h 246700"/>
              <a:gd name="connsiteX2" fmla="*/ 0 w 1037967"/>
              <a:gd name="connsiteY2" fmla="*/ 16041 h 24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7967" h="246700">
                <a:moveTo>
                  <a:pt x="1037967" y="246700"/>
                </a:moveTo>
                <a:cubicBezTo>
                  <a:pt x="840258" y="154711"/>
                  <a:pt x="642550" y="62722"/>
                  <a:pt x="469556" y="24279"/>
                </a:cubicBezTo>
                <a:cubicBezTo>
                  <a:pt x="296562" y="-14164"/>
                  <a:pt x="148281" y="938"/>
                  <a:pt x="0" y="16041"/>
                </a:cubicBezTo>
              </a:path>
            </a:pathLst>
          </a:cu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/>
        </p:nvSpPr>
        <p:spPr>
          <a:xfrm>
            <a:off x="3402227" y="634314"/>
            <a:ext cx="1672281" cy="576648"/>
          </a:xfrm>
          <a:custGeom>
            <a:avLst/>
            <a:gdLst>
              <a:gd name="connsiteX0" fmla="*/ 1672281 w 1672281"/>
              <a:gd name="connsiteY0" fmla="*/ 576648 h 576648"/>
              <a:gd name="connsiteX1" fmla="*/ 724930 w 1672281"/>
              <a:gd name="connsiteY1" fmla="*/ 107091 h 576648"/>
              <a:gd name="connsiteX2" fmla="*/ 0 w 1672281"/>
              <a:gd name="connsiteY2" fmla="*/ 0 h 57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72281" h="576648">
                <a:moveTo>
                  <a:pt x="1672281" y="576648"/>
                </a:moveTo>
                <a:cubicBezTo>
                  <a:pt x="1337962" y="389923"/>
                  <a:pt x="1003643" y="203199"/>
                  <a:pt x="724930" y="107091"/>
                </a:cubicBezTo>
                <a:cubicBezTo>
                  <a:pt x="446216" y="10983"/>
                  <a:pt x="223108" y="5491"/>
                  <a:pt x="0" y="0"/>
                </a:cubicBezTo>
              </a:path>
            </a:pathLst>
          </a:cu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>
          <a:xfrm>
            <a:off x="5231027" y="1524000"/>
            <a:ext cx="807308" cy="469557"/>
          </a:xfrm>
          <a:custGeom>
            <a:avLst/>
            <a:gdLst>
              <a:gd name="connsiteX0" fmla="*/ 807308 w 807308"/>
              <a:gd name="connsiteY0" fmla="*/ 469557 h 469557"/>
              <a:gd name="connsiteX1" fmla="*/ 0 w 807308"/>
              <a:gd name="connsiteY1" fmla="*/ 0 h 469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07308" h="469557">
                <a:moveTo>
                  <a:pt x="807308" y="469557"/>
                </a:moveTo>
                <a:lnTo>
                  <a:pt x="0" y="0"/>
                </a:lnTo>
              </a:path>
            </a:pathLst>
          </a:cu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/>
          <p:cNvSpPr/>
          <p:nvPr/>
        </p:nvSpPr>
        <p:spPr>
          <a:xfrm>
            <a:off x="6318422" y="1960605"/>
            <a:ext cx="1565189" cy="370703"/>
          </a:xfrm>
          <a:custGeom>
            <a:avLst/>
            <a:gdLst>
              <a:gd name="connsiteX0" fmla="*/ 1565189 w 1565189"/>
              <a:gd name="connsiteY0" fmla="*/ 370703 h 370703"/>
              <a:gd name="connsiteX1" fmla="*/ 856735 w 1565189"/>
              <a:gd name="connsiteY1" fmla="*/ 280087 h 370703"/>
              <a:gd name="connsiteX2" fmla="*/ 0 w 1565189"/>
              <a:gd name="connsiteY2" fmla="*/ 0 h 370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65189" h="370703">
                <a:moveTo>
                  <a:pt x="1565189" y="370703"/>
                </a:moveTo>
                <a:cubicBezTo>
                  <a:pt x="1341394" y="356287"/>
                  <a:pt x="1117600" y="341871"/>
                  <a:pt x="856735" y="280087"/>
                </a:cubicBezTo>
                <a:cubicBezTo>
                  <a:pt x="595870" y="218303"/>
                  <a:pt x="297935" y="109151"/>
                  <a:pt x="0" y="0"/>
                </a:cubicBezTo>
              </a:path>
            </a:pathLst>
          </a:cu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 44"/>
          <p:cNvSpPr/>
          <p:nvPr/>
        </p:nvSpPr>
        <p:spPr>
          <a:xfrm>
            <a:off x="6326659" y="2141838"/>
            <a:ext cx="925850" cy="699926"/>
          </a:xfrm>
          <a:custGeom>
            <a:avLst/>
            <a:gdLst>
              <a:gd name="connsiteX0" fmla="*/ 296562 w 925850"/>
              <a:gd name="connsiteY0" fmla="*/ 659027 h 699926"/>
              <a:gd name="connsiteX1" fmla="*/ 708454 w 925850"/>
              <a:gd name="connsiteY1" fmla="*/ 675503 h 699926"/>
              <a:gd name="connsiteX2" fmla="*/ 889687 w 925850"/>
              <a:gd name="connsiteY2" fmla="*/ 370703 h 699926"/>
              <a:gd name="connsiteX3" fmla="*/ 0 w 925850"/>
              <a:gd name="connsiteY3" fmla="*/ 0 h 699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5850" h="699926">
                <a:moveTo>
                  <a:pt x="296562" y="659027"/>
                </a:moveTo>
                <a:cubicBezTo>
                  <a:pt x="453081" y="691292"/>
                  <a:pt x="609600" y="723557"/>
                  <a:pt x="708454" y="675503"/>
                </a:cubicBezTo>
                <a:cubicBezTo>
                  <a:pt x="807308" y="627449"/>
                  <a:pt x="1007763" y="483287"/>
                  <a:pt x="889687" y="370703"/>
                </a:cubicBezTo>
                <a:cubicBezTo>
                  <a:pt x="771611" y="258119"/>
                  <a:pt x="385805" y="129059"/>
                  <a:pt x="0" y="0"/>
                </a:cubicBezTo>
              </a:path>
            </a:pathLst>
          </a:cu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 45"/>
          <p:cNvSpPr/>
          <p:nvPr/>
        </p:nvSpPr>
        <p:spPr>
          <a:xfrm>
            <a:off x="6359611" y="2051222"/>
            <a:ext cx="1030267" cy="1046205"/>
          </a:xfrm>
          <a:custGeom>
            <a:avLst/>
            <a:gdLst>
              <a:gd name="connsiteX0" fmla="*/ 733167 w 1030267"/>
              <a:gd name="connsiteY0" fmla="*/ 1046205 h 1046205"/>
              <a:gd name="connsiteX1" fmla="*/ 1021492 w 1030267"/>
              <a:gd name="connsiteY1" fmla="*/ 593124 h 1046205"/>
              <a:gd name="connsiteX2" fmla="*/ 864973 w 1030267"/>
              <a:gd name="connsiteY2" fmla="*/ 288324 h 1046205"/>
              <a:gd name="connsiteX3" fmla="*/ 0 w 1030267"/>
              <a:gd name="connsiteY3" fmla="*/ 0 h 1046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0267" h="1046205">
                <a:moveTo>
                  <a:pt x="733167" y="1046205"/>
                </a:moveTo>
                <a:cubicBezTo>
                  <a:pt x="866345" y="882821"/>
                  <a:pt x="999524" y="719437"/>
                  <a:pt x="1021492" y="593124"/>
                </a:cubicBezTo>
                <a:cubicBezTo>
                  <a:pt x="1043460" y="466811"/>
                  <a:pt x="1035221" y="387178"/>
                  <a:pt x="864973" y="288324"/>
                </a:cubicBezTo>
                <a:cubicBezTo>
                  <a:pt x="694725" y="189470"/>
                  <a:pt x="347362" y="94735"/>
                  <a:pt x="0" y="0"/>
                </a:cubicBezTo>
              </a:path>
            </a:pathLst>
          </a:cu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 48"/>
          <p:cNvSpPr/>
          <p:nvPr/>
        </p:nvSpPr>
        <p:spPr>
          <a:xfrm>
            <a:off x="6828944" y="3377460"/>
            <a:ext cx="453854" cy="1568396"/>
          </a:xfrm>
          <a:custGeom>
            <a:avLst/>
            <a:gdLst>
              <a:gd name="connsiteX0" fmla="*/ 444843 w 453854"/>
              <a:gd name="connsiteY0" fmla="*/ 1532237 h 1568396"/>
              <a:gd name="connsiteX1" fmla="*/ 436605 w 453854"/>
              <a:gd name="connsiteY1" fmla="*/ 1466335 h 1568396"/>
              <a:gd name="connsiteX2" fmla="*/ 288324 w 453854"/>
              <a:gd name="connsiteY2" fmla="*/ 667264 h 1568396"/>
              <a:gd name="connsiteX3" fmla="*/ 0 w 453854"/>
              <a:gd name="connsiteY3" fmla="*/ 0 h 1568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3854" h="1568396">
                <a:moveTo>
                  <a:pt x="444843" y="1532237"/>
                </a:moveTo>
                <a:cubicBezTo>
                  <a:pt x="453767" y="1571367"/>
                  <a:pt x="462691" y="1610497"/>
                  <a:pt x="436605" y="1466335"/>
                </a:cubicBezTo>
                <a:cubicBezTo>
                  <a:pt x="410519" y="1322173"/>
                  <a:pt x="361091" y="911653"/>
                  <a:pt x="288324" y="667264"/>
                </a:cubicBezTo>
                <a:cubicBezTo>
                  <a:pt x="215557" y="422875"/>
                  <a:pt x="107778" y="211437"/>
                  <a:pt x="0" y="0"/>
                </a:cubicBezTo>
              </a:path>
            </a:pathLst>
          </a:cu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4" name="Group 143"/>
          <p:cNvGrpSpPr/>
          <p:nvPr/>
        </p:nvGrpSpPr>
        <p:grpSpPr>
          <a:xfrm>
            <a:off x="7961900" y="2304743"/>
            <a:ext cx="189121" cy="189121"/>
            <a:chOff x="9313538" y="6135418"/>
            <a:chExt cx="189121" cy="189121"/>
          </a:xfrm>
        </p:grpSpPr>
        <p:sp>
          <p:nvSpPr>
            <p:cNvPr id="163" name="Oval 162"/>
            <p:cNvSpPr/>
            <p:nvPr/>
          </p:nvSpPr>
          <p:spPr>
            <a:xfrm>
              <a:off x="9313538" y="6135418"/>
              <a:ext cx="189121" cy="1891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Oval 163"/>
            <p:cNvSpPr/>
            <p:nvPr/>
          </p:nvSpPr>
          <p:spPr>
            <a:xfrm>
              <a:off x="9357524" y="6177183"/>
              <a:ext cx="107091" cy="1070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Freeform 1"/>
          <p:cNvSpPr/>
          <p:nvPr/>
        </p:nvSpPr>
        <p:spPr>
          <a:xfrm>
            <a:off x="8171935" y="1754659"/>
            <a:ext cx="376961" cy="568411"/>
          </a:xfrm>
          <a:custGeom>
            <a:avLst/>
            <a:gdLst>
              <a:gd name="connsiteX0" fmla="*/ 197708 w 376961"/>
              <a:gd name="connsiteY0" fmla="*/ 0 h 568411"/>
              <a:gd name="connsiteX1" fmla="*/ 370703 w 376961"/>
              <a:gd name="connsiteY1" fmla="*/ 345990 h 568411"/>
              <a:gd name="connsiteX2" fmla="*/ 0 w 376961"/>
              <a:gd name="connsiteY2" fmla="*/ 568411 h 568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6961" h="568411">
                <a:moveTo>
                  <a:pt x="197708" y="0"/>
                </a:moveTo>
                <a:cubicBezTo>
                  <a:pt x="300681" y="125627"/>
                  <a:pt x="403654" y="251255"/>
                  <a:pt x="370703" y="345990"/>
                </a:cubicBezTo>
                <a:cubicBezTo>
                  <a:pt x="337752" y="440725"/>
                  <a:pt x="168876" y="504568"/>
                  <a:pt x="0" y="568411"/>
                </a:cubicBezTo>
              </a:path>
            </a:pathLst>
          </a:cu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2"/>
          <p:cNvSpPr/>
          <p:nvPr/>
        </p:nvSpPr>
        <p:spPr>
          <a:xfrm>
            <a:off x="8237838" y="2370571"/>
            <a:ext cx="741405" cy="397343"/>
          </a:xfrm>
          <a:custGeom>
            <a:avLst/>
            <a:gdLst>
              <a:gd name="connsiteX0" fmla="*/ 741405 w 741405"/>
              <a:gd name="connsiteY0" fmla="*/ 397343 h 397343"/>
              <a:gd name="connsiteX1" fmla="*/ 428367 w 741405"/>
              <a:gd name="connsiteY1" fmla="*/ 34878 h 397343"/>
              <a:gd name="connsiteX2" fmla="*/ 0 w 741405"/>
              <a:gd name="connsiteY2" fmla="*/ 34878 h 397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41405" h="397343">
                <a:moveTo>
                  <a:pt x="741405" y="397343"/>
                </a:moveTo>
                <a:cubicBezTo>
                  <a:pt x="646669" y="246316"/>
                  <a:pt x="551934" y="95289"/>
                  <a:pt x="428367" y="34878"/>
                </a:cubicBezTo>
                <a:cubicBezTo>
                  <a:pt x="304799" y="-25533"/>
                  <a:pt x="152399" y="4672"/>
                  <a:pt x="0" y="34878"/>
                </a:cubicBezTo>
              </a:path>
            </a:pathLst>
          </a:cu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8204886" y="1842890"/>
            <a:ext cx="2446638" cy="521369"/>
          </a:xfrm>
          <a:custGeom>
            <a:avLst/>
            <a:gdLst>
              <a:gd name="connsiteX0" fmla="*/ 2446638 w 2446638"/>
              <a:gd name="connsiteY0" fmla="*/ 224807 h 521369"/>
              <a:gd name="connsiteX1" fmla="*/ 1787611 w 2446638"/>
              <a:gd name="connsiteY1" fmla="*/ 10624 h 521369"/>
              <a:gd name="connsiteX2" fmla="*/ 0 w 2446638"/>
              <a:gd name="connsiteY2" fmla="*/ 521369 h 521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6638" h="521369">
                <a:moveTo>
                  <a:pt x="2446638" y="224807"/>
                </a:moveTo>
                <a:cubicBezTo>
                  <a:pt x="2321011" y="93002"/>
                  <a:pt x="2195384" y="-38803"/>
                  <a:pt x="1787611" y="10624"/>
                </a:cubicBezTo>
                <a:cubicBezTo>
                  <a:pt x="1379838" y="60051"/>
                  <a:pt x="689919" y="290710"/>
                  <a:pt x="0" y="521369"/>
                </a:cubicBezTo>
              </a:path>
            </a:pathLst>
          </a:cu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 43"/>
          <p:cNvSpPr/>
          <p:nvPr/>
        </p:nvSpPr>
        <p:spPr>
          <a:xfrm>
            <a:off x="8163697" y="1515762"/>
            <a:ext cx="2314833" cy="832022"/>
          </a:xfrm>
          <a:custGeom>
            <a:avLst/>
            <a:gdLst>
              <a:gd name="connsiteX0" fmla="*/ 2314833 w 2314833"/>
              <a:gd name="connsiteY0" fmla="*/ 0 h 832022"/>
              <a:gd name="connsiteX1" fmla="*/ 0 w 2314833"/>
              <a:gd name="connsiteY1" fmla="*/ 832022 h 832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14833" h="832022">
                <a:moveTo>
                  <a:pt x="2314833" y="0"/>
                </a:moveTo>
                <a:lnTo>
                  <a:pt x="0" y="832022"/>
                </a:lnTo>
              </a:path>
            </a:pathLst>
          </a:cu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6308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ResSim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973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377" y="0"/>
            <a:ext cx="3940423" cy="319460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465" y="0"/>
            <a:ext cx="3940423" cy="319460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377" y="3596723"/>
            <a:ext cx="3940423" cy="3194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5943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568" y="2170914"/>
            <a:ext cx="5262632" cy="345757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71568" y="4914900"/>
            <a:ext cx="5209292" cy="1143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>
            <a:stCxn id="6" idx="2"/>
          </p:cNvCxnSpPr>
          <p:nvPr/>
        </p:nvCxnSpPr>
        <p:spPr>
          <a:xfrm flipH="1">
            <a:off x="5632450" y="1727200"/>
            <a:ext cx="292100" cy="31877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1568" y="1296296"/>
            <a:ext cx="5268150" cy="4309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857750" y="1571625"/>
            <a:ext cx="2133600" cy="15557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671568" y="852582"/>
            <a:ext cx="1941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Flow Modifier csv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1671568" y="1842178"/>
            <a:ext cx="3090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ResSim</a:t>
            </a:r>
            <a:r>
              <a:rPr lang="en-US" dirty="0" smtClean="0"/>
              <a:t> ESP Alternative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150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970</Words>
  <Application>Microsoft Office PowerPoint</Application>
  <PresentationFormat>Widescreen</PresentationFormat>
  <Paragraphs>171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Downloading ESP Data</vt:lpstr>
      <vt:lpstr>Finding NWRFC IDs</vt:lpstr>
      <vt:lpstr>Route ESP Flows</vt:lpstr>
      <vt:lpstr>Run ESP ResSim Alternative</vt:lpstr>
      <vt:lpstr>4. Save ESP Data to SQLite</vt:lpstr>
      <vt:lpstr>5. Run GUI</vt:lpstr>
      <vt:lpstr>PowerPoint Presentation</vt:lpstr>
      <vt:lpstr>PowerPoint Presentation</vt:lpstr>
      <vt:lpstr>Figures for config.xlsx </vt:lpstr>
      <vt:lpstr>PowerPoint Presentation</vt:lpstr>
      <vt:lpstr>Mod Puls Table Extract from RAS</vt:lpstr>
      <vt:lpstr>Printf formatting</vt:lpstr>
      <vt:lpstr>Current tbl formatting</vt:lpstr>
      <vt:lpstr>Forecast Table Configuration</vt:lpstr>
      <vt:lpstr>PowerPoint Presentation</vt:lpstr>
      <vt:lpstr>PowerPoint Presentation</vt:lpstr>
      <vt:lpstr>PowerPoint Presentation</vt:lpstr>
      <vt:lpstr>PowerPoint Presentation</vt:lpstr>
      <vt:lpstr>ResSim</vt:lpstr>
      <vt:lpstr>PowerPoint Presentation</vt:lpstr>
      <vt:lpstr>PowerPoint Presentation</vt:lpstr>
    </vt:vector>
  </TitlesOfParts>
  <Company>United States Army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Wickham, Ross S CIV (US)</dc:creator>
  <cp:lastModifiedBy>Wickham, Ross S CIV (US)</cp:lastModifiedBy>
  <cp:revision>72</cp:revision>
  <dcterms:created xsi:type="dcterms:W3CDTF">2019-10-31T16:31:37Z</dcterms:created>
  <dcterms:modified xsi:type="dcterms:W3CDTF">2019-11-04T23:55:00Z</dcterms:modified>
</cp:coreProperties>
</file>